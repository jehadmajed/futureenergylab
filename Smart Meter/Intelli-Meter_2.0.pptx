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8"/>
  </p:notesMasterIdLst>
  <p:sldIdLst>
    <p:sldId id="256" r:id="rId2"/>
    <p:sldId id="290" r:id="rId3"/>
    <p:sldId id="375" r:id="rId4"/>
    <p:sldId id="351" r:id="rId5"/>
    <p:sldId id="367" r:id="rId6"/>
    <p:sldId id="297" r:id="rId7"/>
    <p:sldId id="293" r:id="rId8"/>
    <p:sldId id="301" r:id="rId9"/>
    <p:sldId id="294" r:id="rId10"/>
    <p:sldId id="298" r:id="rId11"/>
    <p:sldId id="355" r:id="rId12"/>
    <p:sldId id="353" r:id="rId13"/>
    <p:sldId id="262" r:id="rId14"/>
    <p:sldId id="304" r:id="rId15"/>
    <p:sldId id="266" r:id="rId16"/>
    <p:sldId id="312" r:id="rId17"/>
    <p:sldId id="333" r:id="rId18"/>
    <p:sldId id="369" r:id="rId19"/>
    <p:sldId id="383" r:id="rId20"/>
    <p:sldId id="384" r:id="rId21"/>
    <p:sldId id="385" r:id="rId22"/>
    <p:sldId id="382" r:id="rId23"/>
    <p:sldId id="370" r:id="rId24"/>
    <p:sldId id="380" r:id="rId25"/>
    <p:sldId id="373" r:id="rId26"/>
    <p:sldId id="376" r:id="rId27"/>
    <p:sldId id="391" r:id="rId28"/>
    <p:sldId id="327" r:id="rId29"/>
    <p:sldId id="354" r:id="rId30"/>
    <p:sldId id="359" r:id="rId31"/>
    <p:sldId id="371" r:id="rId32"/>
    <p:sldId id="386" r:id="rId33"/>
    <p:sldId id="387" r:id="rId34"/>
    <p:sldId id="388" r:id="rId35"/>
    <p:sldId id="389" r:id="rId36"/>
    <p:sldId id="390" r:id="rId37"/>
    <p:sldId id="361" r:id="rId38"/>
    <p:sldId id="366" r:id="rId39"/>
    <p:sldId id="379" r:id="rId40"/>
    <p:sldId id="392" r:id="rId41"/>
    <p:sldId id="378" r:id="rId42"/>
    <p:sldId id="381" r:id="rId43"/>
    <p:sldId id="360" r:id="rId44"/>
    <p:sldId id="350" r:id="rId45"/>
    <p:sldId id="393" r:id="rId46"/>
    <p:sldId id="275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99"/>
    <a:srgbClr val="00926C"/>
    <a:srgbClr val="00A87C"/>
    <a:srgbClr val="00966F"/>
    <a:srgbClr val="00CC66"/>
    <a:srgbClr val="61A59D"/>
    <a:srgbClr val="008080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نمط متوسط 2 - تميي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78824" autoAdjust="0"/>
  </p:normalViewPr>
  <p:slideViewPr>
    <p:cSldViewPr snapToGrid="0">
      <p:cViewPr varScale="1">
        <p:scale>
          <a:sx n="61" d="100"/>
          <a:sy n="61" d="100"/>
        </p:scale>
        <p:origin x="1435" y="58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S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E193668B-B77E-4649-BE51-BC333335F1EC}" type="datetimeFigureOut">
              <a:rPr lang="ar-SA" smtClean="0"/>
              <a:t>11/08/1447</a:t>
            </a:fld>
            <a:endParaRPr lang="ar-S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S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S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895131F9-6F8F-49EA-BA30-75B23E61CB01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720738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2875F-B4CF-FA72-362E-4E5352870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B960EDF5-8950-0970-5D57-7224C4308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CEDA81FE-74BE-6B69-DB67-2236EFE15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041F04AF-AD8E-D68F-E677-E6983F03A9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131F9-6F8F-49EA-BA30-75B23E61CB01}" type="slidenum">
              <a:rPr lang="ar-SA" smtClean="0"/>
              <a:t>3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410072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D96F1-C8C3-79DB-EDE3-E09A82A18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C1BE2283-6220-DCD8-E267-FF0F71396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87485151-CB5D-4B69-9856-8ED8810FE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</a:t>
            </a:r>
            <a:br>
              <a:rPr lang="en-US" dirty="0"/>
            </a:br>
            <a:r>
              <a:rPr lang="en-US" dirty="0"/>
              <a:t>Nowadays there is a rise in </a:t>
            </a:r>
            <a:r>
              <a:rPr lang="en-US" sz="1200" dirty="0"/>
              <a:t>distributed energy resources which make the system more complex</a:t>
            </a:r>
            <a:endParaRPr lang="ar-SA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15F4B91C-9DFF-37F1-31F0-ABD6251844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131F9-6F8F-49EA-BA30-75B23E61CB01}" type="slidenum">
              <a:rPr lang="ar-SA" smtClean="0"/>
              <a:t>5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482296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/>
              <a:t>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131F9-6F8F-49EA-BA30-75B23E61CB01}" type="slidenum">
              <a:rPr lang="ar-SA" smtClean="0"/>
              <a:t>6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013517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sz="1200" dirty="0"/>
              <a:t>Each device is monitored </a:t>
            </a:r>
            <a:r>
              <a:rPr lang="en-US" sz="1200" dirty="0" err="1"/>
              <a:t>individually.Because</a:t>
            </a:r>
            <a:r>
              <a:rPr lang="en-US" sz="1200" dirty="0"/>
              <a:t> we cannot determine the primary cause of the rise and fall in consumption.</a:t>
            </a:r>
          </a:p>
          <a:p>
            <a:r>
              <a:rPr lang="en-US" sz="1200" dirty="0"/>
              <a:t>We also require periodic human inspections to ensure the condition of the meters, as we do not have a logical methodology for sudden changes or malfunctions.</a:t>
            </a:r>
            <a:br>
              <a:rPr lang="en-US" dirty="0"/>
            </a:br>
            <a:r>
              <a:rPr lang="en-US" dirty="0"/>
              <a:t>Nowadays there is a rise in </a:t>
            </a:r>
            <a:r>
              <a:rPr lang="en-US" sz="1200" dirty="0"/>
              <a:t>distributed energy resources which make the system more complex</a:t>
            </a:r>
          </a:p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131F9-6F8F-49EA-BA30-75B23E61CB01}" type="slidenum">
              <a:rPr lang="ar-SA" smtClean="0"/>
              <a:t>7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121091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Smaller this</a:t>
            </a:r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131F9-6F8F-49EA-BA30-75B23E61CB01}" type="slidenum">
              <a:rPr lang="ar-SA" smtClean="0"/>
              <a:t>9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0817474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131F9-6F8F-49EA-BA30-75B23E61CB01}" type="slidenum">
              <a:rPr lang="ar-SA" smtClean="0"/>
              <a:t>16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840375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1️⃣ Clustering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improved_cluster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 </a:t>
            </a:r>
            <a:r>
              <a:rPr lang="en-US" dirty="0"/>
              <a:t>Identify appliance states          2️⃣ Training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FHMM.train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Train individual HMMs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3️⃣ Combination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create_combined_hmm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Build full FHMM         4️⃣ Disaggregation 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FHMM.disaggregate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     </a:t>
            </a:r>
            <a:r>
              <a:rPr lang="en-US" dirty="0"/>
              <a:t>Separate total load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5️⃣ Save/</a:t>
            </a:r>
            <a:r>
              <a:rPr lang="en-US" dirty="0" err="1"/>
              <a:t>Load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/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load()</a:t>
            </a:r>
            <a:r>
              <a:rPr lang="en-US" dirty="0"/>
              <a:t>Reuse models later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131F9-6F8F-49EA-BA30-75B23E61CB01}" type="slidenum">
              <a:rPr lang="ar-SA" smtClean="0"/>
              <a:t>17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1075575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131F9-6F8F-49EA-BA30-75B23E61CB01}" type="slidenum">
              <a:rPr lang="ar-SA" smtClean="0"/>
              <a:t>32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686990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aim of this Intelli-Meter is to collect data from the appliances first then the integration of the Intelli-Meters collect data from the houses and work as a source of data to a digital twin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what is a digital twin?</a:t>
            </a:r>
          </a:p>
          <a:p>
            <a:r>
              <a:rPr lang="en-US" dirty="0"/>
              <a:t>It is a replica of the whole system of electricity (grid)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131F9-6F8F-49EA-BA30-75B23E61CB01}" type="slidenum">
              <a:rPr lang="ar-SA" smtClean="0"/>
              <a:t>46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415865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B5464-AA8A-425D-B1D7-7C3B322BB739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14C18377-5F4B-4766-8081-1F7DDCB934F7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030279865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BD62C-EC1E-4FA6-AEE6-E85A111C61A7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108643009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0B24C7E4-29B6-43CA-A838-5581E92512B5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ar-SA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14C18377-5F4B-4766-8081-1F7DDCB934F7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34966145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6A09-C81E-452E-AE27-598DF98F0D57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894004946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5FF29-FDF0-46E9-82B0-09DB0989CBA8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831691289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A5F4D-7CBB-4944-933F-3D429FB65868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448460446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1550E-1ECD-4A56-AB4B-CE54BBD5BE5C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693198206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64C7C-2C66-462D-BE2A-5183AC2DA34B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448138835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110B5-806E-44D9-AA2A-A7622C1AF33E}" type="uaqdatetime1">
              <a:rPr lang="ar-SA" smtClean="0"/>
              <a:t>10/08/1447</a:t>
            </a:fld>
            <a:endParaRPr lang="ar-SA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279883668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989A4-2484-4E3A-ABA5-4DBD5CA085CE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4242601424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00D1-BA61-4E31-92B8-72A39529E282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710905995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36BA4119-7CBC-4EDE-B0C6-385439490B5E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ar-SA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14C18377-5F4B-4766-8081-1F7DDCB934F7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876633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fade/>
  </p:transition>
  <p:hf hdr="0" ftr="0"/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r" defTabSz="914400" rtl="1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gif"/><Relationship Id="rId3" Type="http://schemas.openxmlformats.org/officeDocument/2006/relationships/image" Target="../media/image13.gif"/><Relationship Id="rId7" Type="http://schemas.openxmlformats.org/officeDocument/2006/relationships/image" Target="../media/image16.gif"/><Relationship Id="rId12" Type="http://schemas.openxmlformats.org/officeDocument/2006/relationships/image" Target="../media/image21.pn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eg"/><Relationship Id="rId11" Type="http://schemas.openxmlformats.org/officeDocument/2006/relationships/image" Target="../media/image20.gif"/><Relationship Id="rId5" Type="http://schemas.openxmlformats.org/officeDocument/2006/relationships/image" Target="../media/image15.gif"/><Relationship Id="rId10" Type="http://schemas.openxmlformats.org/officeDocument/2006/relationships/image" Target="../media/image19.gif"/><Relationship Id="rId4" Type="http://schemas.openxmlformats.org/officeDocument/2006/relationships/image" Target="../media/image14.gif"/><Relationship Id="rId9" Type="http://schemas.openxmlformats.org/officeDocument/2006/relationships/image" Target="../media/image18.gi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5.PNG"/><Relationship Id="rId5" Type="http://schemas.openxmlformats.org/officeDocument/2006/relationships/image" Target="../media/image6.png"/><Relationship Id="rId4" Type="http://schemas.openxmlformats.org/officeDocument/2006/relationships/image" Target="../media/image4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DBB47-F58D-70E8-A318-D65BF6716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2834640"/>
          </a:xfrm>
          <a:noFill/>
        </p:spPr>
        <p:txBody>
          <a:bodyPr/>
          <a:lstStyle/>
          <a:p>
            <a:pPr algn="ctr"/>
            <a:r>
              <a:rPr lang="en-US" sz="3600" dirty="0"/>
              <a:t>INTELLI-METER: A Virtual Prototyping Framework for Smart Metering using Advanced Algorithms</a:t>
            </a:r>
            <a:endParaRPr lang="ar-SA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03424D-D915-F167-FC31-2766219A5F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808" y="4236720"/>
            <a:ext cx="7891272" cy="1069848"/>
          </a:xfrm>
        </p:spPr>
        <p:txBody>
          <a:bodyPr>
            <a:noAutofit/>
          </a:bodyPr>
          <a:lstStyle/>
          <a:p>
            <a:pPr algn="ctr" rtl="0"/>
            <a:endParaRPr lang="en-US" sz="1600" b="1" dirty="0">
              <a:latin typeface="+mj-lt"/>
            </a:endParaRPr>
          </a:p>
          <a:p>
            <a:pPr algn="ctr" rtl="0"/>
            <a:r>
              <a:rPr lang="en-US" sz="2000" b="1" dirty="0">
                <a:latin typeface="+mj-lt"/>
              </a:rPr>
              <a:t>Osama Abdulqadir </a:t>
            </a:r>
          </a:p>
          <a:p>
            <a:pPr algn="ctr" rtl="0"/>
            <a:r>
              <a:rPr lang="en-US" sz="2000" b="1" dirty="0">
                <a:latin typeface="+mj-lt"/>
              </a:rPr>
              <a:t>Abdulrahman Mahjoub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32F94E-3B52-3246-E699-0E84754C856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99" b="17535"/>
          <a:stretch/>
        </p:blipFill>
        <p:spPr>
          <a:xfrm>
            <a:off x="0" y="0"/>
            <a:ext cx="1959269" cy="10879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CB15B1-8919-B559-2B82-2BAD0569A60D}"/>
              </a:ext>
            </a:extLst>
          </p:cNvPr>
          <p:cNvSpPr txBox="1"/>
          <p:nvPr/>
        </p:nvSpPr>
        <p:spPr>
          <a:xfrm>
            <a:off x="5542670" y="2869809"/>
            <a:ext cx="914400" cy="9144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S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AF9294-C4FE-C1B6-E2BC-010B45DAADA9}"/>
              </a:ext>
            </a:extLst>
          </p:cNvPr>
          <p:cNvSpPr txBox="1"/>
          <p:nvPr/>
        </p:nvSpPr>
        <p:spPr>
          <a:xfrm>
            <a:off x="2838937" y="5530922"/>
            <a:ext cx="4407877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>
                <a:latin typeface="+mj-lt"/>
              </a:rPr>
              <a:t>Supervised by:</a:t>
            </a:r>
          </a:p>
          <a:p>
            <a:pPr algn="ctr"/>
            <a:r>
              <a:rPr lang="en-US" sz="2000" b="1" dirty="0">
                <a:latin typeface="+mj-lt"/>
              </a:rPr>
              <a:t>Dr. Malek Al-Duhaymi</a:t>
            </a:r>
          </a:p>
          <a:p>
            <a:pPr algn="ctr"/>
            <a:r>
              <a:rPr lang="en-US" sz="2000" b="1" dirty="0">
                <a:latin typeface="+mj-lt"/>
              </a:rPr>
              <a:t>Dr. Brahim Mrabet</a:t>
            </a:r>
            <a:endParaRPr lang="ar-SA" dirty="0">
              <a:latin typeface="+mj-lt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97EFE2E-2AEF-B843-FC38-C2FE4ED55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ar-SA" dirty="0"/>
              <a:t>1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BF9CC867-3CAB-B2C3-9E20-51C940C19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F048B-498C-4967-BC41-99095EB82082}" type="uaqdatetime1">
              <a:rPr lang="ar-SA" smtClean="0"/>
              <a:t>10/08/1447</a:t>
            </a:fld>
            <a:endParaRPr lang="ar-SA" dirty="0"/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877" y="-9753"/>
            <a:ext cx="1326333" cy="994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A69D99-90FF-38A5-A039-C4704020A3A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5" t="2692" r="6493" b="7805"/>
          <a:stretch/>
        </p:blipFill>
        <p:spPr>
          <a:xfrm>
            <a:off x="10482673" y="-12526"/>
            <a:ext cx="1680099" cy="115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129345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84BEB7-540A-5AA9-D7CB-5FF97C0673C8}"/>
              </a:ext>
            </a:extLst>
          </p:cNvPr>
          <p:cNvSpPr txBox="1"/>
          <p:nvPr/>
        </p:nvSpPr>
        <p:spPr>
          <a:xfrm>
            <a:off x="0" y="506437"/>
            <a:ext cx="7734300" cy="144655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88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effectLst/>
              </a:rPr>
              <a:t>Outline</a:t>
            </a:r>
            <a:endParaRPr lang="ar-SA" sz="4400" b="1" dirty="0">
              <a:ln w="12700">
                <a:solidFill>
                  <a:srgbClr val="0070C0"/>
                </a:solidFill>
                <a:prstDash val="solid"/>
              </a:ln>
              <a:solidFill>
                <a:srgbClr val="00926C"/>
              </a:solidFill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403C16-218B-FDC5-A74A-990CF07887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D63CEA-534B-CCB3-D6E9-358BFEF2113B}"/>
              </a:ext>
            </a:extLst>
          </p:cNvPr>
          <p:cNvSpPr txBox="1"/>
          <p:nvPr/>
        </p:nvSpPr>
        <p:spPr>
          <a:xfrm>
            <a:off x="1" y="1964353"/>
            <a:ext cx="5824602" cy="493981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en-US" sz="2100" b="1" dirty="0">
                <a:latin typeface="+mj-lt"/>
              </a:rPr>
              <a:t>Introduction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2100" b="1" dirty="0">
              <a:latin typeface="+mj-lt"/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n-US" sz="2100" b="1" dirty="0">
                <a:latin typeface="+mj-lt"/>
              </a:rPr>
              <a:t>Problem 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2100" b="1" dirty="0">
              <a:latin typeface="+mj-lt"/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n-US" sz="2100" b="1" dirty="0">
                <a:latin typeface="+mj-lt"/>
              </a:rPr>
              <a:t>Solution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2100" b="1" dirty="0">
              <a:latin typeface="+mj-lt"/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n-US" sz="2100" b="1" dirty="0">
                <a:latin typeface="+mj-lt"/>
              </a:rPr>
              <a:t>Proposed Framework 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2100" b="1" dirty="0">
              <a:latin typeface="+mj-lt"/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n-US" sz="2100" b="1" dirty="0">
                <a:latin typeface="+mj-lt"/>
              </a:rPr>
              <a:t>Load disaggregation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2100" b="1" dirty="0">
              <a:latin typeface="+mj-lt"/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n-US" sz="2100" b="1" dirty="0">
                <a:latin typeface="+mj-lt"/>
              </a:rPr>
              <a:t>Load forecasting</a:t>
            </a:r>
          </a:p>
          <a:p>
            <a:endParaRPr lang="en-US" sz="2100" b="1" dirty="0">
              <a:latin typeface="+mj-lt"/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n-US" sz="2100" b="1" dirty="0">
                <a:latin typeface="+mj-lt"/>
              </a:rPr>
              <a:t>Theft Detection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2100" b="1" dirty="0">
              <a:latin typeface="+mj-lt"/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n-US" sz="2100" b="1" dirty="0">
                <a:latin typeface="+mj-lt"/>
              </a:rPr>
              <a:t>Model &amp; Dataset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9E33E76-34CA-3F7A-19A5-A6CE5F2AB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2</a:t>
            </a:fld>
            <a:endParaRPr lang="ar-SA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D121FFF-0121-8984-29E9-0135465B4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3631-A5C4-45DF-B7BC-DA9B0FE8F744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74AFD-8925-8054-AEA9-80B4259092F8}"/>
              </a:ext>
            </a:extLst>
          </p:cNvPr>
          <p:cNvSpPr txBox="1"/>
          <p:nvPr/>
        </p:nvSpPr>
        <p:spPr>
          <a:xfrm>
            <a:off x="7006281" y="2063578"/>
            <a:ext cx="415187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en-US" sz="2100" b="1" dirty="0">
                <a:latin typeface="+mj-lt"/>
              </a:rPr>
              <a:t>Results</a:t>
            </a:r>
          </a:p>
          <a:p>
            <a:pPr marL="571500" indent="-571500">
              <a:buFont typeface="Arial" pitchFamily="34" charset="0"/>
              <a:buChar char="•"/>
            </a:pPr>
            <a:endParaRPr lang="en-US" b="1" dirty="0"/>
          </a:p>
          <a:p>
            <a:pPr marL="571500" indent="-571500">
              <a:buFont typeface="Arial" pitchFamily="34" charset="0"/>
              <a:buChar char="•"/>
            </a:pPr>
            <a:r>
              <a:rPr lang="en-US" sz="2100" b="1" dirty="0">
                <a:latin typeface="+mj-lt"/>
              </a:rPr>
              <a:t>Prototyping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153228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0D86DCF-EF70-84BA-2F81-74081D706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34673-9BBA-DC9B-ACD7-C68C3E1A3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923" y="312654"/>
            <a:ext cx="8370276" cy="1048746"/>
          </a:xfrm>
        </p:spPr>
        <p:txBody>
          <a:bodyPr/>
          <a:lstStyle/>
          <a:p>
            <a:pPr algn="ctr"/>
            <a:r>
              <a:rPr lang="en-US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</a:rPr>
              <a:t>Check up list</a:t>
            </a:r>
            <a:endParaRPr lang="en-US" sz="1050" dirty="0">
              <a:ln w="12700">
                <a:solidFill>
                  <a:srgbClr val="0070C0"/>
                </a:solidFill>
                <a:prstDash val="solid"/>
              </a:ln>
              <a:pattFill prst="dkUpDiag">
                <a:fgClr>
                  <a:srgbClr val="775F55"/>
                </a:fgClr>
                <a:bgClr>
                  <a:srgbClr val="775F55">
                    <a:lumMod val="20000"/>
                    <a:lumOff val="80000"/>
                  </a:srgbClr>
                </a:bgClr>
              </a:pattFill>
              <a:effectLst>
                <a:outerShdw dist="38100" dir="2640000" algn="bl" rotWithShape="0">
                  <a:srgbClr val="775F55">
                    <a:lumMod val="75000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5C10B-94DF-6446-27EF-E844C9E4642A}"/>
              </a:ext>
            </a:extLst>
          </p:cNvPr>
          <p:cNvSpPr txBox="1"/>
          <p:nvPr/>
        </p:nvSpPr>
        <p:spPr>
          <a:xfrm>
            <a:off x="0" y="1650474"/>
            <a:ext cx="9842500" cy="267765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400" dirty="0"/>
              <a:t>Design a proposed framework for the project</a:t>
            </a:r>
            <a:r>
              <a:rPr lang="ar-SA" sz="2400" dirty="0"/>
              <a:t>  </a:t>
            </a:r>
            <a:r>
              <a:rPr lang="en-US" sz="2400" b="1" dirty="0"/>
              <a:t>✓</a:t>
            </a:r>
          </a:p>
          <a:p>
            <a:pPr marL="457200" indent="-457200">
              <a:buFont typeface="Wingdings" pitchFamily="2" charset="2"/>
              <a:buChar char="q"/>
            </a:pPr>
            <a:endParaRPr lang="en-US" sz="2400" dirty="0"/>
          </a:p>
          <a:p>
            <a:pPr marL="457200" indent="-457200">
              <a:buFont typeface="Wingdings" pitchFamily="2" charset="2"/>
              <a:buChar char="q"/>
            </a:pPr>
            <a:r>
              <a:rPr lang="en-US" sz="2400" dirty="0"/>
              <a:t>Implementing Load disaggregation algorithms on appliances </a:t>
            </a:r>
            <a:r>
              <a:rPr lang="en-US" sz="2400" b="1" dirty="0"/>
              <a:t>✓</a:t>
            </a:r>
          </a:p>
          <a:p>
            <a:pPr marL="457200" indent="-457200">
              <a:buFont typeface="Wingdings" pitchFamily="2" charset="2"/>
              <a:buChar char="q"/>
            </a:pPr>
            <a:endParaRPr lang="en-US" sz="2400" dirty="0"/>
          </a:p>
          <a:p>
            <a:pPr marL="457200" indent="-457200">
              <a:buFont typeface="Wingdings" pitchFamily="2" charset="2"/>
              <a:buChar char="q"/>
            </a:pPr>
            <a:endParaRPr lang="en-US" sz="2400" dirty="0"/>
          </a:p>
          <a:p>
            <a:pPr marL="457200" indent="-457200">
              <a:buFont typeface="Wingdings" pitchFamily="2" charset="2"/>
              <a:buChar char="q"/>
            </a:pPr>
            <a:r>
              <a:rPr lang="en-US" sz="2400" dirty="0"/>
              <a:t>Writing a Google </a:t>
            </a:r>
            <a:r>
              <a:rPr lang="en-US" sz="2400" dirty="0" err="1"/>
              <a:t>Colab</a:t>
            </a:r>
            <a:r>
              <a:rPr lang="en-US" sz="2400" dirty="0"/>
              <a:t> Notebook as a reference for the project </a:t>
            </a:r>
            <a:r>
              <a:rPr lang="en-US" sz="2400" b="1" dirty="0"/>
              <a:t>✓</a:t>
            </a:r>
            <a:endParaRPr lang="en-US" sz="2400" dirty="0"/>
          </a:p>
          <a:p>
            <a:pPr marL="457200" indent="-457200">
              <a:buFont typeface="Wingdings" pitchFamily="2" charset="2"/>
              <a:buChar char="q"/>
            </a:pPr>
            <a:endParaRPr lang="en-US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DA498F-3A2F-21D7-1F67-9579929CFE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9937820-8C3F-89D3-80C5-93E451115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3</a:t>
            </a:fld>
            <a:endParaRPr lang="ar-SA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05EEEE5-B093-5C64-7B5C-19754C6D1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5A3A4-5CB5-4765-BADE-8DE9C0961864}" type="uaqdatetime1">
              <a:rPr lang="ar-SA" smtClean="0"/>
              <a:t>10/08/1447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4221860086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2DD0F-9A81-EF07-683C-66C86D356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E25643-B2F8-721A-FFF7-94A40624B070}"/>
              </a:ext>
            </a:extLst>
          </p:cNvPr>
          <p:cNvSpPr txBox="1"/>
          <p:nvPr/>
        </p:nvSpPr>
        <p:spPr>
          <a:xfrm>
            <a:off x="0" y="2289513"/>
            <a:ext cx="12192000" cy="14465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88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</a:rPr>
              <a:t>Introduction</a:t>
            </a:r>
            <a:endParaRPr lang="en-US" sz="2000" b="1" dirty="0">
              <a:ln w="12700">
                <a:solidFill>
                  <a:srgbClr val="0070C0"/>
                </a:solidFill>
                <a:prstDash val="solid"/>
              </a:ln>
              <a:pattFill prst="dkUpDiag">
                <a:fgClr>
                  <a:srgbClr val="775F55"/>
                </a:fgClr>
                <a:bgClr>
                  <a:srgbClr val="775F55">
                    <a:lumMod val="20000"/>
                    <a:lumOff val="80000"/>
                  </a:srgbClr>
                </a:bgClr>
              </a:pattFill>
              <a:effectLst>
                <a:outerShdw dist="38100" dir="2640000" algn="bl" rotWithShape="0">
                  <a:srgbClr val="775F55">
                    <a:lumMod val="75000"/>
                  </a:srgbClr>
                </a:outerShdw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6CDA7D-80F1-F736-58A5-4C69967B5C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CEC7E-9AF9-D638-E320-E55A673F0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4</a:t>
            </a:fld>
            <a:endParaRPr lang="ar-SA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8CBC12-B3BC-979D-0C5C-67C78D705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6579-D349-4562-A85D-B49DFFBF2256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2" name="مربع نص 1">
            <a:extLst>
              <a:ext uri="{FF2B5EF4-FFF2-40B4-BE49-F238E27FC236}">
                <a16:creationId xmlns:a16="http://schemas.microsoft.com/office/drawing/2014/main" id="{4BCFC455-02D5-E4C2-C5B9-AA0E04B49E86}"/>
              </a:ext>
            </a:extLst>
          </p:cNvPr>
          <p:cNvSpPr txBox="1"/>
          <p:nvPr/>
        </p:nvSpPr>
        <p:spPr>
          <a:xfrm>
            <a:off x="4589584" y="4982306"/>
            <a:ext cx="339383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SA" sz="1600" dirty="0"/>
          </a:p>
        </p:txBody>
      </p:sp>
    </p:spTree>
    <p:extLst>
      <p:ext uri="{BB962C8B-B14F-4D97-AF65-F5344CB8AC3E}">
        <p14:creationId xmlns:p14="http://schemas.microsoft.com/office/powerpoint/2010/main" val="2590752745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CB71-874F-69C9-D2A6-1CF4DBB92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AF740-8AD0-27A9-5DC0-87B0A3BDD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923" y="312654"/>
            <a:ext cx="8370276" cy="1048746"/>
          </a:xfrm>
        </p:spPr>
        <p:txBody>
          <a:bodyPr/>
          <a:lstStyle/>
          <a:p>
            <a:pPr algn="ctr"/>
            <a:r>
              <a:rPr lang="en-US" sz="48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</a:rPr>
              <a:t>Introduction</a:t>
            </a:r>
            <a:br>
              <a:rPr lang="en-US" sz="1050" b="1" dirty="0">
                <a:ln w="12700">
                  <a:solidFill>
                    <a:srgbClr val="0070C0"/>
                  </a:solidFill>
                  <a:prstDash val="solid"/>
                </a:ln>
                <a:pattFill prst="dkUpDiag">
                  <a:fgClr>
                    <a:srgbClr val="775F55"/>
                  </a:fgClr>
                  <a:bgClr>
                    <a:srgbClr val="775F55">
                      <a:lumMod val="20000"/>
                      <a:lumOff val="80000"/>
                    </a:srgbClr>
                  </a:bgClr>
                </a:pattFill>
                <a:effectLst>
                  <a:outerShdw dist="38100" dir="2640000" algn="bl" rotWithShape="0">
                    <a:srgbClr val="775F55">
                      <a:lumMod val="75000"/>
                    </a:srgbClr>
                  </a:outerShdw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rPr>
            </a:br>
            <a:endParaRPr lang="en-US" sz="1050" dirty="0">
              <a:ln w="12700">
                <a:solidFill>
                  <a:srgbClr val="0070C0"/>
                </a:solidFill>
                <a:prstDash val="solid"/>
              </a:ln>
              <a:pattFill prst="dkUpDiag">
                <a:fgClr>
                  <a:srgbClr val="775F55"/>
                </a:fgClr>
                <a:bgClr>
                  <a:srgbClr val="775F55">
                    <a:lumMod val="20000"/>
                    <a:lumOff val="80000"/>
                  </a:srgbClr>
                </a:bgClr>
              </a:pattFill>
              <a:effectLst>
                <a:outerShdw dist="38100" dir="2640000" algn="bl" rotWithShape="0">
                  <a:srgbClr val="775F55">
                    <a:lumMod val="75000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1746E76-82B0-1DC0-CF2B-7D52EA65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5</a:t>
            </a:fld>
            <a:endParaRPr lang="ar-SA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CBA5424-F284-080A-513B-00CCA6F43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5A3A4-5CB5-4765-BADE-8DE9C0961864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4BCC5071-A7A8-CB92-B814-B30B7D0C45B0}"/>
              </a:ext>
            </a:extLst>
          </p:cNvPr>
          <p:cNvSpPr txBox="1"/>
          <p:nvPr/>
        </p:nvSpPr>
        <p:spPr>
          <a:xfrm>
            <a:off x="15044" y="1201635"/>
            <a:ext cx="9864936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dirty="0">
                <a:latin typeface="+mj-lt"/>
              </a:rPr>
              <a:t>What is a smart meter?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FDCDCD-3F58-6340-4A51-5C66EDC2205B}"/>
              </a:ext>
            </a:extLst>
          </p:cNvPr>
          <p:cNvSpPr/>
          <p:nvPr/>
        </p:nvSpPr>
        <p:spPr>
          <a:xfrm>
            <a:off x="490654" y="2375204"/>
            <a:ext cx="6924754" cy="3286560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Digital Metering Device</a:t>
            </a:r>
          </a:p>
          <a:p>
            <a:pPr lvl="0"/>
            <a:r>
              <a:rPr lang="en-US" sz="2000" dirty="0">
                <a:latin typeface="+mj-lt"/>
              </a:rPr>
              <a:t>It is an advanced digital device that automatically record energy consumption and transmit data to the utility company and the user.</a:t>
            </a:r>
            <a:endParaRPr lang="ar-SA" sz="2000" dirty="0">
              <a:latin typeface="+mj-lt"/>
            </a:endParaRPr>
          </a:p>
          <a:p>
            <a:pPr lvl="0"/>
            <a:endParaRPr lang="en-US" sz="2000" dirty="0">
              <a:latin typeface="+mj-l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Real-Time Data</a:t>
            </a:r>
          </a:p>
          <a:p>
            <a:pPr lvl="0"/>
            <a:r>
              <a:rPr lang="en-US" sz="2000" dirty="0">
                <a:latin typeface="+mj-lt"/>
              </a:rPr>
              <a:t>It provide real-time energy usage information, empowering users to monitor and manage their consumption effectively</a:t>
            </a:r>
          </a:p>
          <a:p>
            <a:pPr lvl="0"/>
            <a:endParaRPr lang="en-US" sz="2000" dirty="0">
              <a:latin typeface="+mj-lt"/>
            </a:endParaRPr>
          </a:p>
        </p:txBody>
      </p:sp>
      <p:pic>
        <p:nvPicPr>
          <p:cNvPr id="18" name="صورة 13">
            <a:extLst>
              <a:ext uri="{FF2B5EF4-FFF2-40B4-BE49-F238E27FC236}">
                <a16:creationId xmlns:a16="http://schemas.microsoft.com/office/drawing/2014/main" id="{FFDECE9F-01B4-15D3-9FDC-E67EA192EAF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1" t="3211" r="28447" b="5089"/>
          <a:stretch/>
        </p:blipFill>
        <p:spPr>
          <a:xfrm>
            <a:off x="9399177" y="1836344"/>
            <a:ext cx="2082416" cy="2985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C43C442-ED75-52FB-FC11-FE738586BF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84221551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6BA445-739B-CE3A-EA24-9609977AFD1C}"/>
              </a:ext>
            </a:extLst>
          </p:cNvPr>
          <p:cNvSpPr txBox="1"/>
          <p:nvPr/>
        </p:nvSpPr>
        <p:spPr>
          <a:xfrm>
            <a:off x="0" y="2534840"/>
            <a:ext cx="12192000" cy="144655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88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</a:rPr>
              <a:t>Problem</a:t>
            </a:r>
            <a:endParaRPr lang="en-US" sz="2000" b="1" dirty="0">
              <a:ln w="12700">
                <a:solidFill>
                  <a:srgbClr val="0070C0"/>
                </a:solidFill>
                <a:prstDash val="solid"/>
              </a:ln>
              <a:pattFill prst="dkUpDiag">
                <a:fgClr>
                  <a:srgbClr val="775F55"/>
                </a:fgClr>
                <a:bgClr>
                  <a:srgbClr val="775F55">
                    <a:lumMod val="20000"/>
                    <a:lumOff val="80000"/>
                  </a:srgbClr>
                </a:bgClr>
              </a:pattFill>
              <a:effectLst>
                <a:outerShdw dist="38100" dir="2640000" algn="bl" rotWithShape="0">
                  <a:srgbClr val="775F55">
                    <a:lumMod val="75000"/>
                  </a:srgbClr>
                </a:outerShdw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820DA1-B4BD-0FDE-8F4A-C48C4C13A0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D47DB-5738-FE66-61D3-F2C159B76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6</a:t>
            </a:fld>
            <a:endParaRPr lang="ar-SA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743113-1E81-D95C-4CC3-074EB07D0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6579-D349-4562-A85D-B49DFFBF2256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2" name="مربع نص 1"/>
          <p:cNvSpPr txBox="1"/>
          <p:nvPr/>
        </p:nvSpPr>
        <p:spPr>
          <a:xfrm>
            <a:off x="4589584" y="4982306"/>
            <a:ext cx="339383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SA" sz="1600" dirty="0"/>
          </a:p>
        </p:txBody>
      </p:sp>
    </p:spTree>
    <p:extLst>
      <p:ext uri="{BB962C8B-B14F-4D97-AF65-F5344CB8AC3E}">
        <p14:creationId xmlns:p14="http://schemas.microsoft.com/office/powerpoint/2010/main" val="2412439937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D74DB-B137-9028-3CCB-3C1053B2C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923" y="312654"/>
            <a:ext cx="8370276" cy="1048746"/>
          </a:xfrm>
        </p:spPr>
        <p:txBody>
          <a:bodyPr/>
          <a:lstStyle/>
          <a:p>
            <a:pPr algn="ctr"/>
            <a:r>
              <a:rPr lang="en-US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</a:rPr>
              <a:t>Problem</a:t>
            </a:r>
            <a:endParaRPr lang="en-US" sz="1050" dirty="0">
              <a:ln w="12700">
                <a:solidFill>
                  <a:srgbClr val="0070C0"/>
                </a:solidFill>
                <a:prstDash val="solid"/>
              </a:ln>
              <a:pattFill prst="dkUpDiag">
                <a:fgClr>
                  <a:srgbClr val="775F55"/>
                </a:fgClr>
                <a:bgClr>
                  <a:srgbClr val="775F55">
                    <a:lumMod val="20000"/>
                    <a:lumOff val="80000"/>
                  </a:srgbClr>
                </a:bgClr>
              </a:pattFill>
              <a:effectLst>
                <a:outerShdw dist="38100" dir="2640000" algn="bl" rotWithShape="0">
                  <a:srgbClr val="775F55">
                    <a:lumMod val="75000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796C30-A308-7590-872B-78531CC91309}"/>
              </a:ext>
            </a:extLst>
          </p:cNvPr>
          <p:cNvSpPr txBox="1"/>
          <p:nvPr/>
        </p:nvSpPr>
        <p:spPr>
          <a:xfrm>
            <a:off x="15044" y="2068542"/>
            <a:ext cx="9842500" cy="378565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400" dirty="0"/>
              <a:t>They generally measure energy without identifying the type of device consuming it.</a:t>
            </a:r>
          </a:p>
          <a:p>
            <a:pPr marL="457200" indent="-457200">
              <a:buFont typeface="Wingdings" pitchFamily="2" charset="2"/>
              <a:buChar char="q"/>
            </a:pPr>
            <a:endParaRPr lang="en-US" sz="2400" dirty="0"/>
          </a:p>
          <a:p>
            <a:pPr marL="457200" indent="-457200">
              <a:buFont typeface="Wingdings" pitchFamily="2" charset="2"/>
              <a:buChar char="q"/>
            </a:pPr>
            <a:r>
              <a:rPr lang="en-US" sz="2400" dirty="0"/>
              <a:t>lack of visibility on future consumption.</a:t>
            </a:r>
          </a:p>
          <a:p>
            <a:pPr marL="457200" indent="-457200">
              <a:buFont typeface="Wingdings" pitchFamily="2" charset="2"/>
              <a:buChar char="q"/>
            </a:pPr>
            <a:endParaRPr lang="en-US" sz="2400" dirty="0"/>
          </a:p>
          <a:p>
            <a:pPr marL="457200" indent="-457200">
              <a:buFont typeface="Wingdings" pitchFamily="2" charset="2"/>
              <a:buChar char="q"/>
            </a:pPr>
            <a:r>
              <a:rPr lang="en-US" sz="2400" dirty="0"/>
              <a:t>They can malfunction without the knowledge of the supplier or consumer, or electricity theft.</a:t>
            </a:r>
          </a:p>
          <a:p>
            <a:pPr marL="457200" indent="-457200">
              <a:buFont typeface="Wingdings" pitchFamily="2" charset="2"/>
              <a:buChar char="q"/>
            </a:pPr>
            <a:endParaRPr lang="en-US" sz="2400" dirty="0"/>
          </a:p>
          <a:p>
            <a:pPr marL="457200" indent="-457200">
              <a:buFont typeface="Wingdings" pitchFamily="2" charset="2"/>
              <a:buChar char="q"/>
            </a:pPr>
            <a:r>
              <a:rPr lang="en-US" sz="2400" dirty="0"/>
              <a:t>Emerging distributed energy resources (DER) at distribution networks which make the system more complex.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156105-251D-B4B0-04C6-3E97A0998B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4448FF3-3483-64C5-02B1-E2B61A5E6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7</a:t>
            </a:fld>
            <a:endParaRPr lang="ar-SA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DAE7711C-5264-3459-8F0A-F66CACF04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5A3A4-5CB5-4765-BADE-8DE9C0961864}" type="uaqdatetime1">
              <a:rPr lang="ar-SA" smtClean="0"/>
              <a:t>10/08/1447</a:t>
            </a:fld>
            <a:endParaRPr lang="ar-SA" dirty="0"/>
          </a:p>
        </p:txBody>
      </p:sp>
      <p:pic>
        <p:nvPicPr>
          <p:cNvPr id="9" name="صورة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6900" y="2586630"/>
            <a:ext cx="1019344" cy="1019344"/>
          </a:xfrm>
          <a:prstGeom prst="rect">
            <a:avLst/>
          </a:prstGeom>
        </p:spPr>
      </p:pic>
      <p:sp>
        <p:nvSpPr>
          <p:cNvPr id="6" name="مربع نص 5"/>
          <p:cNvSpPr txBox="1"/>
          <p:nvPr/>
        </p:nvSpPr>
        <p:spPr>
          <a:xfrm>
            <a:off x="15044" y="1201635"/>
            <a:ext cx="9552316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dirty="0">
                <a:latin typeface="+mj-lt"/>
              </a:rPr>
              <a:t>Current local energy meters lack several features:</a:t>
            </a:r>
          </a:p>
        </p:txBody>
      </p:sp>
      <p:pic>
        <p:nvPicPr>
          <p:cNvPr id="14" name="صورة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6900" y="4191000"/>
            <a:ext cx="1029013" cy="99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282451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6BA445-739B-CE3A-EA24-9609977AFD1C}"/>
              </a:ext>
            </a:extLst>
          </p:cNvPr>
          <p:cNvSpPr txBox="1"/>
          <p:nvPr/>
        </p:nvSpPr>
        <p:spPr>
          <a:xfrm>
            <a:off x="0" y="2505670"/>
            <a:ext cx="12192000" cy="144655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88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</a:rPr>
              <a:t>Solutions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820DA1-B4BD-0FDE-8F4A-C48C4C13A0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D47DB-5738-FE66-61D3-F2C159B76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8</a:t>
            </a:fld>
            <a:endParaRPr lang="ar-SA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743113-1E81-D95C-4CC3-074EB07D0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6579-D349-4562-A85D-B49DFFBF2256}" type="uaqdatetime1">
              <a:rPr lang="ar-SA" smtClean="0"/>
              <a:t>10/08/1447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90935326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D74DB-B137-9028-3CCB-3C1053B2C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900" y="187843"/>
            <a:ext cx="4914900" cy="1048746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</a:rPr>
              <a:t>Solutions</a:t>
            </a:r>
            <a:endParaRPr lang="en-US" dirty="0">
              <a:ln w="12700">
                <a:solidFill>
                  <a:srgbClr val="0070C0"/>
                </a:solidFill>
                <a:prstDash val="solid"/>
              </a:ln>
              <a:pattFill prst="dkUpDiag">
                <a:fgClr>
                  <a:srgbClr val="775F55"/>
                </a:fgClr>
                <a:bgClr>
                  <a:srgbClr val="775F55">
                    <a:lumMod val="20000"/>
                    <a:lumOff val="80000"/>
                  </a:srgbClr>
                </a:bgClr>
              </a:pattFill>
              <a:effectLst>
                <a:outerShdw dist="38100" dir="2640000" algn="bl" rotWithShape="0">
                  <a:srgbClr val="775F55">
                    <a:lumMod val="75000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156105-251D-B4B0-04C6-3E97A0998B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4448FF3-3483-64C5-02B1-E2B61A5E6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9</a:t>
            </a:fld>
            <a:endParaRPr lang="ar-SA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DAE7711C-5264-3459-8F0A-F66CACF040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39024" y="6492875"/>
            <a:ext cx="3273552" cy="365125"/>
          </a:xfrm>
        </p:spPr>
        <p:txBody>
          <a:bodyPr/>
          <a:lstStyle/>
          <a:p>
            <a:fld id="{2525A3A4-5CB5-4765-BADE-8DE9C0961864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D2796C30-A308-7590-872B-78531CC91309}"/>
              </a:ext>
            </a:extLst>
          </p:cNvPr>
          <p:cNvSpPr txBox="1"/>
          <p:nvPr/>
        </p:nvSpPr>
        <p:spPr>
          <a:xfrm>
            <a:off x="-10784" y="1301458"/>
            <a:ext cx="10550770" cy="55399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000" b="1" dirty="0">
                <a:latin typeface="+mj-lt"/>
              </a:rPr>
              <a:t>Each solution has a benefit:-</a:t>
            </a:r>
          </a:p>
        </p:txBody>
      </p:sp>
      <p:sp>
        <p:nvSpPr>
          <p:cNvPr id="7" name="مستطيل 6"/>
          <p:cNvSpPr/>
          <p:nvPr/>
        </p:nvSpPr>
        <p:spPr>
          <a:xfrm>
            <a:off x="217816" y="2551038"/>
            <a:ext cx="3721100" cy="654734"/>
          </a:xfrm>
          <a:prstGeom prst="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6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ysClr val="windowText" lastClr="000000"/>
                </a:solidFill>
                <a:effectLst/>
                <a:latin typeface="+mj-lt"/>
              </a:rPr>
              <a:t>Load Disaggregation</a:t>
            </a:r>
            <a:endParaRPr lang="ar-SA" sz="2600" b="1" dirty="0">
              <a:solidFill>
                <a:sysClr val="windowText" lastClr="000000"/>
              </a:solidFill>
              <a:effectLst/>
              <a:latin typeface="+mj-lt"/>
            </a:endParaRPr>
          </a:p>
        </p:txBody>
      </p:sp>
      <p:sp>
        <p:nvSpPr>
          <p:cNvPr id="14" name="مستطيل 13"/>
          <p:cNvSpPr/>
          <p:nvPr/>
        </p:nvSpPr>
        <p:spPr>
          <a:xfrm>
            <a:off x="215900" y="3816789"/>
            <a:ext cx="3721100" cy="65473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6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ysClr val="windowText" lastClr="000000"/>
                </a:solidFill>
                <a:effectLst/>
                <a:latin typeface="+mj-lt"/>
              </a:rPr>
              <a:t>Load Forecasting</a:t>
            </a:r>
            <a:endParaRPr lang="ar-SA" sz="2600" dirty="0">
              <a:ln w="12700">
                <a:solidFill>
                  <a:schemeClr val="tx1"/>
                </a:solidFill>
                <a:prstDash val="solid"/>
              </a:ln>
              <a:solidFill>
                <a:sysClr val="windowText" lastClr="000000"/>
              </a:solidFill>
              <a:effectLst/>
              <a:latin typeface="+mj-lt"/>
            </a:endParaRPr>
          </a:p>
        </p:txBody>
      </p:sp>
      <p:sp>
        <p:nvSpPr>
          <p:cNvPr id="15" name="مستطيل 14"/>
          <p:cNvSpPr/>
          <p:nvPr/>
        </p:nvSpPr>
        <p:spPr>
          <a:xfrm>
            <a:off x="215900" y="5009466"/>
            <a:ext cx="3721100" cy="65473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6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  <a:effectLst/>
                <a:latin typeface="+mj-lt"/>
              </a:rPr>
              <a:t>Check-up Detection</a:t>
            </a:r>
            <a:endParaRPr lang="ar-SA" sz="2600" dirty="0">
              <a:ln w="12700">
                <a:solidFill>
                  <a:schemeClr val="tx1"/>
                </a:solidFill>
                <a:prstDash val="solid"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17" name="رابط كسهم مستقيم 16"/>
          <p:cNvCxnSpPr/>
          <p:nvPr/>
        </p:nvCxnSpPr>
        <p:spPr>
          <a:xfrm>
            <a:off x="3937000" y="2897503"/>
            <a:ext cx="64961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رابط كسهم مستقيم 17"/>
          <p:cNvCxnSpPr/>
          <p:nvPr/>
        </p:nvCxnSpPr>
        <p:spPr>
          <a:xfrm>
            <a:off x="3937000" y="4173805"/>
            <a:ext cx="64961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رابط كسهم مستقيم 18"/>
          <p:cNvCxnSpPr/>
          <p:nvPr/>
        </p:nvCxnSpPr>
        <p:spPr>
          <a:xfrm>
            <a:off x="3938916" y="5336833"/>
            <a:ext cx="6477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مستطيل مستدير الزوايا 29"/>
          <p:cNvSpPr/>
          <p:nvPr/>
        </p:nvSpPr>
        <p:spPr>
          <a:xfrm>
            <a:off x="4586616" y="4826000"/>
            <a:ext cx="7389484" cy="88900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To detect suspicious consumption behavior and smart meter health.</a:t>
            </a:r>
            <a:endParaRPr lang="ar-SA" sz="2400" b="1" dirty="0">
              <a:latin typeface="+mj-lt"/>
            </a:endParaRPr>
          </a:p>
        </p:txBody>
      </p:sp>
      <p:sp>
        <p:nvSpPr>
          <p:cNvPr id="31" name="مستطيل مستدير الزوايا 30"/>
          <p:cNvSpPr/>
          <p:nvPr/>
        </p:nvSpPr>
        <p:spPr>
          <a:xfrm>
            <a:off x="4586616" y="3637573"/>
            <a:ext cx="7389484" cy="101316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Better management for future bills, also utilities can benefit to operate and manage the distribution network.</a:t>
            </a:r>
            <a:endParaRPr lang="ar-SA" sz="2400" b="1" dirty="0">
              <a:latin typeface="+mj-lt"/>
            </a:endParaRPr>
          </a:p>
        </p:txBody>
      </p:sp>
      <p:sp>
        <p:nvSpPr>
          <p:cNvPr id="32" name="مستطيل مستدير الزوايا 31"/>
          <p:cNvSpPr/>
          <p:nvPr/>
        </p:nvSpPr>
        <p:spPr>
          <a:xfrm>
            <a:off x="4586616" y="2352772"/>
            <a:ext cx="7389484" cy="105126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Help users understand which appliances consume the most energy, which save the cost and improve efficiency.</a:t>
            </a:r>
            <a:endParaRPr lang="ar-SA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96776367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6BA445-739B-CE3A-EA24-9609977AFD1C}"/>
              </a:ext>
            </a:extLst>
          </p:cNvPr>
          <p:cNvSpPr txBox="1"/>
          <p:nvPr/>
        </p:nvSpPr>
        <p:spPr>
          <a:xfrm>
            <a:off x="0" y="1948183"/>
            <a:ext cx="12192000" cy="304698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96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</a:rPr>
              <a:t>Proposed Framework</a:t>
            </a:r>
            <a:endParaRPr lang="en-US" sz="2000" b="1" dirty="0">
              <a:ln w="12700">
                <a:solidFill>
                  <a:srgbClr val="0070C0"/>
                </a:solidFill>
                <a:prstDash val="solid"/>
              </a:ln>
              <a:pattFill prst="dkUpDiag">
                <a:fgClr>
                  <a:srgbClr val="775F55"/>
                </a:fgClr>
                <a:bgClr>
                  <a:srgbClr val="775F55">
                    <a:lumMod val="20000"/>
                    <a:lumOff val="80000"/>
                  </a:srgbClr>
                </a:bgClr>
              </a:pattFill>
              <a:effectLst>
                <a:outerShdw dist="38100" dir="2640000" algn="bl" rotWithShape="0">
                  <a:srgbClr val="775F55">
                    <a:lumMod val="75000"/>
                  </a:srgbClr>
                </a:outerShdw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820DA1-B4BD-0FDE-8F4A-C48C4C13A0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D47DB-5738-FE66-61D3-F2C159B76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10</a:t>
            </a:fld>
            <a:endParaRPr lang="ar-SA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743113-1E81-D95C-4CC3-074EB07D0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6579-D349-4562-A85D-B49DFFBF2256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2" name="مربع نص 1"/>
          <p:cNvSpPr txBox="1"/>
          <p:nvPr/>
        </p:nvSpPr>
        <p:spPr>
          <a:xfrm>
            <a:off x="4589584" y="4982306"/>
            <a:ext cx="339383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SA" sz="1600" dirty="0"/>
          </a:p>
        </p:txBody>
      </p:sp>
    </p:spTree>
    <p:extLst>
      <p:ext uri="{BB962C8B-B14F-4D97-AF65-F5344CB8AC3E}">
        <p14:creationId xmlns:p14="http://schemas.microsoft.com/office/powerpoint/2010/main" val="393611326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صورة 8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654" y="3480999"/>
            <a:ext cx="1242112" cy="1235462"/>
          </a:xfrm>
          <a:prstGeom prst="rect">
            <a:avLst/>
          </a:prstGeom>
        </p:spPr>
      </p:pic>
      <p:pic>
        <p:nvPicPr>
          <p:cNvPr id="123" name="صورة 1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0505" y="5720824"/>
            <a:ext cx="1123046" cy="1123046"/>
          </a:xfrm>
          <a:prstGeom prst="rect">
            <a:avLst/>
          </a:prstGeom>
          <a:effectLst/>
        </p:spPr>
      </p:pic>
      <p:pic>
        <p:nvPicPr>
          <p:cNvPr id="122" name="صورة 1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889832" y="4747715"/>
            <a:ext cx="1076254" cy="941476"/>
          </a:xfrm>
          <a:prstGeom prst="rect">
            <a:avLst/>
          </a:prstGeom>
          <a:effectLst/>
        </p:spPr>
      </p:pic>
      <p:pic>
        <p:nvPicPr>
          <p:cNvPr id="113" name="صورة 1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9668" y="2888087"/>
            <a:ext cx="2928121" cy="2013517"/>
          </a:xfrm>
          <a:prstGeom prst="rect">
            <a:avLst/>
          </a:prstGeom>
          <a:effectLst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156105-251D-B4B0-04C6-3E97A0998B7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4448FF3-3483-64C5-02B1-E2B61A5E6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14C18377-5F4B-4766-8081-1F7DDCB934F7}" type="slidenum">
              <a:rPr lang="ar-SA" smtClean="0"/>
              <a:t>11</a:t>
            </a:fld>
            <a:endParaRPr lang="ar-SA" dirty="0"/>
          </a:p>
        </p:txBody>
      </p:sp>
      <p:cxnSp>
        <p:nvCxnSpPr>
          <p:cNvPr id="10" name="رابط كسهم مستقيم 9"/>
          <p:cNvCxnSpPr/>
          <p:nvPr/>
        </p:nvCxnSpPr>
        <p:spPr>
          <a:xfrm>
            <a:off x="901700" y="4025901"/>
            <a:ext cx="355600" cy="0"/>
          </a:xfrm>
          <a:prstGeom prst="straightConnector1">
            <a:avLst/>
          </a:prstGeom>
          <a:ln w="28575">
            <a:tailEnd type="arrow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مستطيل مستدير الزوايا 18"/>
          <p:cNvSpPr/>
          <p:nvPr/>
        </p:nvSpPr>
        <p:spPr>
          <a:xfrm>
            <a:off x="8315934" y="1815126"/>
            <a:ext cx="2228980" cy="283396"/>
          </a:xfrm>
          <a:prstGeom prst="roundRect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+mj-lt"/>
              </a:rPr>
              <a:t>Load Disaggregation</a:t>
            </a:r>
          </a:p>
        </p:txBody>
      </p:sp>
      <p:sp>
        <p:nvSpPr>
          <p:cNvPr id="48" name="مستطيل مستدير الزوايا 47"/>
          <p:cNvSpPr/>
          <p:nvPr/>
        </p:nvSpPr>
        <p:spPr>
          <a:xfrm>
            <a:off x="8315935" y="4608151"/>
            <a:ext cx="2251694" cy="216620"/>
          </a:xfrm>
          <a:prstGeom prst="roundRect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6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+mj-lt"/>
              </a:rPr>
              <a:t>Self-diagnosed </a:t>
            </a:r>
          </a:p>
        </p:txBody>
      </p:sp>
      <p:sp>
        <p:nvSpPr>
          <p:cNvPr id="43" name="مستطيل مستدير الزوايا 42"/>
          <p:cNvSpPr/>
          <p:nvPr/>
        </p:nvSpPr>
        <p:spPr>
          <a:xfrm>
            <a:off x="8315935" y="3205519"/>
            <a:ext cx="2224052" cy="216620"/>
          </a:xfrm>
          <a:prstGeom prst="roundRect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6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+mj-lt"/>
              </a:rPr>
              <a:t>Load Forecasting</a:t>
            </a:r>
          </a:p>
        </p:txBody>
      </p:sp>
      <p:pic>
        <p:nvPicPr>
          <p:cNvPr id="72" name="صورة 71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0232"/>
          <a:stretch/>
        </p:blipFill>
        <p:spPr>
          <a:xfrm>
            <a:off x="5841007" y="2417272"/>
            <a:ext cx="2131186" cy="821313"/>
          </a:xfrm>
          <a:prstGeom prst="rect">
            <a:avLst/>
          </a:prstGeom>
          <a:effectLst/>
        </p:spPr>
      </p:pic>
      <p:pic>
        <p:nvPicPr>
          <p:cNvPr id="112" name="صورة 1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935" y="2128301"/>
            <a:ext cx="2224051" cy="1002584"/>
          </a:xfrm>
          <a:prstGeom prst="rect">
            <a:avLst/>
          </a:prstGeom>
          <a:effectLst/>
        </p:spPr>
      </p:pic>
      <p:pic>
        <p:nvPicPr>
          <p:cNvPr id="117" name="صورة 116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81"/>
          <a:stretch/>
        </p:blipFill>
        <p:spPr>
          <a:xfrm>
            <a:off x="5969589" y="3526440"/>
            <a:ext cx="1874022" cy="941295"/>
          </a:xfrm>
          <a:prstGeom prst="rect">
            <a:avLst/>
          </a:prstGeom>
          <a:effectLst/>
        </p:spPr>
      </p:pic>
      <p:pic>
        <p:nvPicPr>
          <p:cNvPr id="119" name="صورة 118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07"/>
          <a:stretch/>
        </p:blipFill>
        <p:spPr>
          <a:xfrm>
            <a:off x="5928483" y="4811877"/>
            <a:ext cx="2043710" cy="908947"/>
          </a:xfrm>
          <a:prstGeom prst="rect">
            <a:avLst/>
          </a:prstGeom>
          <a:effectLst/>
        </p:spPr>
      </p:pic>
      <p:pic>
        <p:nvPicPr>
          <p:cNvPr id="28" name="صورة 2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7012" y="3527500"/>
            <a:ext cx="1253646" cy="940235"/>
          </a:xfrm>
          <a:prstGeom prst="rect">
            <a:avLst/>
          </a:prstGeom>
          <a:effectLst/>
        </p:spPr>
      </p:pic>
      <p:pic>
        <p:nvPicPr>
          <p:cNvPr id="2" name="صورة 1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91" t="30259" r="23285" b="25324"/>
          <a:stretch/>
        </p:blipFill>
        <p:spPr>
          <a:xfrm flipH="1">
            <a:off x="-2" y="3576028"/>
            <a:ext cx="1002663" cy="891707"/>
          </a:xfrm>
          <a:prstGeom prst="rect">
            <a:avLst/>
          </a:prstGeom>
          <a:effectLst/>
        </p:spPr>
      </p:pic>
      <p:sp>
        <p:nvSpPr>
          <p:cNvPr id="8" name="سهم إلى اليمين 7"/>
          <p:cNvSpPr/>
          <p:nvPr/>
        </p:nvSpPr>
        <p:spPr>
          <a:xfrm>
            <a:off x="-54091" y="1204320"/>
            <a:ext cx="1056753" cy="532800"/>
          </a:xfrm>
          <a:prstGeom prst="rightArrow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600" b="1" dirty="0">
                <a:latin typeface="+mj-lt"/>
              </a:rPr>
              <a:t>Input</a:t>
            </a:r>
            <a:endParaRPr lang="ar-SA" sz="1600" b="1" dirty="0">
              <a:latin typeface="+mj-lt"/>
            </a:endParaRPr>
          </a:p>
        </p:txBody>
      </p:sp>
      <p:sp>
        <p:nvSpPr>
          <p:cNvPr id="34" name="سهم إلى اليمين 33"/>
          <p:cNvSpPr/>
          <p:nvPr/>
        </p:nvSpPr>
        <p:spPr>
          <a:xfrm>
            <a:off x="1002662" y="1191609"/>
            <a:ext cx="1784350" cy="531229"/>
          </a:xfrm>
          <a:prstGeom prst="rightArrow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600" b="1" dirty="0">
                <a:latin typeface="+mj-lt"/>
              </a:rPr>
              <a:t>Smart-Meter</a:t>
            </a:r>
            <a:endParaRPr lang="ar-SA" sz="1600" b="1" dirty="0">
              <a:latin typeface="+mj-lt"/>
            </a:endParaRPr>
          </a:p>
        </p:txBody>
      </p:sp>
      <p:sp>
        <p:nvSpPr>
          <p:cNvPr id="35" name="سهم إلى اليمين 34"/>
          <p:cNvSpPr/>
          <p:nvPr/>
        </p:nvSpPr>
        <p:spPr>
          <a:xfrm>
            <a:off x="2787012" y="1204320"/>
            <a:ext cx="1426628" cy="532800"/>
          </a:xfrm>
          <a:prstGeom prst="rightArrow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600" b="1" dirty="0">
                <a:latin typeface="+mj-lt"/>
              </a:rPr>
              <a:t>Data </a:t>
            </a:r>
          </a:p>
        </p:txBody>
      </p:sp>
      <p:cxnSp>
        <p:nvCxnSpPr>
          <p:cNvPr id="38" name="رابط كسهم مستقيم 37"/>
          <p:cNvCxnSpPr/>
          <p:nvPr/>
        </p:nvCxnSpPr>
        <p:spPr>
          <a:xfrm>
            <a:off x="2218458" y="4031705"/>
            <a:ext cx="613642" cy="0"/>
          </a:xfrm>
          <a:prstGeom prst="straightConnector1">
            <a:avLst/>
          </a:prstGeom>
          <a:ln w="28575">
            <a:prstDash val="solid"/>
            <a:tailEnd type="arrow"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سهم إلى اليمين 39"/>
          <p:cNvSpPr/>
          <p:nvPr/>
        </p:nvSpPr>
        <p:spPr>
          <a:xfrm>
            <a:off x="4213640" y="1217032"/>
            <a:ext cx="1818860" cy="532800"/>
          </a:xfrm>
          <a:prstGeom prst="rightArrow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600" b="1" dirty="0">
                <a:latin typeface="+mj-lt"/>
              </a:rPr>
              <a:t>Cloud Storage </a:t>
            </a:r>
          </a:p>
        </p:txBody>
      </p:sp>
      <p:cxnSp>
        <p:nvCxnSpPr>
          <p:cNvPr id="44" name="رابط كسهم مستقيم 43"/>
          <p:cNvCxnSpPr/>
          <p:nvPr/>
        </p:nvCxnSpPr>
        <p:spPr>
          <a:xfrm>
            <a:off x="4040658" y="4025901"/>
            <a:ext cx="345964" cy="0"/>
          </a:xfrm>
          <a:prstGeom prst="straightConnector1">
            <a:avLst/>
          </a:prstGeom>
          <a:ln w="28575">
            <a:prstDash val="solid"/>
            <a:tailEnd type="arrow"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سهم إلى اليمين 49"/>
          <p:cNvSpPr/>
          <p:nvPr/>
        </p:nvSpPr>
        <p:spPr>
          <a:xfrm>
            <a:off x="6032500" y="1217032"/>
            <a:ext cx="2069684" cy="532800"/>
          </a:xfrm>
          <a:prstGeom prst="rightArrow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600" b="1" dirty="0">
                <a:latin typeface="+mj-lt"/>
              </a:rPr>
              <a:t>Algorithm</a:t>
            </a:r>
          </a:p>
        </p:txBody>
      </p:sp>
      <p:sp>
        <p:nvSpPr>
          <p:cNvPr id="26" name="مربع نص 25"/>
          <p:cNvSpPr txBox="1"/>
          <p:nvPr/>
        </p:nvSpPr>
        <p:spPr>
          <a:xfrm>
            <a:off x="5796946" y="2128301"/>
            <a:ext cx="2218662" cy="307777"/>
          </a:xfrm>
          <a:prstGeom prst="rect">
            <a:avLst/>
          </a:prstGeom>
          <a:noFill/>
          <a:effectLst/>
        </p:spPr>
        <p:txBody>
          <a:bodyPr wrap="square" rtlCol="1">
            <a:spAutoFit/>
          </a:bodyPr>
          <a:lstStyle/>
          <a:p>
            <a:pPr algn="ctr"/>
            <a:r>
              <a:rPr lang="en-US" sz="1400" b="1" dirty="0">
                <a:ln>
                  <a:solidFill>
                    <a:schemeClr val="tx1"/>
                  </a:solidFill>
                </a:ln>
                <a:latin typeface="+mj-lt"/>
              </a:rPr>
              <a:t>Load Disaggregation</a:t>
            </a:r>
          </a:p>
        </p:txBody>
      </p:sp>
      <p:sp>
        <p:nvSpPr>
          <p:cNvPr id="53" name="مربع نص 52"/>
          <p:cNvSpPr txBox="1"/>
          <p:nvPr/>
        </p:nvSpPr>
        <p:spPr>
          <a:xfrm>
            <a:off x="5815525" y="3268251"/>
            <a:ext cx="2218662" cy="307777"/>
          </a:xfrm>
          <a:prstGeom prst="rect">
            <a:avLst/>
          </a:prstGeom>
          <a:noFill/>
          <a:effectLst/>
        </p:spPr>
        <p:txBody>
          <a:bodyPr wrap="square" rtlCol="1">
            <a:spAutoFit/>
          </a:bodyPr>
          <a:lstStyle/>
          <a:p>
            <a:pPr algn="ctr"/>
            <a:r>
              <a:rPr lang="en-US" sz="1400" b="1" dirty="0">
                <a:ln>
                  <a:solidFill>
                    <a:schemeClr val="tx1"/>
                  </a:solidFill>
                </a:ln>
                <a:latin typeface="+mj-lt"/>
              </a:rPr>
              <a:t>Load Forecasting</a:t>
            </a:r>
          </a:p>
        </p:txBody>
      </p:sp>
      <p:sp>
        <p:nvSpPr>
          <p:cNvPr id="54" name="مربع نص 53"/>
          <p:cNvSpPr txBox="1"/>
          <p:nvPr/>
        </p:nvSpPr>
        <p:spPr>
          <a:xfrm>
            <a:off x="5841007" y="4593827"/>
            <a:ext cx="2218662" cy="307777"/>
          </a:xfrm>
          <a:prstGeom prst="rect">
            <a:avLst/>
          </a:prstGeom>
          <a:noFill/>
          <a:effectLst/>
        </p:spPr>
        <p:txBody>
          <a:bodyPr wrap="square" rtlCol="1">
            <a:spAutoFit/>
          </a:bodyPr>
          <a:lstStyle/>
          <a:p>
            <a:pPr algn="ctr"/>
            <a:r>
              <a:rPr lang="en-US" sz="1400" b="1" dirty="0">
                <a:ln>
                  <a:solidFill>
                    <a:schemeClr val="tx1"/>
                  </a:solidFill>
                </a:ln>
                <a:latin typeface="+mj-lt"/>
              </a:rPr>
              <a:t>Check-up Detection</a:t>
            </a:r>
          </a:p>
        </p:txBody>
      </p:sp>
      <p:cxnSp>
        <p:nvCxnSpPr>
          <p:cNvPr id="32" name="رابط بشكل مرفق 31"/>
          <p:cNvCxnSpPr>
            <a:endCxn id="72" idx="1"/>
          </p:cNvCxnSpPr>
          <p:nvPr/>
        </p:nvCxnSpPr>
        <p:spPr>
          <a:xfrm flipV="1">
            <a:off x="4928093" y="2827929"/>
            <a:ext cx="912914" cy="668844"/>
          </a:xfrm>
          <a:prstGeom prst="bentConnector3">
            <a:avLst>
              <a:gd name="adj1" fmla="val 740"/>
            </a:avLst>
          </a:prstGeom>
          <a:ln w="28575">
            <a:tailEnd type="arrow"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رابط كسهم مستقيم 35"/>
          <p:cNvCxnSpPr/>
          <p:nvPr/>
        </p:nvCxnSpPr>
        <p:spPr>
          <a:xfrm>
            <a:off x="5527422" y="3968204"/>
            <a:ext cx="648526" cy="0"/>
          </a:xfrm>
          <a:prstGeom prst="straightConnector1">
            <a:avLst/>
          </a:prstGeom>
          <a:ln w="28575">
            <a:tailEnd type="arrow"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رابط بشكل مرفق 56"/>
          <p:cNvCxnSpPr>
            <a:endCxn id="119" idx="1"/>
          </p:cNvCxnSpPr>
          <p:nvPr/>
        </p:nvCxnSpPr>
        <p:spPr>
          <a:xfrm>
            <a:off x="4928093" y="4608153"/>
            <a:ext cx="1000390" cy="658198"/>
          </a:xfrm>
          <a:prstGeom prst="bentConnector3">
            <a:avLst>
              <a:gd name="adj1" fmla="val 2050"/>
            </a:avLst>
          </a:prstGeom>
          <a:ln w="28575">
            <a:tailEnd type="arrow"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مستطيل مستدير الزوايا 64"/>
          <p:cNvSpPr/>
          <p:nvPr/>
        </p:nvSpPr>
        <p:spPr>
          <a:xfrm>
            <a:off x="8102184" y="1211510"/>
            <a:ext cx="2558497" cy="532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/>
            <a:r>
              <a:rPr lang="en-US" b="1" dirty="0">
                <a:solidFill>
                  <a:prstClr val="white"/>
                </a:solidFill>
                <a:latin typeface="Georgia"/>
              </a:rPr>
              <a:t>Solutions</a:t>
            </a:r>
          </a:p>
        </p:txBody>
      </p:sp>
      <p:cxnSp>
        <p:nvCxnSpPr>
          <p:cNvPr id="67" name="رابط بشكل مرفق 66"/>
          <p:cNvCxnSpPr/>
          <p:nvPr/>
        </p:nvCxnSpPr>
        <p:spPr>
          <a:xfrm rot="16200000" flipH="1">
            <a:off x="4481334" y="1897244"/>
            <a:ext cx="1669955" cy="7308387"/>
          </a:xfrm>
          <a:prstGeom prst="bentConnector2">
            <a:avLst/>
          </a:prstGeom>
          <a:ln w="38100">
            <a:tailEnd type="arrow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رابط كسهم مستقيم 89"/>
          <p:cNvCxnSpPr/>
          <p:nvPr/>
        </p:nvCxnSpPr>
        <p:spPr>
          <a:xfrm>
            <a:off x="7789805" y="2827929"/>
            <a:ext cx="526130" cy="0"/>
          </a:xfrm>
          <a:prstGeom prst="straightConnector1">
            <a:avLst/>
          </a:prstGeom>
          <a:ln w="28575">
            <a:prstDash val="solid"/>
            <a:tailEnd type="arrow"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رابط كسهم مستقيم 91"/>
          <p:cNvCxnSpPr/>
          <p:nvPr/>
        </p:nvCxnSpPr>
        <p:spPr>
          <a:xfrm>
            <a:off x="7802505" y="3980709"/>
            <a:ext cx="693795" cy="0"/>
          </a:xfrm>
          <a:prstGeom prst="straightConnector1">
            <a:avLst/>
          </a:prstGeom>
          <a:ln w="28575">
            <a:prstDash val="solid"/>
            <a:tailEnd type="arrow"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رابط كسهم مستقيم 96"/>
          <p:cNvCxnSpPr/>
          <p:nvPr/>
        </p:nvCxnSpPr>
        <p:spPr>
          <a:xfrm flipV="1">
            <a:off x="7802505" y="5193568"/>
            <a:ext cx="765164" cy="1"/>
          </a:xfrm>
          <a:prstGeom prst="straightConnector1">
            <a:avLst/>
          </a:prstGeom>
          <a:ln w="28575">
            <a:prstDash val="solid"/>
            <a:tailEnd type="arrow"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مستطيل 87"/>
          <p:cNvSpPr/>
          <p:nvPr/>
        </p:nvSpPr>
        <p:spPr>
          <a:xfrm>
            <a:off x="2218458" y="252252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/>
            <a:r>
              <a:rPr lang="en-US" sz="32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Georgia"/>
              </a:rPr>
              <a:t>Proposed Framework</a:t>
            </a:r>
            <a:endParaRPr lang="en-US" sz="600" b="1" dirty="0">
              <a:ln w="12700">
                <a:solidFill>
                  <a:srgbClr val="0070C0"/>
                </a:solidFill>
                <a:prstDash val="solid"/>
              </a:ln>
              <a:pattFill prst="dkUpDiag">
                <a:fgClr>
                  <a:srgbClr val="775F55"/>
                </a:fgClr>
                <a:bgClr>
                  <a:srgbClr val="775F55">
                    <a:lumMod val="20000"/>
                    <a:lumOff val="80000"/>
                  </a:srgbClr>
                </a:bgClr>
              </a:pattFill>
              <a:effectLst>
                <a:outerShdw dist="38100" dir="2640000" algn="bl" rotWithShape="0">
                  <a:srgbClr val="775F55">
                    <a:lumMod val="75000"/>
                  </a:srgbClr>
                </a:outerShdw>
                <a:reflection blurRad="6350" stA="55000" endA="300" endPos="45500" dir="5400000" sy="-100000" algn="bl" rotWithShape="0"/>
              </a:effectLst>
              <a:latin typeface="Georgia"/>
            </a:endParaRPr>
          </a:p>
        </p:txBody>
      </p:sp>
      <p:pic>
        <p:nvPicPr>
          <p:cNvPr id="31" name="صورة 3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0658" y="3376439"/>
            <a:ext cx="1774867" cy="1435438"/>
          </a:xfrm>
          <a:prstGeom prst="rect">
            <a:avLst/>
          </a:prstGeom>
        </p:spPr>
      </p:pic>
      <p:sp>
        <p:nvSpPr>
          <p:cNvPr id="49" name="مستطيل مستدير الزوايا 48"/>
          <p:cNvSpPr/>
          <p:nvPr/>
        </p:nvSpPr>
        <p:spPr>
          <a:xfrm>
            <a:off x="8314458" y="5612824"/>
            <a:ext cx="2253172" cy="233340"/>
          </a:xfrm>
          <a:prstGeom prst="roundRect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+mj-lt"/>
              </a:rPr>
              <a:t>Bidirectional</a:t>
            </a:r>
          </a:p>
        </p:txBody>
      </p:sp>
      <p:pic>
        <p:nvPicPr>
          <p:cNvPr id="86" name="صورة 85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20" t="14980" r="22578" b="17269"/>
          <a:stretch/>
        </p:blipFill>
        <p:spPr>
          <a:xfrm>
            <a:off x="9449179" y="6204454"/>
            <a:ext cx="165697" cy="19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753336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0EB5-C979-6566-51EE-3595DA1D2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730580-A726-0A6E-2729-601672CB1614}"/>
              </a:ext>
            </a:extLst>
          </p:cNvPr>
          <p:cNvSpPr txBox="1"/>
          <p:nvPr/>
        </p:nvSpPr>
        <p:spPr>
          <a:xfrm>
            <a:off x="0" y="2739846"/>
            <a:ext cx="12192000" cy="110799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66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</a:rPr>
              <a:t>Load Disaggregation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9B3F08-5573-B8BE-1195-B472F0D9EE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46DE1-F445-B506-292C-A8DE9A780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12</a:t>
            </a:fld>
            <a:endParaRPr lang="ar-SA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A2225-4F93-5B87-01E5-13E240DB0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6579-D349-4562-A85D-B49DFFBF2256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2" name="مربع نص 1">
            <a:extLst>
              <a:ext uri="{FF2B5EF4-FFF2-40B4-BE49-F238E27FC236}">
                <a16:creationId xmlns:a16="http://schemas.microsoft.com/office/drawing/2014/main" id="{DD8574A2-C38F-23D0-4ADE-C8D1D4E2AC1A}"/>
              </a:ext>
            </a:extLst>
          </p:cNvPr>
          <p:cNvSpPr txBox="1"/>
          <p:nvPr/>
        </p:nvSpPr>
        <p:spPr>
          <a:xfrm>
            <a:off x="4589584" y="4982306"/>
            <a:ext cx="339383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SA" sz="1600" dirty="0"/>
          </a:p>
        </p:txBody>
      </p:sp>
    </p:spTree>
    <p:extLst>
      <p:ext uri="{BB962C8B-B14F-4D97-AF65-F5344CB8AC3E}">
        <p14:creationId xmlns:p14="http://schemas.microsoft.com/office/powerpoint/2010/main" val="1128434670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D74DB-B137-9028-3CCB-3C1053B2C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485" y="175143"/>
            <a:ext cx="9726014" cy="1048746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ea typeface="+mn-ea"/>
                <a:cs typeface="+mn-cs"/>
              </a:rPr>
              <a:t>Load Disaggregation</a:t>
            </a:r>
            <a:endParaRPr lang="ar-SA" sz="4400" dirty="0">
              <a:ln w="12700">
                <a:solidFill>
                  <a:srgbClr val="0070C0"/>
                </a:solidFill>
                <a:prstDash val="solid"/>
              </a:ln>
              <a:solidFill>
                <a:srgbClr val="00926C"/>
              </a:solidFill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0C667A-5F59-2BBF-679F-D436954A4765}"/>
              </a:ext>
            </a:extLst>
          </p:cNvPr>
          <p:cNvSpPr txBox="1"/>
          <p:nvPr/>
        </p:nvSpPr>
        <p:spPr>
          <a:xfrm>
            <a:off x="5641144" y="2736166"/>
            <a:ext cx="914400" cy="9144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S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796C30-A308-7590-872B-78531CC91309}"/>
              </a:ext>
            </a:extLst>
          </p:cNvPr>
          <p:cNvSpPr txBox="1"/>
          <p:nvPr/>
        </p:nvSpPr>
        <p:spPr>
          <a:xfrm>
            <a:off x="0" y="1656861"/>
            <a:ext cx="8370277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indent="-571500">
              <a:buFont typeface="Arial" panose="020B0604020202020204" pitchFamily="34" charset="0"/>
              <a:buChar char="•"/>
            </a:pPr>
            <a:r>
              <a:rPr lang="en-US" sz="32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</a:rPr>
              <a:t>Introduction</a:t>
            </a:r>
          </a:p>
          <a:p>
            <a:endParaRPr lang="en-US" sz="1200" b="1" dirty="0">
              <a:ln w="12700">
                <a:solidFill>
                  <a:srgbClr val="0070C0"/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156105-251D-B4B0-04C6-3E97A0998B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4448FF3-3483-64C5-02B1-E2B61A5E6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13</a:t>
            </a:fld>
            <a:endParaRPr lang="ar-SA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DAE7711C-5264-3459-8F0A-F66CACF04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5A3A4-5CB5-4765-BADE-8DE9C0961864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D4BE2-1EC3-B61E-1C3D-EA3DDA88CBC4}"/>
              </a:ext>
            </a:extLst>
          </p:cNvPr>
          <p:cNvSpPr txBox="1"/>
          <p:nvPr/>
        </p:nvSpPr>
        <p:spPr>
          <a:xfrm>
            <a:off x="145915" y="2760338"/>
            <a:ext cx="623498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It’s a way to measure the load of the appliance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There are two ways: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Traditional Appliance Load Monitoring (using current sensors and other devices)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Non-intrusive Load Monitoring(NILM)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F4474A-F33C-D525-3362-150447540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328" y="2017876"/>
            <a:ext cx="5576669" cy="384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975213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D0BD-C166-8339-7514-585FAE5DA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2CA75-1C6A-ADDE-16A5-9E4612E1A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485" y="175143"/>
            <a:ext cx="9726014" cy="1048746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</a:rPr>
              <a:t>Load Disaggregation</a:t>
            </a:r>
            <a:endParaRPr lang="ar-SA" sz="4400" dirty="0">
              <a:ln w="12700">
                <a:solidFill>
                  <a:srgbClr val="0070C0"/>
                </a:solidFill>
                <a:prstDash val="solid"/>
              </a:ln>
              <a:solidFill>
                <a:srgbClr val="00926C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718BB6-66AD-2B67-3520-0B3354D91AE2}"/>
              </a:ext>
            </a:extLst>
          </p:cNvPr>
          <p:cNvSpPr txBox="1"/>
          <p:nvPr/>
        </p:nvSpPr>
        <p:spPr>
          <a:xfrm>
            <a:off x="434898" y="1489593"/>
            <a:ext cx="9121697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  <a:ea typeface="+mj-ea"/>
                <a:cs typeface="+mj-cs"/>
              </a:rPr>
              <a:t>NILM?</a:t>
            </a:r>
          </a:p>
          <a:p>
            <a:endParaRPr lang="en-US" sz="1200" b="1" dirty="0">
              <a:ln w="12700">
                <a:solidFill>
                  <a:srgbClr val="0070C0"/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3E04DA-6BDD-762D-D718-D43F090E9C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3FED2AD-F67E-7778-C19F-0DBF5138A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14</a:t>
            </a:fld>
            <a:endParaRPr lang="ar-SA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D71C2AB3-1A1B-F909-2E97-ECB878212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5A3A4-5CB5-4765-BADE-8DE9C0961864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835241-713E-D599-6487-C746734CD96B}"/>
              </a:ext>
            </a:extLst>
          </p:cNvPr>
          <p:cNvSpPr txBox="1"/>
          <p:nvPr/>
        </p:nvSpPr>
        <p:spPr>
          <a:xfrm>
            <a:off x="453044" y="2915980"/>
            <a:ext cx="60932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It’s a way to monitor appliance load using Machine learning and signal processing</a:t>
            </a:r>
          </a:p>
          <a:p>
            <a:endParaRPr lang="en-US" dirty="0"/>
          </a:p>
          <a:p>
            <a:endParaRPr lang="en-US" dirty="0"/>
          </a:p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4B9749-39BF-AF6C-EEB6-75169824F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054" y="2427371"/>
            <a:ext cx="5323799" cy="320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677466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6BA445-739B-CE3A-EA24-9609977AFD1C}"/>
              </a:ext>
            </a:extLst>
          </p:cNvPr>
          <p:cNvSpPr txBox="1"/>
          <p:nvPr/>
        </p:nvSpPr>
        <p:spPr>
          <a:xfrm>
            <a:off x="1137920" y="2515830"/>
            <a:ext cx="10180320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</a:rPr>
              <a:t>Load Disaggregation 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820DA1-B4BD-0FDE-8F4A-C48C4C13A0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D47DB-5738-FE66-61D3-F2C159B76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15</a:t>
            </a:fld>
            <a:endParaRPr lang="ar-SA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743113-1E81-D95C-4CC3-074EB07D0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6579-D349-4562-A85D-B49DFFBF2256}" type="uaqdatetime1">
              <a:rPr lang="ar-SA" smtClean="0"/>
              <a:t>10/08/1447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344073834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0046B-9C21-BC96-6376-7B8DE6757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09856-2DC9-314B-3DB2-6A8CF3E8A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485" y="175143"/>
            <a:ext cx="9726014" cy="1048746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</a:rPr>
              <a:t>Load Disaggregation Algorithm</a:t>
            </a:r>
            <a:endParaRPr lang="ar-SA" sz="3200" dirty="0">
              <a:ln w="12700">
                <a:solidFill>
                  <a:srgbClr val="0070C0"/>
                </a:solidFill>
                <a:prstDash val="solid"/>
              </a:ln>
              <a:solidFill>
                <a:srgbClr val="00926C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2B6131-FB3F-AC56-7D50-5C1B57F2BE66}"/>
              </a:ext>
            </a:extLst>
          </p:cNvPr>
          <p:cNvSpPr txBox="1"/>
          <p:nvPr/>
        </p:nvSpPr>
        <p:spPr>
          <a:xfrm>
            <a:off x="0" y="1816856"/>
            <a:ext cx="9656956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  <a:ea typeface="+mj-ea"/>
                <a:cs typeface="+mj-cs"/>
              </a:rPr>
              <a:t>Comparison of load disaggregation Algorithm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4CA42C-265D-F667-7C36-0DC1D5319F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A276E0F-44F0-E133-47D4-F644D1AB4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16</a:t>
            </a:fld>
            <a:endParaRPr lang="ar-SA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A8EA9FF-E1CA-D7BC-7F3C-179548AA6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5A3A4-5CB5-4765-BADE-8DE9C0961864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F812E4-CA80-5CF6-52E7-8949945BD208}"/>
              </a:ext>
            </a:extLst>
          </p:cNvPr>
          <p:cNvSpPr txBox="1"/>
          <p:nvPr/>
        </p:nvSpPr>
        <p:spPr>
          <a:xfrm>
            <a:off x="566636" y="6167496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https://pmc.ncbi.nlm.nih.gov/articles/PMC3571813/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987BD62-B3D4-C38A-F178-E1F4AB4C4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044483"/>
              </p:ext>
            </p:extLst>
          </p:nvPr>
        </p:nvGraphicFramePr>
        <p:xfrm>
          <a:off x="1914292" y="3049116"/>
          <a:ext cx="8046720" cy="2286000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77746073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519067348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3282863578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0986123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Learning Algorithm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Features Used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Accuracy (%)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Training Type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989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HMM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Steady-State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75–95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Supervised and Unsupervised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8537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Steady-State and transient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70–90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Supervised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7493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Steady-State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60–95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Supervised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3616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6519221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391FD-F943-CB00-C305-FE3B64893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70554-9A03-1FF5-B8CD-18D690422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485" y="175143"/>
            <a:ext cx="9726014" cy="1048746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</a:rPr>
              <a:t>Load Disaggregation</a:t>
            </a:r>
            <a:endParaRPr lang="ar-SA" sz="5300" dirty="0">
              <a:ln w="12700">
                <a:solidFill>
                  <a:srgbClr val="0070C0"/>
                </a:solidFill>
                <a:prstDash val="solid"/>
              </a:ln>
              <a:solidFill>
                <a:srgbClr val="00926C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F563E5-9CA3-7855-152E-1C8658527CDF}"/>
              </a:ext>
            </a:extLst>
          </p:cNvPr>
          <p:cNvSpPr txBox="1"/>
          <p:nvPr/>
        </p:nvSpPr>
        <p:spPr>
          <a:xfrm>
            <a:off x="951888" y="1366454"/>
            <a:ext cx="8370277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  <a:ea typeface="+mj-ea"/>
                <a:cs typeface="+mj-cs"/>
              </a:rPr>
              <a:t>Model</a:t>
            </a:r>
            <a:endParaRPr lang="en-US" sz="4800" b="1" dirty="0">
              <a:ln w="12700">
                <a:solidFill>
                  <a:srgbClr val="0070C0"/>
                </a:solidFill>
                <a:prstDash val="solid"/>
              </a:ln>
              <a:solidFill>
                <a:srgbClr val="00926C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A481CB-69A8-5336-F347-99D8D57286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34D2E6F-20DE-FE80-5708-05CBBE910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17</a:t>
            </a:fld>
            <a:endParaRPr lang="ar-SA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2454D00-D34D-AA50-A83A-9FDB14041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5A3A4-5CB5-4765-BADE-8DE9C0961864}" type="uaqdatetime1">
              <a:rPr lang="ar-SA" smtClean="0"/>
              <a:t>10/08/1447</a:t>
            </a:fld>
            <a:endParaRPr lang="ar-SA" dirty="0"/>
          </a:p>
        </p:txBody>
      </p:sp>
      <p:pic>
        <p:nvPicPr>
          <p:cNvPr id="3" name="Picture 2" descr="Graphical representation of a Factorial Hidden Markov Model, showing... |  Download Scientific Diagram">
            <a:extLst>
              <a:ext uri="{FF2B5EF4-FFF2-40B4-BE49-F238E27FC236}">
                <a16:creationId xmlns:a16="http://schemas.microsoft.com/office/drawing/2014/main" id="{1FC73AD1-8E31-CDE3-F464-0E4795EA9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9450" y="2514132"/>
            <a:ext cx="5753100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7E0019-132C-E254-2CFB-80E9360C5B38}"/>
              </a:ext>
            </a:extLst>
          </p:cNvPr>
          <p:cNvSpPr txBox="1"/>
          <p:nvPr/>
        </p:nvSpPr>
        <p:spPr>
          <a:xfrm>
            <a:off x="3653883" y="1984914"/>
            <a:ext cx="48842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+mj-lt"/>
              </a:rPr>
              <a:t>Factorial Hidden Markov Model</a:t>
            </a:r>
          </a:p>
        </p:txBody>
      </p:sp>
    </p:spTree>
    <p:extLst>
      <p:ext uri="{BB962C8B-B14F-4D97-AF65-F5344CB8AC3E}">
        <p14:creationId xmlns:p14="http://schemas.microsoft.com/office/powerpoint/2010/main" val="2833603079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CE4C3-91EE-BC1D-21BB-0976D26F8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862682-13B7-4E88-DF9F-CDF53F5F6FBA}"/>
              </a:ext>
            </a:extLst>
          </p:cNvPr>
          <p:cNvSpPr txBox="1"/>
          <p:nvPr/>
        </p:nvSpPr>
        <p:spPr>
          <a:xfrm>
            <a:off x="0" y="2739846"/>
            <a:ext cx="12192000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72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</a:rPr>
              <a:t>Load forecasting</a:t>
            </a:r>
            <a:endParaRPr lang="en-US" sz="6600" b="1" dirty="0">
              <a:ln w="12700">
                <a:solidFill>
                  <a:srgbClr val="0070C0"/>
                </a:solidFill>
                <a:prstDash val="solid"/>
              </a:ln>
              <a:solidFill>
                <a:srgbClr val="00926C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E866EC-8A40-6272-6C4E-204AF38FF5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16A37-27A7-8F46-5E8D-91B267995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18</a:t>
            </a:fld>
            <a:endParaRPr lang="ar-SA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A1454E-BF13-C913-87FF-D7246C17B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6579-D349-4562-A85D-B49DFFBF2256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2" name="مربع نص 1">
            <a:extLst>
              <a:ext uri="{FF2B5EF4-FFF2-40B4-BE49-F238E27FC236}">
                <a16:creationId xmlns:a16="http://schemas.microsoft.com/office/drawing/2014/main" id="{1FE2036A-1B2D-816A-9EBD-9710306D33AA}"/>
              </a:ext>
            </a:extLst>
          </p:cNvPr>
          <p:cNvSpPr txBox="1"/>
          <p:nvPr/>
        </p:nvSpPr>
        <p:spPr>
          <a:xfrm>
            <a:off x="4589584" y="4982306"/>
            <a:ext cx="339383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SA" sz="1600" dirty="0"/>
          </a:p>
        </p:txBody>
      </p:sp>
    </p:spTree>
    <p:extLst>
      <p:ext uri="{BB962C8B-B14F-4D97-AF65-F5344CB8AC3E}">
        <p14:creationId xmlns:p14="http://schemas.microsoft.com/office/powerpoint/2010/main" val="1749414270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B5B63-0721-A72A-A6B6-88DD92DC7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DBCDE1-818B-854E-5060-E7B027FFA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1550E-1ECD-4A56-AB4B-CE54BBD5BE5C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A52D5B-418D-904A-8BA0-A5D1C41FE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19</a:t>
            </a:fld>
            <a:endParaRPr lang="ar-SA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2B71FD4-70E3-F430-E693-F984F5A11107}"/>
              </a:ext>
            </a:extLst>
          </p:cNvPr>
          <p:cNvSpPr txBox="1">
            <a:spLocks/>
          </p:cNvSpPr>
          <p:nvPr/>
        </p:nvSpPr>
        <p:spPr>
          <a:xfrm>
            <a:off x="768485" y="185303"/>
            <a:ext cx="9726014" cy="1048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</a:rPr>
              <a:t>Load forecasting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93B881-E660-1F51-075B-A5742059D219}"/>
              </a:ext>
            </a:extLst>
          </p:cNvPr>
          <p:cNvSpPr txBox="1"/>
          <p:nvPr/>
        </p:nvSpPr>
        <p:spPr>
          <a:xfrm>
            <a:off x="1401336" y="1389758"/>
            <a:ext cx="9389327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+mj-lt"/>
              </a:rPr>
              <a:t>Objectives:</a:t>
            </a:r>
          </a:p>
          <a:p>
            <a:endParaRPr lang="en-US" sz="2800" b="1" dirty="0">
              <a:latin typeface="+mj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+mj-lt"/>
              </a:rPr>
              <a:t> </a:t>
            </a:r>
            <a:r>
              <a:rPr lang="en-US" altLang="en-US" sz="2400" b="1" dirty="0">
                <a:latin typeface="+mj-lt"/>
              </a:rPr>
              <a:t>Consumer Insight:</a:t>
            </a:r>
            <a:r>
              <a:rPr lang="en-US" altLang="en-US" sz="2400" dirty="0">
                <a:latin typeface="+mj-lt"/>
              </a:rPr>
              <a:t> Enable users to estimate future bills and manage consumption.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+mj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+mj-lt"/>
              </a:rPr>
              <a:t>Grid Stability:</a:t>
            </a:r>
            <a:r>
              <a:rPr lang="en-US" altLang="en-US" sz="2400" dirty="0">
                <a:latin typeface="+mj-lt"/>
              </a:rPr>
              <a:t> Help utilities anticipate peak demand.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+mj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+mj-lt"/>
              </a:rPr>
              <a:t>Security Baseline:</a:t>
            </a:r>
            <a:r>
              <a:rPr lang="en-US" altLang="en-US" sz="2400" dirty="0">
                <a:latin typeface="+mj-lt"/>
              </a:rPr>
              <a:t> Establish a "Normal Behavior" reference for theft detection.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09828440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1691E-81E3-A1C3-DE84-142C8607A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8CF37D-6001-F765-0AF9-4E0410D59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1550E-1ECD-4A56-AB4B-CE54BBD5BE5C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F5307-B606-8320-4E94-7CD44FCE7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20</a:t>
            </a:fld>
            <a:endParaRPr lang="ar-SA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53A47D-7A7A-3AD2-0CEE-B0C905804D75}"/>
              </a:ext>
            </a:extLst>
          </p:cNvPr>
          <p:cNvSpPr txBox="1">
            <a:spLocks/>
          </p:cNvSpPr>
          <p:nvPr/>
        </p:nvSpPr>
        <p:spPr>
          <a:xfrm>
            <a:off x="768485" y="185303"/>
            <a:ext cx="9726014" cy="1048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</a:rPr>
              <a:t>Load forecasting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70D3E0-3F9F-FABE-CB66-7C19369E3EF5}"/>
              </a:ext>
            </a:extLst>
          </p:cNvPr>
          <p:cNvSpPr txBox="1"/>
          <p:nvPr/>
        </p:nvSpPr>
        <p:spPr>
          <a:xfrm>
            <a:off x="1401336" y="1389758"/>
            <a:ext cx="9389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We used Long Short-Term Memory (</a:t>
            </a:r>
            <a:r>
              <a:rPr lang="en-US" sz="2400" b="1" dirty="0">
                <a:latin typeface="+mj-lt"/>
              </a:rPr>
              <a:t>LSTM)</a:t>
            </a:r>
            <a:r>
              <a:rPr lang="en-US" sz="2400" dirty="0">
                <a:latin typeface="+mj-lt"/>
              </a:rPr>
              <a:t> as our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09EEDE-12CB-CB72-3B74-5E91F790CC4D}"/>
              </a:ext>
            </a:extLst>
          </p:cNvPr>
          <p:cNvSpPr txBox="1"/>
          <p:nvPr/>
        </p:nvSpPr>
        <p:spPr>
          <a:xfrm>
            <a:off x="1482810" y="2199503"/>
            <a:ext cx="7006281" cy="872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LSTM is a neural network that depends on </a:t>
            </a:r>
            <a:r>
              <a:rPr lang="en-US" b="1" dirty="0">
                <a:latin typeface="+mj-lt"/>
              </a:rPr>
              <a:t>both</a:t>
            </a:r>
            <a:r>
              <a:rPr lang="en-US" dirty="0">
                <a:latin typeface="+mj-lt"/>
              </a:rPr>
              <a:t> long-term memory </a:t>
            </a:r>
            <a:r>
              <a:rPr lang="en-US" b="1" dirty="0">
                <a:latin typeface="+mj-lt"/>
              </a:rPr>
              <a:t>and</a:t>
            </a:r>
            <a:r>
              <a:rPr lang="en-US" dirty="0">
                <a:latin typeface="+mj-lt"/>
              </a:rPr>
              <a:t> short-term memory.</a:t>
            </a:r>
          </a:p>
        </p:txBody>
      </p:sp>
    </p:spTree>
    <p:extLst>
      <p:ext uri="{BB962C8B-B14F-4D97-AF65-F5344CB8AC3E}">
        <p14:creationId xmlns:p14="http://schemas.microsoft.com/office/powerpoint/2010/main" val="4039474439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53F0A-CC25-B8E5-4AEE-95A9C5360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07E459-53CB-3E65-008F-48E6CDAAA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1550E-1ECD-4A56-AB4B-CE54BBD5BE5C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A3382A-8529-C7BA-9F27-6961EED36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21</a:t>
            </a:fld>
            <a:endParaRPr lang="ar-SA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A7BAD81-C7B5-44CC-F4AE-93FD4570DA97}"/>
              </a:ext>
            </a:extLst>
          </p:cNvPr>
          <p:cNvSpPr txBox="1">
            <a:spLocks/>
          </p:cNvSpPr>
          <p:nvPr/>
        </p:nvSpPr>
        <p:spPr>
          <a:xfrm>
            <a:off x="768485" y="185303"/>
            <a:ext cx="9726014" cy="1048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</a:rPr>
              <a:t>LSTM</a:t>
            </a:r>
          </a:p>
        </p:txBody>
      </p:sp>
      <p:pic>
        <p:nvPicPr>
          <p:cNvPr id="2050" name="Picture 2" descr="What Is Long Short-Term Memory (LSTM)? - MATLAB &amp; Simulink">
            <a:extLst>
              <a:ext uri="{FF2B5EF4-FFF2-40B4-BE49-F238E27FC236}">
                <a16:creationId xmlns:a16="http://schemas.microsoft.com/office/drawing/2014/main" id="{6D3D65D2-84C9-D788-5AEF-64EC71A4B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9" y="1505917"/>
            <a:ext cx="7922835" cy="2602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DF5710-9116-B4CF-77FB-9BA39C15EA4F}"/>
              </a:ext>
            </a:extLst>
          </p:cNvPr>
          <p:cNvSpPr txBox="1"/>
          <p:nvPr/>
        </p:nvSpPr>
        <p:spPr>
          <a:xfrm>
            <a:off x="2113005" y="4114800"/>
            <a:ext cx="72534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Input: Current power consumption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Hidden state: power before 10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Cell state:  Its summer season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Forgot gate: In summer, no heater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Input gate: allow information about AC and high </a:t>
            </a:r>
            <a:r>
              <a:rPr lang="en-US" dirty="0" err="1"/>
              <a:t>tempreture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Output gate: forecast</a:t>
            </a:r>
          </a:p>
        </p:txBody>
      </p:sp>
    </p:spTree>
    <p:extLst>
      <p:ext uri="{BB962C8B-B14F-4D97-AF65-F5344CB8AC3E}">
        <p14:creationId xmlns:p14="http://schemas.microsoft.com/office/powerpoint/2010/main" val="3059210855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404A2-C435-BF0A-7C05-80CD0C23D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781C19-0A25-ACF5-5015-C8837EBE7E4C}"/>
              </a:ext>
            </a:extLst>
          </p:cNvPr>
          <p:cNvSpPr txBox="1"/>
          <p:nvPr/>
        </p:nvSpPr>
        <p:spPr>
          <a:xfrm>
            <a:off x="0" y="2739846"/>
            <a:ext cx="12192000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72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</a:rPr>
              <a:t>Theft</a:t>
            </a:r>
            <a:r>
              <a:rPr lang="en-US" sz="66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</a:rPr>
              <a:t> Detection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DE12C5-A5CF-81A6-6619-D9F6F1559A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39657-8EC3-54B0-BDF6-C175E34D0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22</a:t>
            </a:fld>
            <a:endParaRPr lang="ar-SA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FD73FD-52D3-A5ED-DDAE-C8CDDC06E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6579-D349-4562-A85D-B49DFFBF2256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2" name="مربع نص 1">
            <a:extLst>
              <a:ext uri="{FF2B5EF4-FFF2-40B4-BE49-F238E27FC236}">
                <a16:creationId xmlns:a16="http://schemas.microsoft.com/office/drawing/2014/main" id="{6AC10B1E-A648-F824-96E2-84F9EB061B4E}"/>
              </a:ext>
            </a:extLst>
          </p:cNvPr>
          <p:cNvSpPr txBox="1"/>
          <p:nvPr/>
        </p:nvSpPr>
        <p:spPr>
          <a:xfrm>
            <a:off x="4589584" y="4982306"/>
            <a:ext cx="339383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SA" sz="1600" dirty="0"/>
          </a:p>
        </p:txBody>
      </p:sp>
    </p:spTree>
    <p:extLst>
      <p:ext uri="{BB962C8B-B14F-4D97-AF65-F5344CB8AC3E}">
        <p14:creationId xmlns:p14="http://schemas.microsoft.com/office/powerpoint/2010/main" val="2274303270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8EE8B-8093-5C77-09DB-6EDF89CB8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1550E-1ECD-4A56-AB4B-CE54BBD5BE5C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C30F89-475E-6C5A-1060-21EF15916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23</a:t>
            </a:fld>
            <a:endParaRPr lang="ar-SA" dirty="0"/>
          </a:p>
        </p:txBody>
      </p:sp>
      <p:pic>
        <p:nvPicPr>
          <p:cNvPr id="1026" name="Picture 2" descr="Wireless Electricity Theft Detection System – Contest Open-Electronics">
            <a:extLst>
              <a:ext uri="{FF2B5EF4-FFF2-40B4-BE49-F238E27FC236}">
                <a16:creationId xmlns:a16="http://schemas.microsoft.com/office/drawing/2014/main" id="{2F7F282D-1762-DD9D-C7E9-2983A9DF2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0112" y="1933342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211F546-DA44-15B3-E66B-98419B4FF449}"/>
              </a:ext>
            </a:extLst>
          </p:cNvPr>
          <p:cNvSpPr txBox="1">
            <a:spLocks/>
          </p:cNvSpPr>
          <p:nvPr/>
        </p:nvSpPr>
        <p:spPr>
          <a:xfrm>
            <a:off x="768485" y="185303"/>
            <a:ext cx="9726014" cy="1048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none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</a:rPr>
              <a:t>Electricity theft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692147-A216-6391-4A82-F4DEA68A8B4D}"/>
              </a:ext>
            </a:extLst>
          </p:cNvPr>
          <p:cNvSpPr txBox="1"/>
          <p:nvPr/>
        </p:nvSpPr>
        <p:spPr>
          <a:xfrm>
            <a:off x="490653" y="2074126"/>
            <a:ext cx="66238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Electricity theft losses rose from $89.3 billion in 2014 to $96 billion in 2017.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According to a World Bank report, India, China, and Brazil lose 25%, 6%, and 16%, respectively of their total revenue annually due to NTLs (Non-Technical losses).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2A36FF-3EB8-3EF9-9C1C-2998E4982C63}"/>
              </a:ext>
            </a:extLst>
          </p:cNvPr>
          <p:cNvSpPr txBox="1"/>
          <p:nvPr/>
        </p:nvSpPr>
        <p:spPr>
          <a:xfrm>
            <a:off x="1860" y="6211669"/>
            <a:ext cx="60941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https://www.sciencedirect.com/science/article/abs/pii/S037877962200205X</a:t>
            </a:r>
          </a:p>
        </p:txBody>
      </p:sp>
    </p:spTree>
    <p:extLst>
      <p:ext uri="{BB962C8B-B14F-4D97-AF65-F5344CB8AC3E}">
        <p14:creationId xmlns:p14="http://schemas.microsoft.com/office/powerpoint/2010/main" val="1700148660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2DE57-3047-2CDB-6946-1EF178766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900FD8-17D4-1F11-BBA8-74F60691AB7D}"/>
              </a:ext>
            </a:extLst>
          </p:cNvPr>
          <p:cNvSpPr txBox="1"/>
          <p:nvPr/>
        </p:nvSpPr>
        <p:spPr>
          <a:xfrm>
            <a:off x="0" y="2505670"/>
            <a:ext cx="12192000" cy="144655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88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</a:rPr>
              <a:t>Algorithm</a:t>
            </a:r>
            <a:endParaRPr lang="en-US" sz="11500" b="1" dirty="0">
              <a:ln w="12700">
                <a:solidFill>
                  <a:srgbClr val="0070C0"/>
                </a:solidFill>
                <a:prstDash val="solid"/>
              </a:ln>
              <a:solidFill>
                <a:srgbClr val="00926C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2976F-9BE1-7F7D-BEF3-F83F1BA7E4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0497B-E102-E91C-FD2D-76EDA12BD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24</a:t>
            </a:fld>
            <a:endParaRPr lang="ar-SA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C35E39-CFC6-C962-5D4E-5430C1EC2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6579-D349-4562-A85D-B49DFFBF2256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2" name="مربع نص 1">
            <a:extLst>
              <a:ext uri="{FF2B5EF4-FFF2-40B4-BE49-F238E27FC236}">
                <a16:creationId xmlns:a16="http://schemas.microsoft.com/office/drawing/2014/main" id="{B73DF32B-B788-CF14-92CF-895E3A6DA623}"/>
              </a:ext>
            </a:extLst>
          </p:cNvPr>
          <p:cNvSpPr txBox="1"/>
          <p:nvPr/>
        </p:nvSpPr>
        <p:spPr>
          <a:xfrm>
            <a:off x="4589584" y="4982306"/>
            <a:ext cx="339383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SA" sz="1600" dirty="0"/>
          </a:p>
        </p:txBody>
      </p:sp>
    </p:spTree>
    <p:extLst>
      <p:ext uri="{BB962C8B-B14F-4D97-AF65-F5344CB8AC3E}">
        <p14:creationId xmlns:p14="http://schemas.microsoft.com/office/powerpoint/2010/main" val="1760109543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F9BC1-EFC4-47C5-BA3B-E4DB189D6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384C87-2AD3-FAAA-1FCF-E00A79877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1550E-1ECD-4A56-AB4B-CE54BBD5BE5C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403778-3F32-B968-CD3D-0625F6CD8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25</a:t>
            </a:fld>
            <a:endParaRPr lang="ar-SA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5DA2CEC-56BF-9E06-F744-BC8F2A109191}"/>
              </a:ext>
            </a:extLst>
          </p:cNvPr>
          <p:cNvSpPr txBox="1">
            <a:spLocks/>
          </p:cNvSpPr>
          <p:nvPr/>
        </p:nvSpPr>
        <p:spPr>
          <a:xfrm>
            <a:off x="768485" y="185303"/>
            <a:ext cx="9726014" cy="1048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</a:rPr>
              <a:t>Algorithm-CUSUM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4A1BEF-C6CF-7EA3-ED53-72F49B10B409}"/>
              </a:ext>
            </a:extLst>
          </p:cNvPr>
          <p:cNvSpPr txBox="1"/>
          <p:nvPr/>
        </p:nvSpPr>
        <p:spPr>
          <a:xfrm>
            <a:off x="1401336" y="1605776"/>
            <a:ext cx="93893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Cumulative sum (CUSUM) display the deviation from a target value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E7DA4-6698-A34D-5938-ACE2D15DBB41}"/>
              </a:ext>
            </a:extLst>
          </p:cNvPr>
          <p:cNvSpPr txBox="1"/>
          <p:nvPr/>
        </p:nvSpPr>
        <p:spPr>
          <a:xfrm>
            <a:off x="1405054" y="2564780"/>
            <a:ext cx="84080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In our smart meter CUSUM works on detecting small changes that cumulate above a mean or specified value.</a:t>
            </a:r>
          </a:p>
        </p:txBody>
      </p:sp>
    </p:spTree>
    <p:extLst>
      <p:ext uri="{BB962C8B-B14F-4D97-AF65-F5344CB8AC3E}">
        <p14:creationId xmlns:p14="http://schemas.microsoft.com/office/powerpoint/2010/main" val="2671098251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395E7-7DCC-781B-DBE2-FD6BF4C69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87A3E2-7758-08E2-234B-CD14D6A50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1550E-1ECD-4A56-AB4B-CE54BBD5BE5C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33EE0C-AA80-BAA8-3BB7-80D2AD866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26</a:t>
            </a:fld>
            <a:endParaRPr lang="ar-SA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AE74CCB-7DFA-EE56-1896-6935B762FD77}"/>
              </a:ext>
            </a:extLst>
          </p:cNvPr>
          <p:cNvSpPr txBox="1">
            <a:spLocks/>
          </p:cNvSpPr>
          <p:nvPr/>
        </p:nvSpPr>
        <p:spPr>
          <a:xfrm>
            <a:off x="768485" y="185303"/>
            <a:ext cx="9726014" cy="1048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</a:rPr>
              <a:t>CUSUM 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71B04A-9AD7-A01C-1BB4-AF2162F94E12}"/>
              </a:ext>
            </a:extLst>
          </p:cNvPr>
          <p:cNvSpPr txBox="1"/>
          <p:nvPr/>
        </p:nvSpPr>
        <p:spPr>
          <a:xfrm>
            <a:off x="1401336" y="1605776"/>
            <a:ext cx="93893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There are Two ways in implementing CUSUM: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Implementing CUSUM on the daily measurement of electricity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Implementing CUSUM On the monthly electricity consumption and comparing it with the results obtained from load forecasting</a:t>
            </a:r>
          </a:p>
        </p:txBody>
      </p:sp>
    </p:spTree>
    <p:extLst>
      <p:ext uri="{BB962C8B-B14F-4D97-AF65-F5344CB8AC3E}">
        <p14:creationId xmlns:p14="http://schemas.microsoft.com/office/powerpoint/2010/main" val="803279629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D49D0-5349-28B4-ED74-03CC8F009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102798-F395-0596-10C9-75C512228F57}"/>
              </a:ext>
            </a:extLst>
          </p:cNvPr>
          <p:cNvSpPr txBox="1"/>
          <p:nvPr/>
        </p:nvSpPr>
        <p:spPr>
          <a:xfrm>
            <a:off x="0" y="2505670"/>
            <a:ext cx="12192000" cy="144655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88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</a:rPr>
              <a:t>Dataset</a:t>
            </a:r>
            <a:endParaRPr lang="en-US" sz="11500" b="1" dirty="0">
              <a:ln w="12700">
                <a:solidFill>
                  <a:srgbClr val="0070C0"/>
                </a:solidFill>
                <a:prstDash val="solid"/>
              </a:ln>
              <a:solidFill>
                <a:srgbClr val="00926C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BB0ABB-4E85-EB5B-2E1B-B702C71C3A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85C8B-159E-42BC-510A-706DFC3D7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27</a:t>
            </a:fld>
            <a:endParaRPr lang="ar-SA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0D1087-A77C-0A75-88C4-CF072649D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6579-D349-4562-A85D-B49DFFBF2256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2" name="مربع نص 1">
            <a:extLst>
              <a:ext uri="{FF2B5EF4-FFF2-40B4-BE49-F238E27FC236}">
                <a16:creationId xmlns:a16="http://schemas.microsoft.com/office/drawing/2014/main" id="{2F3C8D2C-BE47-4B57-B9AE-9BA4BB8B9FFD}"/>
              </a:ext>
            </a:extLst>
          </p:cNvPr>
          <p:cNvSpPr txBox="1"/>
          <p:nvPr/>
        </p:nvSpPr>
        <p:spPr>
          <a:xfrm>
            <a:off x="4589584" y="4982306"/>
            <a:ext cx="339383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SA" sz="1600" dirty="0"/>
          </a:p>
        </p:txBody>
      </p:sp>
    </p:spTree>
    <p:extLst>
      <p:ext uri="{BB962C8B-B14F-4D97-AF65-F5344CB8AC3E}">
        <p14:creationId xmlns:p14="http://schemas.microsoft.com/office/powerpoint/2010/main" val="2960203703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CB0ED-2EB1-6261-EE78-FCA9F01F1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6E8BD-0AE9-65A6-12CA-EC348A3FE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485" y="185303"/>
            <a:ext cx="9726014" cy="1048746"/>
          </a:xfrm>
        </p:spPr>
        <p:txBody>
          <a:bodyPr>
            <a:normAutofit/>
          </a:bodyPr>
          <a:lstStyle/>
          <a:p>
            <a:pPr algn="ctr" rtl="0"/>
            <a:r>
              <a:rPr lang="en-US" dirty="0">
                <a:ln w="12700">
                  <a:solidFill>
                    <a:srgbClr val="0070C0"/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</a:t>
            </a:r>
            <a:r>
              <a:rPr lang="en-US" sz="4000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</a:rPr>
              <a:t>Dataset</a:t>
            </a:r>
            <a:endParaRPr lang="ar-SA" sz="5300" dirty="0">
              <a:ln w="12700">
                <a:solidFill>
                  <a:srgbClr val="0070C0"/>
                </a:solidFill>
                <a:prstDash val="solid"/>
              </a:ln>
              <a:solidFill>
                <a:srgbClr val="00926C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A4684C-551C-B7CC-BE40-AD5E9ED48BD8}"/>
              </a:ext>
            </a:extLst>
          </p:cNvPr>
          <p:cNvSpPr txBox="1"/>
          <p:nvPr/>
        </p:nvSpPr>
        <p:spPr>
          <a:xfrm>
            <a:off x="963039" y="1355303"/>
            <a:ext cx="8370277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  <a:ea typeface="+mj-ea"/>
                <a:cs typeface="+mj-cs"/>
              </a:rPr>
              <a:t>Dataset</a:t>
            </a:r>
            <a:r>
              <a:rPr lang="en-US" sz="48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6A1951-FF81-C7AC-95BC-DC4CFA2E0D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0C7F7E4-1291-FCBA-961D-3281BDEA1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28</a:t>
            </a:fld>
            <a:endParaRPr lang="ar-SA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904D2AF-C71C-8B0A-04F2-0F29757BD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5A3A4-5CB5-4765-BADE-8DE9C0961864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EB9A2B-6AB5-5A43-A714-7383188630D7}"/>
              </a:ext>
            </a:extLst>
          </p:cNvPr>
          <p:cNvSpPr txBox="1"/>
          <p:nvPr/>
        </p:nvSpPr>
        <p:spPr>
          <a:xfrm>
            <a:off x="1052011" y="3690125"/>
            <a:ext cx="75000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REFIT Electrical Load Measurements dataset includes electrical consumption data in Watts for 20 households at aggregate and appliance level, timestamped and sampled at 8 second intervals.</a:t>
            </a:r>
          </a:p>
        </p:txBody>
      </p:sp>
      <p:pic>
        <p:nvPicPr>
          <p:cNvPr id="8" name="Graphic 7" descr="Folder Search with solid fill">
            <a:extLst>
              <a:ext uri="{FF2B5EF4-FFF2-40B4-BE49-F238E27FC236}">
                <a16:creationId xmlns:a16="http://schemas.microsoft.com/office/drawing/2014/main" id="{A6BBFB78-D59B-5573-C2A4-62B70D7EFF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7523" y="2168913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F13AE9-012B-565D-2B70-A6EF69BE5ED3}"/>
              </a:ext>
            </a:extLst>
          </p:cNvPr>
          <p:cNvSpPr txBox="1"/>
          <p:nvPr/>
        </p:nvSpPr>
        <p:spPr>
          <a:xfrm>
            <a:off x="1360449" y="2988527"/>
            <a:ext cx="836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REFIT</a:t>
            </a:r>
          </a:p>
        </p:txBody>
      </p:sp>
    </p:spTree>
    <p:extLst>
      <p:ext uri="{BB962C8B-B14F-4D97-AF65-F5344CB8AC3E}">
        <p14:creationId xmlns:p14="http://schemas.microsoft.com/office/powerpoint/2010/main" val="240793203"/>
      </p:ext>
    </p:extLst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66A32-D4D4-F21F-1B7B-8174134B2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F2C68-65FA-342E-FF0E-8DC116898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485" y="185303"/>
            <a:ext cx="9726014" cy="1048746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</a:rPr>
              <a:t>Load Disaggregation</a:t>
            </a:r>
            <a:endParaRPr lang="ar-SA" sz="5300" dirty="0">
              <a:ln w="12700">
                <a:solidFill>
                  <a:srgbClr val="0070C0"/>
                </a:solidFill>
                <a:prstDash val="solid"/>
              </a:ln>
              <a:solidFill>
                <a:srgbClr val="00926C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B04CD2-A91C-0CB0-3130-4F83E81E5549}"/>
              </a:ext>
            </a:extLst>
          </p:cNvPr>
          <p:cNvSpPr txBox="1"/>
          <p:nvPr/>
        </p:nvSpPr>
        <p:spPr>
          <a:xfrm>
            <a:off x="963039" y="1355303"/>
            <a:ext cx="8370277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  <a:ea typeface="+mj-ea"/>
                <a:cs typeface="+mj-cs"/>
              </a:rPr>
              <a:t>Dataset</a:t>
            </a:r>
            <a:r>
              <a:rPr lang="en-US" sz="3200" b="1" dirty="0">
                <a:ln w="12700">
                  <a:solidFill>
                    <a:srgbClr val="0070C0"/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</a:t>
            </a:r>
            <a:endParaRPr lang="en-US" sz="1100" b="1" dirty="0">
              <a:ln w="12700">
                <a:solidFill>
                  <a:srgbClr val="0070C0"/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449473-28FB-0233-0983-99057E48F2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8EECEDA-835D-54CD-3E63-266D6F3AC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29</a:t>
            </a:fld>
            <a:endParaRPr lang="ar-SA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C539E64-8890-FB8A-C12B-B08EFC7EF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5A3A4-5CB5-4765-BADE-8DE9C0961864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26C481-6447-CD7A-7835-3F1329D8A681}"/>
              </a:ext>
            </a:extLst>
          </p:cNvPr>
          <p:cNvSpPr txBox="1"/>
          <p:nvPr/>
        </p:nvSpPr>
        <p:spPr>
          <a:xfrm>
            <a:off x="1235413" y="3268494"/>
            <a:ext cx="7509753" cy="1245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25763F-AA7F-F6F1-A149-7D34B235E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1" y="2604972"/>
            <a:ext cx="11012437" cy="16480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14E6AA-8E63-CE0E-DDBB-FDEDC31F2B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904"/>
          <a:stretch>
            <a:fillRect/>
          </a:stretch>
        </p:blipFill>
        <p:spPr>
          <a:xfrm>
            <a:off x="1182053" y="4937489"/>
            <a:ext cx="7954485" cy="7273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818144-0393-E21A-9344-2766ACAB718E}"/>
              </a:ext>
            </a:extLst>
          </p:cNvPr>
          <p:cNvSpPr txBox="1"/>
          <p:nvPr/>
        </p:nvSpPr>
        <p:spPr>
          <a:xfrm>
            <a:off x="1015078" y="4262054"/>
            <a:ext cx="8370277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  <a:ea typeface="+mj-ea"/>
                <a:cs typeface="+mj-cs"/>
              </a:rPr>
              <a:t>Description</a:t>
            </a:r>
            <a:r>
              <a:rPr lang="en-US" sz="36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b="1" dirty="0">
                <a:ln w="12700">
                  <a:solidFill>
                    <a:srgbClr val="0070C0"/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</a:t>
            </a:r>
            <a:endParaRPr lang="en-US" sz="1100" b="1" dirty="0">
              <a:ln w="12700">
                <a:solidFill>
                  <a:srgbClr val="0070C0"/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8323888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78755-88DA-1557-892E-06B82301A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9FA621-D652-4426-EAB3-922655E48AAB}"/>
              </a:ext>
            </a:extLst>
          </p:cNvPr>
          <p:cNvSpPr txBox="1"/>
          <p:nvPr/>
        </p:nvSpPr>
        <p:spPr>
          <a:xfrm>
            <a:off x="0" y="2505670"/>
            <a:ext cx="12192000" cy="186204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15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</a:rPr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85991-7526-261A-B6CC-C395FD36FB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5A52F-05A4-A612-4282-A7E922B85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30</a:t>
            </a:fld>
            <a:endParaRPr lang="ar-SA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1149A8-633B-7A9B-CB72-7A68BC234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6579-D349-4562-A85D-B49DFFBF2256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2" name="مربع نص 1">
            <a:extLst>
              <a:ext uri="{FF2B5EF4-FFF2-40B4-BE49-F238E27FC236}">
                <a16:creationId xmlns:a16="http://schemas.microsoft.com/office/drawing/2014/main" id="{D01D6F9A-46B3-B925-0E1E-1701AA63A29D}"/>
              </a:ext>
            </a:extLst>
          </p:cNvPr>
          <p:cNvSpPr txBox="1"/>
          <p:nvPr/>
        </p:nvSpPr>
        <p:spPr>
          <a:xfrm>
            <a:off x="4589584" y="4982306"/>
            <a:ext cx="339383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SA" sz="1600" dirty="0"/>
          </a:p>
        </p:txBody>
      </p:sp>
    </p:spTree>
    <p:extLst>
      <p:ext uri="{BB962C8B-B14F-4D97-AF65-F5344CB8AC3E}">
        <p14:creationId xmlns:p14="http://schemas.microsoft.com/office/powerpoint/2010/main" val="898522157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E8104-50E4-6677-3FFF-6E34199CA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BA90A3-41CF-525F-AE36-F520299DD066}"/>
              </a:ext>
            </a:extLst>
          </p:cNvPr>
          <p:cNvSpPr txBox="1"/>
          <p:nvPr/>
        </p:nvSpPr>
        <p:spPr>
          <a:xfrm>
            <a:off x="0" y="275426"/>
            <a:ext cx="1219200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</a:rPr>
              <a:t>Load disaggregation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4C67D4-2F57-8B25-51A2-EA19C337F1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1F44C-90C3-00E2-6A46-D69B4C680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31</a:t>
            </a:fld>
            <a:endParaRPr lang="ar-SA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B5B4E0-D6B4-8542-98D5-53D605674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6579-D349-4562-A85D-B49DFFBF2256}" type="uaqdatetime1">
              <a:rPr lang="ar-SA" smtClean="0"/>
              <a:t>10/08/1447</a:t>
            </a:fld>
            <a:endParaRPr lang="ar-SA" dirty="0"/>
          </a:p>
        </p:txBody>
      </p:sp>
      <p:pic>
        <p:nvPicPr>
          <p:cNvPr id="3" name="Picture 2" descr="A graph with a line graph&#10;&#10;AI-generated content may be incorrect.">
            <a:extLst>
              <a:ext uri="{FF2B5EF4-FFF2-40B4-BE49-F238E27FC236}">
                <a16:creationId xmlns:a16="http://schemas.microsoft.com/office/drawing/2014/main" id="{6BD0345B-7C66-5134-CA3E-B9BFB4401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331" y="4407044"/>
            <a:ext cx="6094669" cy="2092349"/>
          </a:xfrm>
          <a:prstGeom prst="rect">
            <a:avLst/>
          </a:prstGeom>
        </p:spPr>
      </p:pic>
      <p:pic>
        <p:nvPicPr>
          <p:cNvPr id="9" name="Picture 8" descr="A screen shot of a graph&#10;&#10;AI-generated content may be incorrect.">
            <a:extLst>
              <a:ext uri="{FF2B5EF4-FFF2-40B4-BE49-F238E27FC236}">
                <a16:creationId xmlns:a16="http://schemas.microsoft.com/office/drawing/2014/main" id="{BC803D26-4946-A1D4-9D77-24241C94D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30507"/>
            <a:ext cx="6138799" cy="2111375"/>
          </a:xfrm>
          <a:prstGeom prst="rect">
            <a:avLst/>
          </a:prstGeom>
        </p:spPr>
      </p:pic>
      <p:pic>
        <p:nvPicPr>
          <p:cNvPr id="11" name="Picture 10" descr="A graph showing a number of power lines&#10;&#10;AI-generated content may be incorrect.">
            <a:extLst>
              <a:ext uri="{FF2B5EF4-FFF2-40B4-BE49-F238E27FC236}">
                <a16:creationId xmlns:a16="http://schemas.microsoft.com/office/drawing/2014/main" id="{46A43CB5-2174-84AF-5F03-E641722276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7468" y="1124391"/>
            <a:ext cx="4697063" cy="322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209403"/>
      </p:ext>
    </p:extLst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759D9-91AC-07F5-24B5-63077F4AD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9497FC-E880-99B5-26D4-F378D8505422}"/>
              </a:ext>
            </a:extLst>
          </p:cNvPr>
          <p:cNvSpPr txBox="1"/>
          <p:nvPr/>
        </p:nvSpPr>
        <p:spPr>
          <a:xfrm>
            <a:off x="0" y="275426"/>
            <a:ext cx="1219200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</a:rPr>
              <a:t>Load forecasting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C346ED-D1B5-C0DC-1BB8-3E1F004B2B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52710-35EE-CBF1-CFE6-FA250339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32</a:t>
            </a:fld>
            <a:endParaRPr lang="ar-SA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1765D5-0649-25D9-CCDE-3D1B3EB67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6579-D349-4562-A85D-B49DFFBF2256}" type="uaqdatetime1">
              <a:rPr lang="ar-SA" smtClean="0"/>
              <a:t>10/08/1447</a:t>
            </a:fld>
            <a:endParaRPr lang="ar-SA" dirty="0"/>
          </a:p>
        </p:txBody>
      </p:sp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011213A8-5CCD-3E17-9DB5-B7A6A3832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800" y="1286031"/>
            <a:ext cx="9831172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919162"/>
      </p:ext>
    </p:extLst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8EE0F-11E8-1003-F0EE-B49948F4D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E28AF3-981C-91C4-1A36-BEACDBC28DA9}"/>
              </a:ext>
            </a:extLst>
          </p:cNvPr>
          <p:cNvSpPr txBox="1"/>
          <p:nvPr/>
        </p:nvSpPr>
        <p:spPr>
          <a:xfrm>
            <a:off x="0" y="275426"/>
            <a:ext cx="1219200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</a:rPr>
              <a:t>Theft detection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366D7-D866-09E4-6F70-8927F62389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CEB57-45D9-0FAE-8E6E-3E8138EE9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33</a:t>
            </a:fld>
            <a:endParaRPr lang="ar-SA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78292F-94C5-27F3-BDE1-013545B72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6579-D349-4562-A85D-B49DFFBF2256}" type="uaqdatetime1">
              <a:rPr lang="ar-SA" smtClean="0"/>
              <a:t>10/08/1447</a:t>
            </a:fld>
            <a:endParaRPr lang="ar-SA" dirty="0"/>
          </a:p>
        </p:txBody>
      </p:sp>
      <p:pic>
        <p:nvPicPr>
          <p:cNvPr id="12" name="Picture 11" descr="A graph with blue lines&#10;&#10;AI-generated content may be incorrect.">
            <a:extLst>
              <a:ext uri="{FF2B5EF4-FFF2-40B4-BE49-F238E27FC236}">
                <a16:creationId xmlns:a16="http://schemas.microsoft.com/office/drawing/2014/main" id="{6F908B35-A3C5-886C-C830-12511190D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906" y="2344424"/>
            <a:ext cx="5906166" cy="38430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2F5712B-14A9-1EE2-8592-EC68F4B759FE}"/>
              </a:ext>
            </a:extLst>
          </p:cNvPr>
          <p:cNvSpPr txBox="1"/>
          <p:nvPr/>
        </p:nvSpPr>
        <p:spPr>
          <a:xfrm>
            <a:off x="518160" y="1428383"/>
            <a:ext cx="5781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We draw the CUSUM of normal house then we added a theft equal to 1 appliance, 2 appliance, and a house.</a:t>
            </a:r>
          </a:p>
        </p:txBody>
      </p:sp>
    </p:spTree>
    <p:extLst>
      <p:ext uri="{BB962C8B-B14F-4D97-AF65-F5344CB8AC3E}">
        <p14:creationId xmlns:p14="http://schemas.microsoft.com/office/powerpoint/2010/main" val="759048747"/>
      </p:ext>
    </p:extLst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2DA81-765B-5DCB-08AE-51B68B0D8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F3A341-A84F-27B4-CBBD-D58653AD2C2B}"/>
              </a:ext>
            </a:extLst>
          </p:cNvPr>
          <p:cNvSpPr txBox="1"/>
          <p:nvPr/>
        </p:nvSpPr>
        <p:spPr>
          <a:xfrm>
            <a:off x="0" y="275426"/>
            <a:ext cx="1219200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</a:rPr>
              <a:t>Theft detection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656CE4-0896-A3DA-7B35-FEE0B6AD94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154C9-057C-FA15-2A55-47C325AEC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34</a:t>
            </a:fld>
            <a:endParaRPr lang="ar-SA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8E205F-612F-41B2-4FA6-F5A254F69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6579-D349-4562-A85D-B49DFFBF2256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0650E0-2945-CA9E-1E95-5CC72D7283F1}"/>
              </a:ext>
            </a:extLst>
          </p:cNvPr>
          <p:cNvSpPr txBox="1"/>
          <p:nvPr/>
        </p:nvSpPr>
        <p:spPr>
          <a:xfrm>
            <a:off x="477520" y="1336943"/>
            <a:ext cx="3779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Theft equal to 1 Appliance scenario:</a:t>
            </a:r>
          </a:p>
        </p:txBody>
      </p:sp>
      <p:pic>
        <p:nvPicPr>
          <p:cNvPr id="17" name="Picture 16" descr="A graph of a blue line&#10;&#10;AI-generated content may be incorrect.">
            <a:extLst>
              <a:ext uri="{FF2B5EF4-FFF2-40B4-BE49-F238E27FC236}">
                <a16:creationId xmlns:a16="http://schemas.microsoft.com/office/drawing/2014/main" id="{E03F71D6-D4C3-2711-8CF3-B12ABD11F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21" y="2165039"/>
            <a:ext cx="4547078" cy="2955601"/>
          </a:xfrm>
          <a:prstGeom prst="rect">
            <a:avLst/>
          </a:prstGeom>
        </p:spPr>
      </p:pic>
      <p:pic>
        <p:nvPicPr>
          <p:cNvPr id="19" name="Picture 18" descr="A graph showing a line graph&#10;&#10;AI-generated content may be incorrect.">
            <a:extLst>
              <a:ext uri="{FF2B5EF4-FFF2-40B4-BE49-F238E27FC236}">
                <a16:creationId xmlns:a16="http://schemas.microsoft.com/office/drawing/2014/main" id="{CDDFED25-11E6-1234-C1B0-794399ACC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2952" y="2148433"/>
            <a:ext cx="4449608" cy="288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436581"/>
      </p:ext>
    </p:extLst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2800A-5E05-2884-57CC-06E42368A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C87DEE-46B1-AA5A-A861-D67E6564616E}"/>
              </a:ext>
            </a:extLst>
          </p:cNvPr>
          <p:cNvSpPr txBox="1"/>
          <p:nvPr/>
        </p:nvSpPr>
        <p:spPr>
          <a:xfrm>
            <a:off x="0" y="275426"/>
            <a:ext cx="1219200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</a:rPr>
              <a:t>Theft detection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90CD6E-1234-2D50-AF9F-F95C1C574C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64435-9A0B-3A4D-BEA0-789ADD053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35</a:t>
            </a:fld>
            <a:endParaRPr lang="ar-SA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D65D47-F02E-46B4-F02F-0DAE9BD21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6579-D349-4562-A85D-B49DFFBF2256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66F68D-45D7-6455-B7F3-51AE48CF2C73}"/>
              </a:ext>
            </a:extLst>
          </p:cNvPr>
          <p:cNvSpPr txBox="1"/>
          <p:nvPr/>
        </p:nvSpPr>
        <p:spPr>
          <a:xfrm>
            <a:off x="477520" y="1336943"/>
            <a:ext cx="3779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Theft equal to 2 Appliance scenario:</a:t>
            </a:r>
          </a:p>
        </p:txBody>
      </p:sp>
      <p:pic>
        <p:nvPicPr>
          <p:cNvPr id="3" name="Picture 2" descr="A graph showing a line graph&#10;&#10;AI-generated content may be incorrect.">
            <a:extLst>
              <a:ext uri="{FF2B5EF4-FFF2-40B4-BE49-F238E27FC236}">
                <a16:creationId xmlns:a16="http://schemas.microsoft.com/office/drawing/2014/main" id="{FB49BAD9-E5F4-424F-4F79-7DED2645E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428" y="1960880"/>
            <a:ext cx="5933092" cy="353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8864"/>
      </p:ext>
    </p:extLst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CB4ED-8E26-4162-6781-9553624A6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E1C733-EDAD-7F85-BABD-0C387341A39D}"/>
              </a:ext>
            </a:extLst>
          </p:cNvPr>
          <p:cNvSpPr txBox="1"/>
          <p:nvPr/>
        </p:nvSpPr>
        <p:spPr>
          <a:xfrm>
            <a:off x="0" y="275426"/>
            <a:ext cx="1219200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</a:rPr>
              <a:t>Theft detection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630F33-2768-E498-6524-CE72FBE1F3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BEB82-F64F-C041-AC47-F81E184B5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36</a:t>
            </a:fld>
            <a:endParaRPr lang="ar-SA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7FB45D-7D3E-A517-4DA9-B9B973FBD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6579-D349-4562-A85D-B49DFFBF2256}" type="uaqdatetime1">
              <a:rPr lang="ar-SA" smtClean="0"/>
              <a:t>10/08/1447</a:t>
            </a:fld>
            <a:endParaRPr lang="ar-SA" dirty="0"/>
          </a:p>
        </p:txBody>
      </p:sp>
      <p:pic>
        <p:nvPicPr>
          <p:cNvPr id="8" name="Picture 7" descr="A graph with a line&#10;&#10;AI-generated content may be incorrect.">
            <a:extLst>
              <a:ext uri="{FF2B5EF4-FFF2-40B4-BE49-F238E27FC236}">
                <a16:creationId xmlns:a16="http://schemas.microsoft.com/office/drawing/2014/main" id="{07424755-1EC3-9932-3C1F-604087B2C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2214" y="1604801"/>
            <a:ext cx="5737466" cy="37245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AA4C78-2208-4137-23D6-A15EC616E385}"/>
              </a:ext>
            </a:extLst>
          </p:cNvPr>
          <p:cNvSpPr txBox="1"/>
          <p:nvPr/>
        </p:nvSpPr>
        <p:spPr>
          <a:xfrm>
            <a:off x="477520" y="1336943"/>
            <a:ext cx="3779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Theft equal to our house scenario:</a:t>
            </a:r>
          </a:p>
        </p:txBody>
      </p:sp>
    </p:spTree>
    <p:extLst>
      <p:ext uri="{BB962C8B-B14F-4D97-AF65-F5344CB8AC3E}">
        <p14:creationId xmlns:p14="http://schemas.microsoft.com/office/powerpoint/2010/main" val="2569375009"/>
      </p:ext>
    </p:extLst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4478755-88DA-1557-892E-06B82301A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9FA621-D652-4426-EAB3-922655E48AAB}"/>
              </a:ext>
            </a:extLst>
          </p:cNvPr>
          <p:cNvSpPr txBox="1"/>
          <p:nvPr/>
        </p:nvSpPr>
        <p:spPr>
          <a:xfrm>
            <a:off x="0" y="2129750"/>
            <a:ext cx="12192000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9600" b="1" dirty="0">
                <a:ln w="12700">
                  <a:solidFill>
                    <a:schemeClr val="bg1"/>
                  </a:solidFill>
                  <a:prstDash val="solid"/>
                </a:ln>
                <a:solidFill>
                  <a:srgbClr val="00926C"/>
                </a:solidFill>
                <a:latin typeface="+mj-lt"/>
              </a:rPr>
              <a:t>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85991-7526-261A-B6CC-C395FD36FB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5A52F-05A4-A612-4282-A7E922B85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37</a:t>
            </a:fld>
            <a:endParaRPr lang="ar-SA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1149A8-633B-7A9B-CB72-7A68BC234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6579-D349-4562-A85D-B49DFFBF2256}" type="uaqdatetime1">
              <a:rPr lang="ar-SA" smtClean="0"/>
              <a:t>10/08/1447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771244061"/>
      </p:ext>
    </p:extLst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BBD5F31-B426-5E5F-78A6-3CF2D8043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EFEF6-F7CC-1DAD-56E6-0B08DE51E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485" y="175143"/>
            <a:ext cx="9726014" cy="1048746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</a:rPr>
              <a:t>Prototype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6AA886-8553-C169-6BB3-B178104BEE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9C49476-AC72-54B4-8370-AB22019CF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38</a:t>
            </a:fld>
            <a:endParaRPr lang="ar-SA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92CEBDE-A2A9-F320-3D28-0EDC8885D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5A3A4-5CB5-4765-BADE-8DE9C0961864}" type="uaqdatetime1">
              <a:rPr lang="ar-SA" smtClean="0"/>
              <a:t>10/08/1447</a:t>
            </a:fld>
            <a:endParaRPr lang="ar-S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B8DA80-AB42-CC09-B006-A6D0CB547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490" y="2997733"/>
            <a:ext cx="5096586" cy="32675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784494-C85F-4D10-1428-BE037E83943A}"/>
              </a:ext>
            </a:extLst>
          </p:cNvPr>
          <p:cNvSpPr txBox="1"/>
          <p:nvPr/>
        </p:nvSpPr>
        <p:spPr>
          <a:xfrm>
            <a:off x="1094334" y="1560675"/>
            <a:ext cx="8325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For the prototype we first looked up for the traditional appliances on a Saudi House to do a real simulation and collecting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CB2626-7E07-4E84-FF7B-C435F26F14C2}"/>
              </a:ext>
            </a:extLst>
          </p:cNvPr>
          <p:cNvSpPr txBox="1"/>
          <p:nvPr/>
        </p:nvSpPr>
        <p:spPr>
          <a:xfrm>
            <a:off x="1482472" y="2544137"/>
            <a:ext cx="37564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List of the appliances:</a:t>
            </a:r>
          </a:p>
        </p:txBody>
      </p:sp>
    </p:spTree>
    <p:extLst>
      <p:ext uri="{BB962C8B-B14F-4D97-AF65-F5344CB8AC3E}">
        <p14:creationId xmlns:p14="http://schemas.microsoft.com/office/powerpoint/2010/main" val="3459865153"/>
      </p:ext>
    </p:extLst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F45D9BE-648F-98FE-59D0-516DE185B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78439-0950-328F-01D9-19B570ABC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485" y="175143"/>
            <a:ext cx="9726014" cy="1048746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</a:rPr>
              <a:t>Prototype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2CB44F-258E-16AA-7D23-E5623E1219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FE79993-1711-9107-F0F9-219472C57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39</a:t>
            </a:fld>
            <a:endParaRPr lang="ar-SA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59855EB8-2FDA-72C0-3452-6E0CDE0C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5A3A4-5CB5-4765-BADE-8DE9C0961864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C90F11-6696-2DCC-A8B2-8F36C60992F9}"/>
              </a:ext>
            </a:extLst>
          </p:cNvPr>
          <p:cNvSpPr txBox="1"/>
          <p:nvPr/>
        </p:nvSpPr>
        <p:spPr>
          <a:xfrm>
            <a:off x="1094335" y="1560675"/>
            <a:ext cx="7426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We setup the environment with the following: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D79B9A-23BD-36F0-B4E4-2DEFB217FCA1}"/>
              </a:ext>
            </a:extLst>
          </p:cNvPr>
          <p:cNvSpPr txBox="1"/>
          <p:nvPr/>
        </p:nvSpPr>
        <p:spPr>
          <a:xfrm>
            <a:off x="1482472" y="2544137"/>
            <a:ext cx="37564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+mj-lt"/>
              </a:rPr>
              <a:t>Appliances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b="1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+mj-lt"/>
              </a:rPr>
              <a:t>Sub-meters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b="1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+mj-lt"/>
              </a:rPr>
              <a:t>Computer</a:t>
            </a:r>
          </a:p>
        </p:txBody>
      </p:sp>
    </p:spTree>
    <p:extLst>
      <p:ext uri="{BB962C8B-B14F-4D97-AF65-F5344CB8AC3E}">
        <p14:creationId xmlns:p14="http://schemas.microsoft.com/office/powerpoint/2010/main" val="1229120801"/>
      </p:ext>
    </p:extLst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C7E6B84-31AA-C525-3987-5B9604F99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AE548-582E-C52A-E109-9B1C737E7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485" y="175143"/>
            <a:ext cx="9726014" cy="1048746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</a:rPr>
              <a:t>Prototype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829A08-9A89-32FD-11FE-B0E6D87390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2E12E5-2174-982F-7BBE-DD4B97DF4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40</a:t>
            </a:fld>
            <a:endParaRPr lang="ar-SA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5DFFA444-BDCD-C478-0B86-251BAD36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5A3A4-5CB5-4765-BADE-8DE9C0961864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79A203-353B-2EC7-D646-A3988BDAD4A3}"/>
              </a:ext>
            </a:extLst>
          </p:cNvPr>
          <p:cNvSpPr txBox="1"/>
          <p:nvPr/>
        </p:nvSpPr>
        <p:spPr>
          <a:xfrm>
            <a:off x="1094335" y="1560675"/>
            <a:ext cx="7426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We setup the environment with the following: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EB8CDE-C2C4-7D8A-F203-1FAA32E0032D}"/>
              </a:ext>
            </a:extLst>
          </p:cNvPr>
          <p:cNvSpPr txBox="1"/>
          <p:nvPr/>
        </p:nvSpPr>
        <p:spPr>
          <a:xfrm>
            <a:off x="1482472" y="2544137"/>
            <a:ext cx="40953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+mj-lt"/>
              </a:rPr>
              <a:t>Sub-meters: we used </a:t>
            </a:r>
            <a:r>
              <a:rPr lang="en-US" sz="2400" b="1" dirty="0" err="1">
                <a:latin typeface="+mj-lt"/>
              </a:rPr>
              <a:t>Orangepi</a:t>
            </a:r>
            <a:r>
              <a:rPr lang="en-US" sz="2400" b="1" dirty="0">
                <a:latin typeface="+mj-lt"/>
              </a:rPr>
              <a:t>, Esp32, and a circuit breaker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02250667"/>
      </p:ext>
    </p:extLst>
  </p:cSld>
  <p:clrMapOvr>
    <a:masterClrMapping/>
  </p:clrMapOvr>
  <p:transition spd="slow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7A41260-D539-BA32-7D28-F8F7E14D5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F5CDD-FBD7-E32F-0BED-0F28ABFA3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485" y="175143"/>
            <a:ext cx="9726014" cy="1048746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</a:rPr>
              <a:t>Prototype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585E54-6694-D611-3882-8D817F2BA73E}"/>
              </a:ext>
            </a:extLst>
          </p:cNvPr>
          <p:cNvSpPr txBox="1"/>
          <p:nvPr/>
        </p:nvSpPr>
        <p:spPr>
          <a:xfrm>
            <a:off x="443753" y="1355303"/>
            <a:ext cx="9695329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400" dirty="0">
                <a:latin typeface="+mj-lt"/>
              </a:rPr>
              <a:t>Prototype : </a:t>
            </a:r>
          </a:p>
          <a:p>
            <a:r>
              <a:rPr lang="en-US" sz="2400" dirty="0">
                <a:latin typeface="+mj-lt"/>
              </a:rPr>
              <a:t>We will use </a:t>
            </a:r>
            <a:r>
              <a:rPr lang="en-US" sz="2400" dirty="0">
                <a:solidFill>
                  <a:srgbClr val="0070C0"/>
                </a:solidFill>
                <a:latin typeface="+mj-lt"/>
              </a:rPr>
              <a:t>CHINT’s</a:t>
            </a:r>
            <a:r>
              <a:rPr lang="en-US" sz="2400" dirty="0">
                <a:latin typeface="+mj-lt"/>
              </a:rPr>
              <a:t> smart meter </a:t>
            </a:r>
            <a:endParaRPr lang="en-US" sz="2400" dirty="0">
              <a:latin typeface="+mj-lt"/>
              <a:cs typeface="+mj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64D99D-4DDA-02F1-9EBF-14FCF2698D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4C7EAEC-6175-7887-BE6A-C81373943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41</a:t>
            </a:fld>
            <a:endParaRPr lang="ar-SA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1834AE19-1BC9-76CF-B7FE-F92E1D47E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5A3A4-5CB5-4765-BADE-8DE9C0961864}" type="uaqdatetime1">
              <a:rPr lang="ar-SA" smtClean="0"/>
              <a:t>10/08/1447</a:t>
            </a:fld>
            <a:endParaRPr lang="ar-S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DCAD6-4580-4CB7-E980-B523D14F33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511" y="1786789"/>
            <a:ext cx="3785546" cy="541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115114"/>
      </p:ext>
    </p:extLst>
  </p:cSld>
  <p:clrMapOvr>
    <a:masterClrMapping/>
  </p:clrMapOvr>
  <p:transition spd="slow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8B97266-1C1F-EFAB-3145-D03D9316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0E0D-62F3-E5E8-5603-9BE8A9FB9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485" y="175143"/>
            <a:ext cx="9726014" cy="1048746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</a:rPr>
              <a:t>Prototype-Survey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1DB49A-AFC7-4CA7-845B-96AD9F6941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310729A-0CDC-7B58-DAE2-BA5CE52B0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42</a:t>
            </a:fld>
            <a:endParaRPr lang="ar-SA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A5B15EB-7BD2-555A-05B8-7C6904FB1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5A3A4-5CB5-4765-BADE-8DE9C0961864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597F20-956F-D386-5AB3-4D8160C32106}"/>
              </a:ext>
            </a:extLst>
          </p:cNvPr>
          <p:cNvSpPr txBox="1"/>
          <p:nvPr/>
        </p:nvSpPr>
        <p:spPr>
          <a:xfrm>
            <a:off x="1094335" y="1560675"/>
            <a:ext cx="7426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Creating a Survey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217BE3-A7F5-C56C-2989-701A65D02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799" y="1727150"/>
            <a:ext cx="3867690" cy="38295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F759DD-8620-6327-C344-FB44767B9FFD}"/>
              </a:ext>
            </a:extLst>
          </p:cNvPr>
          <p:cNvSpPr txBox="1"/>
          <p:nvPr/>
        </p:nvSpPr>
        <p:spPr>
          <a:xfrm>
            <a:off x="1161535" y="2545492"/>
            <a:ext cx="37193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We did a survey to distinguish the normal working hours of each of our devices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75CE8E-C8DB-8354-AB68-C831C4E790F1}"/>
              </a:ext>
            </a:extLst>
          </p:cNvPr>
          <p:cNvSpPr txBox="1"/>
          <p:nvPr/>
        </p:nvSpPr>
        <p:spPr>
          <a:xfrm>
            <a:off x="6005384" y="5634681"/>
            <a:ext cx="3336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Scan the code</a:t>
            </a:r>
          </a:p>
        </p:txBody>
      </p:sp>
    </p:spTree>
    <p:extLst>
      <p:ext uri="{BB962C8B-B14F-4D97-AF65-F5344CB8AC3E}">
        <p14:creationId xmlns:p14="http://schemas.microsoft.com/office/powerpoint/2010/main" val="2126754876"/>
      </p:ext>
    </p:extLst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E7C1EDC-A56D-3B5A-6CC2-8867D6361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4E666B-5426-421D-710D-0B240575BECF}"/>
              </a:ext>
            </a:extLst>
          </p:cNvPr>
          <p:cNvSpPr txBox="1"/>
          <p:nvPr/>
        </p:nvSpPr>
        <p:spPr>
          <a:xfrm>
            <a:off x="0" y="2505670"/>
            <a:ext cx="12192000" cy="144655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88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</a:rPr>
              <a:t>Comparison</a:t>
            </a:r>
            <a:endParaRPr lang="en-US" sz="8000" b="1" dirty="0">
              <a:ln w="12700">
                <a:solidFill>
                  <a:srgbClr val="0070C0"/>
                </a:solidFill>
                <a:prstDash val="solid"/>
              </a:ln>
              <a:solidFill>
                <a:srgbClr val="00926C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828EAA-7A90-4DEA-AF51-783119D8A4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E1E4E-C0CE-327C-CFD0-B765400B7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43</a:t>
            </a:fld>
            <a:endParaRPr lang="ar-SA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ECB212-C739-10CF-2159-8D2B7517B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6579-D349-4562-A85D-B49DFFBF2256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2" name="مربع نص 1">
            <a:extLst>
              <a:ext uri="{FF2B5EF4-FFF2-40B4-BE49-F238E27FC236}">
                <a16:creationId xmlns:a16="http://schemas.microsoft.com/office/drawing/2014/main" id="{C4BC98A3-0CA6-E72C-752F-525D470B82B4}"/>
              </a:ext>
            </a:extLst>
          </p:cNvPr>
          <p:cNvSpPr txBox="1"/>
          <p:nvPr/>
        </p:nvSpPr>
        <p:spPr>
          <a:xfrm>
            <a:off x="4589584" y="4982306"/>
            <a:ext cx="339383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SA" sz="1600" dirty="0"/>
          </a:p>
        </p:txBody>
      </p:sp>
    </p:spTree>
    <p:extLst>
      <p:ext uri="{BB962C8B-B14F-4D97-AF65-F5344CB8AC3E}">
        <p14:creationId xmlns:p14="http://schemas.microsoft.com/office/powerpoint/2010/main" val="658515327"/>
      </p:ext>
    </p:extLst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BBD5F31-B426-5E5F-78A6-3CF2D8043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EFEF6-F7CC-1DAD-56E6-0B08DE51E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485" y="175143"/>
            <a:ext cx="9726014" cy="1048746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</a:rPr>
              <a:t>Comparison</a:t>
            </a:r>
            <a:endParaRPr lang="ar-SA" dirty="0">
              <a:ln w="12700">
                <a:solidFill>
                  <a:schemeClr val="tx1"/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22027C-2DE1-E535-F35E-D7EECE8D6079}"/>
              </a:ext>
            </a:extLst>
          </p:cNvPr>
          <p:cNvSpPr txBox="1"/>
          <p:nvPr/>
        </p:nvSpPr>
        <p:spPr>
          <a:xfrm>
            <a:off x="201039" y="1326306"/>
            <a:ext cx="8370277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3200" dirty="0">
                <a:latin typeface="+mj-lt"/>
                <a:cs typeface="+mj-cs"/>
              </a:rPr>
              <a:t>Comparison with current companies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6AA886-8553-C169-6BB3-B178104BEE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9C49476-AC72-54B4-8370-AB22019CF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44</a:t>
            </a:fld>
            <a:endParaRPr lang="ar-SA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92CEBDE-A2A9-F320-3D28-0EDC8885D1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69465" y="6305536"/>
            <a:ext cx="3273552" cy="365125"/>
          </a:xfrm>
        </p:spPr>
        <p:txBody>
          <a:bodyPr/>
          <a:lstStyle/>
          <a:p>
            <a:fld id="{2525A3A4-5CB5-4765-BADE-8DE9C0961864}" type="uaqdatetime1">
              <a:rPr lang="ar-SA" smtClean="0"/>
              <a:t>10/08/1447</a:t>
            </a:fld>
            <a:endParaRPr lang="ar-SA" dirty="0"/>
          </a:p>
        </p:txBody>
      </p:sp>
      <p:graphicFrame>
        <p:nvGraphicFramePr>
          <p:cNvPr id="3" name="جدول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119121"/>
              </p:ext>
            </p:extLst>
          </p:nvPr>
        </p:nvGraphicFramePr>
        <p:xfrm>
          <a:off x="201039" y="2165768"/>
          <a:ext cx="11558015" cy="3574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1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1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1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16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16">
                <a:tc>
                  <a:txBody>
                    <a:bodyPr/>
                    <a:lstStyle/>
                    <a:p>
                      <a:pPr algn="ctr" rtl="0"/>
                      <a:r>
                        <a:rPr lang="en-US" b="0" dirty="0">
                          <a:latin typeface="+mj-lt"/>
                        </a:rPr>
                        <a:t>Company</a:t>
                      </a:r>
                      <a:endParaRPr lang="ar-SA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b="0" dirty="0">
                          <a:latin typeface="+mj-lt"/>
                        </a:rPr>
                        <a:t>Load Disaggregation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b="0" dirty="0">
                          <a:latin typeface="+mj-lt"/>
                        </a:rPr>
                        <a:t>Load Forecasting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b="0" dirty="0">
                          <a:latin typeface="+mj-lt"/>
                        </a:rPr>
                        <a:t>Check-up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b="0" dirty="0">
                          <a:latin typeface="+mj-lt"/>
                        </a:rPr>
                        <a:t>Bidirectional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654"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Ohmconnect</a:t>
                      </a:r>
                      <a:endParaRPr lang="ar-SA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b="0" dirty="0">
                          <a:latin typeface="+mj-lt"/>
                        </a:rPr>
                        <a:t>Yes</a:t>
                      </a:r>
                      <a:endParaRPr lang="ar-SA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No</a:t>
                      </a:r>
                      <a:endParaRPr lang="ar-SA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No</a:t>
                      </a:r>
                      <a:endParaRPr lang="ar-SA" b="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654">
                <a:tc>
                  <a:txBody>
                    <a:bodyPr/>
                    <a:lstStyle/>
                    <a:p>
                      <a:pPr algn="ctr" rtl="0"/>
                      <a:r>
                        <a:rPr lang="en-US" b="0" dirty="0">
                          <a:latin typeface="+mj-lt"/>
                        </a:rPr>
                        <a:t>Enetics</a:t>
                      </a:r>
                      <a:endParaRPr lang="ar-SA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b="0" dirty="0">
                          <a:latin typeface="+mj-lt"/>
                        </a:rPr>
                        <a:t>NO</a:t>
                      </a:r>
                      <a:endParaRPr lang="ar-SA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b="0" dirty="0">
                          <a:latin typeface="+mj-lt"/>
                        </a:rPr>
                        <a:t>Yes (For utility)</a:t>
                      </a:r>
                      <a:endParaRPr lang="ar-SA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b="0" dirty="0">
                          <a:latin typeface="+mj-lt"/>
                        </a:rPr>
                        <a:t>No</a:t>
                      </a:r>
                      <a:endParaRPr lang="ar-SA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b="0" dirty="0">
                          <a:latin typeface="+mj-lt"/>
                        </a:rPr>
                        <a:t>Yes</a:t>
                      </a:r>
                      <a:endParaRPr lang="ar-SA" b="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5654">
                <a:tc>
                  <a:txBody>
                    <a:bodyPr/>
                    <a:lstStyle/>
                    <a:p>
                      <a:pPr algn="ctr" rtl="0"/>
                      <a:r>
                        <a:rPr lang="en-US" b="0" dirty="0">
                          <a:latin typeface="+mj-lt"/>
                        </a:rPr>
                        <a:t>Bidgely</a:t>
                      </a:r>
                      <a:endParaRPr lang="ar-SA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Yes</a:t>
                      </a:r>
                      <a:endParaRPr lang="ar-SA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Yes</a:t>
                      </a:r>
                      <a:endParaRPr lang="ar-SA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Partial (Electrical theft only)</a:t>
                      </a:r>
                      <a:endParaRPr lang="ar-SA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b="0" dirty="0">
                          <a:latin typeface="+mj-lt"/>
                        </a:rPr>
                        <a:t>NO</a:t>
                      </a:r>
                      <a:endParaRPr lang="ar-SA" b="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5654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INTELLI-METER</a:t>
                      </a:r>
                      <a:endParaRPr lang="ar-SA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b="0" dirty="0">
                          <a:latin typeface="+mj-lt"/>
                        </a:rPr>
                        <a:t>Yes</a:t>
                      </a:r>
                      <a:endParaRPr lang="ar-SA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b="0" dirty="0">
                          <a:latin typeface="+mj-lt"/>
                        </a:rPr>
                        <a:t>Yes</a:t>
                      </a:r>
                      <a:endParaRPr lang="ar-SA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b="0" dirty="0">
                          <a:latin typeface="+mj-lt"/>
                        </a:rPr>
                        <a:t>Yes</a:t>
                      </a:r>
                      <a:endParaRPr lang="ar-SA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b="0" dirty="0">
                          <a:latin typeface="+mj-lt"/>
                        </a:rPr>
                        <a:t>Yes</a:t>
                      </a:r>
                      <a:endParaRPr lang="ar-SA" b="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صورة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21" y="6114227"/>
            <a:ext cx="1800114" cy="581836"/>
          </a:xfrm>
          <a:prstGeom prst="rect">
            <a:avLst/>
          </a:prstGeom>
        </p:spPr>
      </p:pic>
      <p:pic>
        <p:nvPicPr>
          <p:cNvPr id="10" name="صورة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1897" y="6114229"/>
            <a:ext cx="1248133" cy="429187"/>
          </a:xfrm>
          <a:prstGeom prst="rect">
            <a:avLst/>
          </a:prstGeom>
        </p:spPr>
      </p:pic>
      <p:pic>
        <p:nvPicPr>
          <p:cNvPr id="14" name="Picture 10">
            <a:extLst>
              <a:ext uri="{FF2B5EF4-FFF2-40B4-BE49-F238E27FC236}">
                <a16:creationId xmlns:a16="http://schemas.microsoft.com/office/drawing/2014/main" id="{D26AA886-8553-C169-6BB3-B178104BEE1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3" t="33636" r="12393" b="31483"/>
          <a:stretch/>
        </p:blipFill>
        <p:spPr>
          <a:xfrm>
            <a:off x="8102620" y="5995032"/>
            <a:ext cx="1537289" cy="636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صورة 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647"/>
          <a:stretch/>
        </p:blipFill>
        <p:spPr>
          <a:xfrm>
            <a:off x="6828196" y="5995032"/>
            <a:ext cx="1274424" cy="636267"/>
          </a:xfrm>
          <a:prstGeom prst="rect">
            <a:avLst/>
          </a:prstGeom>
        </p:spPr>
      </p:pic>
      <p:pic>
        <p:nvPicPr>
          <p:cNvPr id="15" name="صورة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035" y="6114227"/>
            <a:ext cx="1325863" cy="52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15001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0E59A-5E6E-AE2B-83D1-CC82B8E53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057C39-49B6-972A-3726-465B17DE57A3}"/>
              </a:ext>
            </a:extLst>
          </p:cNvPr>
          <p:cNvSpPr txBox="1"/>
          <p:nvPr/>
        </p:nvSpPr>
        <p:spPr>
          <a:xfrm>
            <a:off x="0" y="275426"/>
            <a:ext cx="1219200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</a:rPr>
              <a:t>Conclusion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B783DD-6179-4F46-95B2-3EC2D6A7C2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2D9FD-E7A3-38BC-315C-E3F1D93FF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45</a:t>
            </a:fld>
            <a:endParaRPr lang="ar-SA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F01CCA-AFDB-6AA0-2DEE-187422DC4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6579-D349-4562-A85D-B49DFFBF2256}" type="uaqdatetime1">
              <a:rPr lang="ar-SA" smtClean="0"/>
              <a:t>10/08/1447</a:t>
            </a:fld>
            <a:endParaRPr lang="ar-S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7BF113-3B6E-49F4-4B4F-C5D79DE5FBA7}"/>
              </a:ext>
            </a:extLst>
          </p:cNvPr>
          <p:cNvSpPr txBox="1"/>
          <p:nvPr/>
        </p:nvSpPr>
        <p:spPr>
          <a:xfrm>
            <a:off x="1507524" y="1779373"/>
            <a:ext cx="793303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We moved beyond simple tracking to show users </a:t>
            </a:r>
            <a:r>
              <a:rPr lang="en-US" sz="2000" i="1" dirty="0">
                <a:latin typeface="+mj-lt"/>
              </a:rPr>
              <a:t>how</a:t>
            </a:r>
            <a:r>
              <a:rPr lang="en-US" sz="2000" dirty="0">
                <a:latin typeface="+mj-lt"/>
              </a:rPr>
              <a:t> they use energy, not just </a:t>
            </a:r>
            <a:r>
              <a:rPr lang="en-US" sz="2000" i="1" dirty="0">
                <a:latin typeface="+mj-lt"/>
              </a:rPr>
              <a:t>how much</a:t>
            </a:r>
            <a:r>
              <a:rPr lang="en-US" sz="2000" dirty="0">
                <a:latin typeface="+mj-lt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We taught the system to distinguish between an actual thief and a simple hot day consumption.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We created a software "brain" for analytics and a hardware "nervous system" to capture accurate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This isn't just a prototype; it is a scalable step toward the smart grid envisioned in Vision 2030.</a:t>
            </a:r>
          </a:p>
        </p:txBody>
      </p:sp>
    </p:spTree>
    <p:extLst>
      <p:ext uri="{BB962C8B-B14F-4D97-AF65-F5344CB8AC3E}">
        <p14:creationId xmlns:p14="http://schemas.microsoft.com/office/powerpoint/2010/main" val="1259470339"/>
      </p:ext>
    </p:extLst>
  </p:cSld>
  <p:clrMapOvr>
    <a:masterClrMapping/>
  </p:clrMapOvr>
  <p:transition spd="slow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389638-F6CB-7DEB-72F1-A300F52FFB40}"/>
              </a:ext>
            </a:extLst>
          </p:cNvPr>
          <p:cNvSpPr/>
          <p:nvPr/>
        </p:nvSpPr>
        <p:spPr>
          <a:xfrm>
            <a:off x="1977285" y="2251352"/>
            <a:ext cx="823742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ja-JP" sz="9600" b="1" dirty="0">
                <a:ln w="12700">
                  <a:solidFill>
                    <a:srgbClr val="0070C0"/>
                  </a:solidFill>
                  <a:prstDash val="solid"/>
                </a:ln>
                <a:solidFill>
                  <a:srgbClr val="00926C"/>
                </a:solidFill>
                <a:latin typeface="+mj-lt"/>
                <a:ea typeface="+mj-ea"/>
                <a:cs typeface="+mj-cs"/>
              </a:rPr>
              <a:t>Thanks</a:t>
            </a:r>
            <a:endParaRPr lang="en-US" sz="4800" b="1" dirty="0">
              <a:ln w="12700">
                <a:solidFill>
                  <a:srgbClr val="0070C0"/>
                </a:solidFill>
                <a:prstDash val="solid"/>
              </a:ln>
              <a:solidFill>
                <a:srgbClr val="00926C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B272B5-E03F-5C47-5F83-4CE1E678B0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86" y="0"/>
            <a:ext cx="1652014" cy="16740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9F36C-C9C8-65EA-A629-99CBD6248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18377-5F4B-4766-8081-1F7DDCB934F7}" type="slidenum">
              <a:rPr lang="ar-SA" smtClean="0"/>
              <a:t>46</a:t>
            </a:fld>
            <a:endParaRPr lang="ar-SA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9B1C5-1B7D-2B16-8CE1-BC0C4ED26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6A366-E4C4-4DCA-B943-F9C21334C01A}" type="uaqdatetime1">
              <a:rPr lang="ar-SA" smtClean="0"/>
              <a:t>10/08/1447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098704254"/>
      </p:ext>
    </p:extLst>
  </p:cSld>
  <p:clrMapOvr>
    <a:masterClrMapping/>
  </p:clrMapOvr>
  <p:transition spd="slow"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28054</TotalTime>
  <Words>1248</Words>
  <Application>Microsoft Office PowerPoint</Application>
  <PresentationFormat>Widescreen</PresentationFormat>
  <Paragraphs>337</Paragraphs>
  <Slides>46</Slides>
  <Notes>9</Notes>
  <HiddenSlides>9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Calibri</vt:lpstr>
      <vt:lpstr>Georgia</vt:lpstr>
      <vt:lpstr>Trebuchet MS</vt:lpstr>
      <vt:lpstr>Wingdings</vt:lpstr>
      <vt:lpstr>Wood Type</vt:lpstr>
      <vt:lpstr>INTELLI-METER: A Virtual Prototyping Framework for Smart Metering using Advanced Algorithms</vt:lpstr>
      <vt:lpstr>PowerPoint Presentation</vt:lpstr>
      <vt:lpstr>Check up list</vt:lpstr>
      <vt:lpstr>PowerPoint Presentation</vt:lpstr>
      <vt:lpstr>Introduction </vt:lpstr>
      <vt:lpstr>PowerPoint Presentation</vt:lpstr>
      <vt:lpstr>Problem</vt:lpstr>
      <vt:lpstr>PowerPoint Presentation</vt:lpstr>
      <vt:lpstr>Solutions</vt:lpstr>
      <vt:lpstr>PowerPoint Presentation</vt:lpstr>
      <vt:lpstr>PowerPoint Presentation</vt:lpstr>
      <vt:lpstr>PowerPoint Presentation</vt:lpstr>
      <vt:lpstr>Load Disaggregation</vt:lpstr>
      <vt:lpstr>Load Disaggregation</vt:lpstr>
      <vt:lpstr>PowerPoint Presentation</vt:lpstr>
      <vt:lpstr>Load Disaggregation Algorithm</vt:lpstr>
      <vt:lpstr>Load Disaggregation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Dataset</vt:lpstr>
      <vt:lpstr>Load Disaggregation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Prototype</vt:lpstr>
      <vt:lpstr>Prototype</vt:lpstr>
      <vt:lpstr>Prototype</vt:lpstr>
      <vt:lpstr>Prototype</vt:lpstr>
      <vt:lpstr>Prototype-Survey </vt:lpstr>
      <vt:lpstr>PowerPoint Presentation</vt:lpstr>
      <vt:lpstr>Comparison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Assistant</dc:title>
  <dc:creator>abdullah nihad</dc:creator>
  <cp:lastModifiedBy>Abdulrahman Saeed</cp:lastModifiedBy>
  <cp:revision>114</cp:revision>
  <dcterms:created xsi:type="dcterms:W3CDTF">2023-12-12T18:32:09Z</dcterms:created>
  <dcterms:modified xsi:type="dcterms:W3CDTF">2026-01-29T19:29:29Z</dcterms:modified>
</cp:coreProperties>
</file>