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CHINT technology tracks the lab will work on. MV circuit breakers - the NG7 gas-insulated switchgear and intelligent MV breakers, already supplied to SEC - serve as our protection-coordination reference once verified for 60 Hz and high ambient. Emerging energy-sector technologies cover CHINT's one-cloud-two-networks direction: smart grids, EIoT, PV grid connection and islanding, DC breakers, topology identification. EV technology brings orderly charging for substation peak management, which we can exercise in the microgrid simulation. CloudX at PSAU is a proposed cloud-connected monitoring and AIoT platform; the engagement with the university is stated but not yet formalised in our documents. Across all four, localization means local engineering - integration, 60-Hz verification, assembly, firmware, calibration, training and eventually manufacturing - not just buying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56032" cy="256032"/>
          </a:xfrm>
          <a:prstGeom prst="ellipse">
            <a:avLst/>
          </a:prstGeom>
          <a:solidFill>
            <a:srgbClr val="1F3A5F"/>
          </a:solidFill>
          <a:ln/>
        </p:spPr>
      </p:sp>
      <p:sp>
        <p:nvSpPr>
          <p:cNvPr id="3" name="Text 1"/>
          <p:cNvSpPr txBox="1"/>
          <p:nvPr/>
        </p:nvSpPr>
        <p:spPr>
          <a:xfrm>
            <a:off x="896112" y="411480"/>
            <a:ext cx="7315200" cy="320040"/>
          </a:xfrm>
          <a:prstGeom prst="rect">
            <a:avLst/>
          </a:prstGeom>
          <a:noFill/>
          <a:ln/>
        </p:spPr>
        <p:txBody>
          <a:bodyPr wrap="square" lIns="0" tIns="0" rIns="0" bIns="0" rtlCol="0" anchor="ctr"/>
          <a:lstStyle/>
          <a:p>
            <a:pPr indent="0" marL="0">
              <a:buNone/>
            </a:pPr>
            <a:r>
              <a:rPr lang="en-US" sz="1200" b="1" spc="200" kern="0" dirty="0">
                <a:solidFill>
                  <a:srgbClr val="1F3A5F"/>
                </a:solidFill>
                <a:latin typeface="Calibri" pitchFamily="34" charset="0"/>
                <a:ea typeface="Calibri" pitchFamily="34" charset="-122"/>
                <a:cs typeface="Calibri" pitchFamily="34" charset="-120"/>
              </a:rPr>
              <a:t>CHINT + LOCALIZATION</a:t>
            </a:r>
            <a:endParaRPr lang="en-US" sz="1200" dirty="0"/>
          </a:p>
        </p:txBody>
      </p:sp>
      <p:sp>
        <p:nvSpPr>
          <p:cNvPr id="4" name="Text 2"/>
          <p:cNvSpPr txBox="1"/>
          <p:nvPr/>
        </p:nvSpPr>
        <p:spPr>
          <a:xfrm>
            <a:off x="548640" y="749808"/>
            <a:ext cx="841248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Strategic Technology Pillars</a:t>
            </a:r>
            <a:endParaRPr lang="en-US" sz="3000" dirty="0"/>
          </a:p>
        </p:txBody>
      </p:sp>
      <p:sp>
        <p:nvSpPr>
          <p:cNvPr id="5" name="Shape 3"/>
          <p:cNvSpPr/>
          <p:nvPr/>
        </p:nvSpPr>
        <p:spPr>
          <a:xfrm>
            <a:off x="8869680" y="457200"/>
            <a:ext cx="2743200" cy="329184"/>
          </a:xfrm>
          <a:prstGeom prst="roundRect">
            <a:avLst>
              <a:gd name="adj" fmla="val 50000"/>
            </a:avLst>
          </a:prstGeom>
          <a:solidFill>
            <a:srgbClr val="B26A00"/>
          </a:solidFill>
          <a:ln/>
        </p:spPr>
      </p:sp>
      <p:sp>
        <p:nvSpPr>
          <p:cNvPr id="6" name="Text 4"/>
          <p:cNvSpPr txBox="1"/>
          <p:nvPr/>
        </p:nvSpPr>
        <p:spPr>
          <a:xfrm>
            <a:off x="8869680" y="457200"/>
            <a:ext cx="2743200" cy="32918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Capability verified · lab use proposed</a:t>
            </a:r>
            <a:endParaRPr lang="en-US" sz="850" dirty="0"/>
          </a:p>
        </p:txBody>
      </p:sp>
      <p:sp>
        <p:nvSpPr>
          <p:cNvPr id="7" name="Text 5"/>
          <p:cNvSpPr txBox="1"/>
          <p:nvPr/>
        </p:nvSpPr>
        <p:spPr>
          <a:xfrm>
            <a:off x="548640" y="1572768"/>
            <a:ext cx="11155680" cy="548640"/>
          </a:xfrm>
          <a:prstGeom prst="rect">
            <a:avLst/>
          </a:prstGeom>
          <a:noFill/>
          <a:ln/>
        </p:spPr>
        <p:txBody>
          <a:bodyPr wrap="square" lIns="0" tIns="0" rIns="0" bIns="0" rtlCol="0" anchor="ctr"/>
          <a:lstStyle/>
          <a:p>
            <a:pPr indent="0" marL="0">
              <a:buNone/>
            </a:pPr>
            <a:r>
              <a:rPr lang="en-US" sz="1250" i="1" dirty="0">
                <a:solidFill>
                  <a:srgbClr val="065A82"/>
                </a:solidFill>
                <a:latin typeface="Calibri" pitchFamily="34" charset="0"/>
                <a:ea typeface="Calibri" pitchFamily="34" charset="-122"/>
                <a:cs typeface="Calibri" pitchFamily="34" charset="-120"/>
              </a:rPr>
              <a:t>Four CHINT technology tracks the Future Energy Lab will integrate and verify for Saudi nominal 60-Hz systems - each moving from an existing CHINT capability to a defined lab activity.</a:t>
            </a:r>
            <a:endParaRPr lang="en-US" sz="1250" dirty="0"/>
          </a:p>
        </p:txBody>
      </p:sp>
      <p:sp>
        <p:nvSpPr>
          <p:cNvPr id="8" name="Shape 6"/>
          <p:cNvSpPr/>
          <p:nvPr/>
        </p:nvSpPr>
        <p:spPr>
          <a:xfrm>
            <a:off x="548640" y="2286000"/>
            <a:ext cx="2670048" cy="3703320"/>
          </a:xfrm>
          <a:prstGeom prst="roundRect">
            <a:avLst>
              <a:gd name="adj" fmla="val 1712"/>
            </a:avLst>
          </a:prstGeom>
          <a:solidFill>
            <a:srgbClr val="E9ECF4"/>
          </a:solidFill>
          <a:ln w="15875">
            <a:solidFill>
              <a:srgbClr val="1F3A5F"/>
            </a:solidFill>
            <a:prstDash val="solid"/>
          </a:ln>
        </p:spPr>
      </p:sp>
      <p:sp>
        <p:nvSpPr>
          <p:cNvPr id="9" name="Shape 7"/>
          <p:cNvSpPr/>
          <p:nvPr/>
        </p:nvSpPr>
        <p:spPr>
          <a:xfrm>
            <a:off x="768096" y="2542032"/>
            <a:ext cx="566928" cy="566928"/>
          </a:xfrm>
          <a:prstGeom prst="roundRect">
            <a:avLst>
              <a:gd name="adj" fmla="val 19355"/>
            </a:avLst>
          </a:prstGeom>
          <a:solidFill>
            <a:srgbClr val="1F3A5F"/>
          </a:solidFill>
          <a:ln/>
        </p:spPr>
      </p:sp>
      <p:sp>
        <p:nvSpPr>
          <p:cNvPr id="10" name="Text 8"/>
          <p:cNvSpPr txBox="1"/>
          <p:nvPr/>
        </p:nvSpPr>
        <p:spPr>
          <a:xfrm>
            <a:off x="768096" y="2542032"/>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MV</a:t>
            </a:r>
            <a:endParaRPr lang="en-US" sz="1200" dirty="0"/>
          </a:p>
        </p:txBody>
      </p:sp>
      <p:sp>
        <p:nvSpPr>
          <p:cNvPr id="11" name="Text 9"/>
          <p:cNvSpPr txBox="1"/>
          <p:nvPr/>
        </p:nvSpPr>
        <p:spPr>
          <a:xfrm>
            <a:off x="768096" y="3246120"/>
            <a:ext cx="2286000" cy="640080"/>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MV Circuit Breakers</a:t>
            </a:r>
            <a:endParaRPr lang="en-US" sz="1300" dirty="0"/>
          </a:p>
        </p:txBody>
      </p:sp>
      <p:sp>
        <p:nvSpPr>
          <p:cNvPr id="12" name="Text 10"/>
          <p:cNvSpPr txBox="1"/>
          <p:nvPr/>
        </p:nvSpPr>
        <p:spPr>
          <a:xfrm>
            <a:off x="768096" y="3886200"/>
            <a:ext cx="2286000" cy="1417320"/>
          </a:xfrm>
          <a:prstGeom prst="rect">
            <a:avLst/>
          </a:prstGeom>
          <a:noFill/>
          <a:ln/>
        </p:spPr>
        <p:txBody>
          <a:bodyPr wrap="square" lIns="0" tIns="0" rIns="0" bIns="0" rtlCol="0" anchor="ctr"/>
          <a:lstStyle/>
          <a:p>
            <a:pPr indent="0" marL="0">
              <a:buNone/>
            </a:pPr>
            <a:r>
              <a:rPr lang="en-US" sz="900" dirty="0">
                <a:solidFill>
                  <a:srgbClr val="1B2733"/>
                </a:solidFill>
                <a:latin typeface="Calibri" pitchFamily="34" charset="0"/>
                <a:ea typeface="Calibri" pitchFamily="34" charset="-122"/>
                <a:cs typeface="Calibri" pitchFamily="34" charset="-120"/>
              </a:rPr>
              <a:t>CHINT NG7 gas-insulated switchgear and intelligent MV MCCB / ACB for industrial, commercial and utility distribution - product families already supplied to SEC.</a:t>
            </a:r>
            <a:endParaRPr lang="en-US" sz="900" dirty="0"/>
          </a:p>
        </p:txBody>
      </p:sp>
      <p:sp>
        <p:nvSpPr>
          <p:cNvPr id="13" name="Text 11"/>
          <p:cNvSpPr txBox="1"/>
          <p:nvPr/>
        </p:nvSpPr>
        <p:spPr>
          <a:xfrm>
            <a:off x="768096" y="5303520"/>
            <a:ext cx="2286000" cy="594360"/>
          </a:xfrm>
          <a:prstGeom prst="rect">
            <a:avLst/>
          </a:prstGeom>
          <a:noFill/>
          <a:ln/>
        </p:spPr>
        <p:txBody>
          <a:bodyPr wrap="square" lIns="0" tIns="0" rIns="0" bIns="0" rtlCol="0" anchor="ctr"/>
          <a:lstStyle/>
          <a:p>
            <a:pPr indent="0" marL="0">
              <a:buNone/>
            </a:pPr>
            <a:r>
              <a:rPr lang="en-US" sz="800" i="1" dirty="0">
                <a:solidFill>
                  <a:srgbClr val="1F3A5F"/>
                </a:solidFill>
                <a:latin typeface="Calibri" pitchFamily="34" charset="0"/>
                <a:ea typeface="Calibri" pitchFamily="34" charset="-122"/>
                <a:cs typeface="Calibri" pitchFamily="34" charset="-120"/>
              </a:rPr>
              <a:t>Lab: protection-coordination reference; verify 60-Hz ratings, +55 C, 37-SDMS.</a:t>
            </a:r>
            <a:endParaRPr lang="en-US" sz="800" dirty="0"/>
          </a:p>
        </p:txBody>
      </p:sp>
      <p:sp>
        <p:nvSpPr>
          <p:cNvPr id="14" name="Shape 12"/>
          <p:cNvSpPr/>
          <p:nvPr/>
        </p:nvSpPr>
        <p:spPr>
          <a:xfrm>
            <a:off x="3401568" y="2286000"/>
            <a:ext cx="2670048" cy="3703320"/>
          </a:xfrm>
          <a:prstGeom prst="roundRect">
            <a:avLst>
              <a:gd name="adj" fmla="val 1712"/>
            </a:avLst>
          </a:prstGeom>
          <a:solidFill>
            <a:srgbClr val="E9F1E9"/>
          </a:solidFill>
          <a:ln w="15875">
            <a:solidFill>
              <a:srgbClr val="2E7D32"/>
            </a:solidFill>
            <a:prstDash val="solid"/>
          </a:ln>
        </p:spPr>
      </p:sp>
      <p:sp>
        <p:nvSpPr>
          <p:cNvPr id="15" name="Shape 13"/>
          <p:cNvSpPr/>
          <p:nvPr/>
        </p:nvSpPr>
        <p:spPr>
          <a:xfrm>
            <a:off x="3621024" y="2542032"/>
            <a:ext cx="566928" cy="566928"/>
          </a:xfrm>
          <a:prstGeom prst="roundRect">
            <a:avLst>
              <a:gd name="adj" fmla="val 19355"/>
            </a:avLst>
          </a:prstGeom>
          <a:solidFill>
            <a:srgbClr val="2E7D32"/>
          </a:solidFill>
          <a:ln/>
        </p:spPr>
      </p:sp>
      <p:sp>
        <p:nvSpPr>
          <p:cNvPr id="16" name="Text 14"/>
          <p:cNvSpPr txBox="1"/>
          <p:nvPr/>
        </p:nvSpPr>
        <p:spPr>
          <a:xfrm>
            <a:off x="3621024" y="2542032"/>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ES</a:t>
            </a:r>
            <a:endParaRPr lang="en-US" sz="1200" dirty="0"/>
          </a:p>
        </p:txBody>
      </p:sp>
      <p:sp>
        <p:nvSpPr>
          <p:cNvPr id="17" name="Text 15"/>
          <p:cNvSpPr txBox="1"/>
          <p:nvPr/>
        </p:nvSpPr>
        <p:spPr>
          <a:xfrm>
            <a:off x="3621024" y="3246120"/>
            <a:ext cx="2286000" cy="640080"/>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Emerging Energy-Sector Tech</a:t>
            </a:r>
            <a:endParaRPr lang="en-US" sz="1300" dirty="0"/>
          </a:p>
        </p:txBody>
      </p:sp>
      <p:sp>
        <p:nvSpPr>
          <p:cNvPr id="18" name="Text 16"/>
          <p:cNvSpPr txBox="1"/>
          <p:nvPr/>
        </p:nvSpPr>
        <p:spPr>
          <a:xfrm>
            <a:off x="3621024" y="3886200"/>
            <a:ext cx="2286000" cy="1417320"/>
          </a:xfrm>
          <a:prstGeom prst="rect">
            <a:avLst/>
          </a:prstGeom>
          <a:noFill/>
          <a:ln/>
        </p:spPr>
        <p:txBody>
          <a:bodyPr wrap="square" lIns="0" tIns="0" rIns="0" bIns="0" rtlCol="0" anchor="ctr"/>
          <a:lstStyle/>
          <a:p>
            <a:pPr indent="0" marL="0">
              <a:buNone/>
            </a:pPr>
            <a:r>
              <a:rPr lang="en-US" sz="900" dirty="0">
                <a:solidFill>
                  <a:srgbClr val="1B2733"/>
                </a:solidFill>
                <a:latin typeface="Calibri" pitchFamily="34" charset="0"/>
                <a:ea typeface="Calibri" pitchFamily="34" charset="-122"/>
                <a:cs typeface="Calibri" pitchFamily="34" charset="-120"/>
              </a:rPr>
              <a:t>"One Cloud, Two Networks" direction: smart grids and EIoT, PV grid-connection and islanding protection, DC ACB / MCCB, topology identification and line-loss analysis.</a:t>
            </a:r>
            <a:endParaRPr lang="en-US" sz="900" dirty="0"/>
          </a:p>
        </p:txBody>
      </p:sp>
      <p:sp>
        <p:nvSpPr>
          <p:cNvPr id="19" name="Text 17"/>
          <p:cNvSpPr txBox="1"/>
          <p:nvPr/>
        </p:nvSpPr>
        <p:spPr>
          <a:xfrm>
            <a:off x="3621024" y="5303520"/>
            <a:ext cx="2286000" cy="594360"/>
          </a:xfrm>
          <a:prstGeom prst="rect">
            <a:avLst/>
          </a:prstGeom>
          <a:noFill/>
          <a:ln/>
        </p:spPr>
        <p:txBody>
          <a:bodyPr wrap="square" lIns="0" tIns="0" rIns="0" bIns="0" rtlCol="0" anchor="ctr"/>
          <a:lstStyle/>
          <a:p>
            <a:pPr indent="0" marL="0">
              <a:buNone/>
            </a:pPr>
            <a:r>
              <a:rPr lang="en-US" sz="800" i="1" dirty="0">
                <a:solidFill>
                  <a:srgbClr val="2E7D32"/>
                </a:solidFill>
                <a:latin typeface="Calibri" pitchFamily="34" charset="0"/>
                <a:ea typeface="Calibri" pitchFamily="34" charset="-122"/>
                <a:cs typeface="Calibri" pitchFamily="34" charset="-120"/>
              </a:rPr>
              <a:t>Lab: microgrid + data-centre resilience studies on the LV testbed.</a:t>
            </a:r>
            <a:endParaRPr lang="en-US" sz="800" dirty="0"/>
          </a:p>
        </p:txBody>
      </p:sp>
      <p:sp>
        <p:nvSpPr>
          <p:cNvPr id="20" name="Shape 18"/>
          <p:cNvSpPr/>
          <p:nvPr/>
        </p:nvSpPr>
        <p:spPr>
          <a:xfrm>
            <a:off x="6254496" y="2286000"/>
            <a:ext cx="2670048" cy="3703320"/>
          </a:xfrm>
          <a:prstGeom prst="roundRect">
            <a:avLst>
              <a:gd name="adj" fmla="val 1712"/>
            </a:avLst>
          </a:prstGeom>
          <a:solidFill>
            <a:srgbClr val="E4EEF1"/>
          </a:solidFill>
          <a:ln w="15875">
            <a:solidFill>
              <a:srgbClr val="1C7293"/>
            </a:solidFill>
            <a:prstDash val="solid"/>
          </a:ln>
        </p:spPr>
      </p:sp>
      <p:sp>
        <p:nvSpPr>
          <p:cNvPr id="21" name="Shape 19"/>
          <p:cNvSpPr/>
          <p:nvPr/>
        </p:nvSpPr>
        <p:spPr>
          <a:xfrm>
            <a:off x="6473952" y="2542032"/>
            <a:ext cx="566928" cy="566928"/>
          </a:xfrm>
          <a:prstGeom prst="roundRect">
            <a:avLst>
              <a:gd name="adj" fmla="val 19355"/>
            </a:avLst>
          </a:prstGeom>
          <a:solidFill>
            <a:srgbClr val="1C7293"/>
          </a:solidFill>
          <a:ln/>
        </p:spPr>
      </p:sp>
      <p:sp>
        <p:nvSpPr>
          <p:cNvPr id="22" name="Text 20"/>
          <p:cNvSpPr txBox="1"/>
          <p:nvPr/>
        </p:nvSpPr>
        <p:spPr>
          <a:xfrm>
            <a:off x="6473952" y="2542032"/>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a:t>
            </a:r>
            <a:endParaRPr lang="en-US" sz="1200" dirty="0"/>
          </a:p>
        </p:txBody>
      </p:sp>
      <p:sp>
        <p:nvSpPr>
          <p:cNvPr id="23" name="Text 21"/>
          <p:cNvSpPr txBox="1"/>
          <p:nvPr/>
        </p:nvSpPr>
        <p:spPr>
          <a:xfrm>
            <a:off x="6473952" y="3246120"/>
            <a:ext cx="2286000" cy="640080"/>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EV Technology</a:t>
            </a:r>
            <a:endParaRPr lang="en-US" sz="1300" dirty="0"/>
          </a:p>
        </p:txBody>
      </p:sp>
      <p:sp>
        <p:nvSpPr>
          <p:cNvPr id="24" name="Text 22"/>
          <p:cNvSpPr txBox="1"/>
          <p:nvPr/>
        </p:nvSpPr>
        <p:spPr>
          <a:xfrm>
            <a:off x="6473952" y="3886200"/>
            <a:ext cx="2286000" cy="1417320"/>
          </a:xfrm>
          <a:prstGeom prst="rect">
            <a:avLst/>
          </a:prstGeom>
          <a:noFill/>
          <a:ln/>
        </p:spPr>
        <p:txBody>
          <a:bodyPr wrap="square" lIns="0" tIns="0" rIns="0" bIns="0" rtlCol="0" anchor="ctr"/>
          <a:lstStyle/>
          <a:p>
            <a:pPr indent="0" marL="0">
              <a:buNone/>
            </a:pPr>
            <a:r>
              <a:rPr lang="en-US" sz="900" dirty="0">
                <a:solidFill>
                  <a:srgbClr val="1B2733"/>
                </a:solidFill>
                <a:latin typeface="Calibri" pitchFamily="34" charset="0"/>
                <a:ea typeface="Calibri" pitchFamily="34" charset="-122"/>
                <a:cs typeface="Calibri" pitchFamily="34" charset="-120"/>
              </a:rPr>
              <a:t>EV charging with sequence / orderly charging for substation peak-load management, plus high-accuracy metering, billing and encrypted data transfer.</a:t>
            </a:r>
            <a:endParaRPr lang="en-US" sz="900" dirty="0"/>
          </a:p>
        </p:txBody>
      </p:sp>
      <p:sp>
        <p:nvSpPr>
          <p:cNvPr id="25" name="Text 23"/>
          <p:cNvSpPr txBox="1"/>
          <p:nvPr/>
        </p:nvSpPr>
        <p:spPr>
          <a:xfrm>
            <a:off x="6473952" y="5303520"/>
            <a:ext cx="2286000" cy="594360"/>
          </a:xfrm>
          <a:prstGeom prst="rect">
            <a:avLst/>
          </a:prstGeom>
          <a:noFill/>
          <a:ln/>
        </p:spPr>
        <p:txBody>
          <a:bodyPr wrap="square" lIns="0" tIns="0" rIns="0" bIns="0" rtlCol="0" anchor="ctr"/>
          <a:lstStyle/>
          <a:p>
            <a:pPr indent="0" marL="0">
              <a:buNone/>
            </a:pPr>
            <a:r>
              <a:rPr lang="en-US" sz="800" i="1" dirty="0">
                <a:solidFill>
                  <a:srgbClr val="1C7293"/>
                </a:solidFill>
                <a:latin typeface="Calibri" pitchFamily="34" charset="0"/>
                <a:ea typeface="Calibri" pitchFamily="34" charset="-122"/>
                <a:cs typeface="Calibri" pitchFamily="34" charset="-120"/>
              </a:rPr>
              <a:t>Lab: EV peak-load scenario in the microgrid simulation and testbed.</a:t>
            </a:r>
            <a:endParaRPr lang="en-US" sz="800" dirty="0"/>
          </a:p>
        </p:txBody>
      </p:sp>
      <p:sp>
        <p:nvSpPr>
          <p:cNvPr id="26" name="Shape 24"/>
          <p:cNvSpPr/>
          <p:nvPr/>
        </p:nvSpPr>
        <p:spPr>
          <a:xfrm>
            <a:off x="9107424" y="2286000"/>
            <a:ext cx="2670048" cy="3703320"/>
          </a:xfrm>
          <a:prstGeom prst="roundRect">
            <a:avLst>
              <a:gd name="adj" fmla="val 1712"/>
            </a:avLst>
          </a:prstGeom>
          <a:solidFill>
            <a:srgbClr val="E4F3F5"/>
          </a:solidFill>
          <a:ln w="15875">
            <a:solidFill>
              <a:srgbClr val="0097A7"/>
            </a:solidFill>
            <a:prstDash val="solid"/>
          </a:ln>
        </p:spPr>
      </p:sp>
      <p:sp>
        <p:nvSpPr>
          <p:cNvPr id="27" name="Shape 25"/>
          <p:cNvSpPr/>
          <p:nvPr/>
        </p:nvSpPr>
        <p:spPr>
          <a:xfrm>
            <a:off x="9326880" y="2542032"/>
            <a:ext cx="566928" cy="566928"/>
          </a:xfrm>
          <a:prstGeom prst="roundRect">
            <a:avLst>
              <a:gd name="adj" fmla="val 19355"/>
            </a:avLst>
          </a:prstGeom>
          <a:solidFill>
            <a:srgbClr val="0097A7"/>
          </a:solidFill>
          <a:ln/>
        </p:spPr>
      </p:sp>
      <p:sp>
        <p:nvSpPr>
          <p:cNvPr id="28" name="Text 26"/>
          <p:cNvSpPr txBox="1"/>
          <p:nvPr/>
        </p:nvSpPr>
        <p:spPr>
          <a:xfrm>
            <a:off x="9326880" y="2542032"/>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CX</a:t>
            </a:r>
            <a:endParaRPr lang="en-US" sz="1200" dirty="0"/>
          </a:p>
        </p:txBody>
      </p:sp>
      <p:sp>
        <p:nvSpPr>
          <p:cNvPr id="29" name="Text 27"/>
          <p:cNvSpPr txBox="1"/>
          <p:nvPr/>
        </p:nvSpPr>
        <p:spPr>
          <a:xfrm>
            <a:off x="9326880" y="3246120"/>
            <a:ext cx="2286000" cy="640080"/>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CloudX at PSAU</a:t>
            </a:r>
            <a:endParaRPr lang="en-US" sz="1300" dirty="0"/>
          </a:p>
        </p:txBody>
      </p:sp>
      <p:sp>
        <p:nvSpPr>
          <p:cNvPr id="30" name="Text 28"/>
          <p:cNvSpPr txBox="1"/>
          <p:nvPr/>
        </p:nvSpPr>
        <p:spPr>
          <a:xfrm>
            <a:off x="9326880" y="3886200"/>
            <a:ext cx="2286000" cy="1417320"/>
          </a:xfrm>
          <a:prstGeom prst="rect">
            <a:avLst/>
          </a:prstGeom>
          <a:noFill/>
          <a:ln/>
        </p:spPr>
        <p:txBody>
          <a:bodyPr wrap="square" lIns="0" tIns="0" rIns="0" bIns="0" rtlCol="0" anchor="ctr"/>
          <a:lstStyle/>
          <a:p>
            <a:pPr indent="0" marL="0">
              <a:buNone/>
            </a:pPr>
            <a:r>
              <a:rPr lang="en-US" sz="900" dirty="0">
                <a:solidFill>
                  <a:srgbClr val="1B2733"/>
                </a:solidFill>
                <a:latin typeface="Calibri" pitchFamily="34" charset="0"/>
                <a:ea typeface="Calibri" pitchFamily="34" charset="-122"/>
                <a:cs typeface="Calibri" pitchFamily="34" charset="-120"/>
              </a:rPr>
              <a:t>Proposed cloud-connected energy-monitoring and AIoT platform at PSAU (CHINT EmpowerX: EMS + Digital Twin + Edge) to advance smart-energy research, local talent and Vision 2030 goals.</a:t>
            </a:r>
            <a:endParaRPr lang="en-US" sz="900" dirty="0"/>
          </a:p>
        </p:txBody>
      </p:sp>
      <p:sp>
        <p:nvSpPr>
          <p:cNvPr id="31" name="Text 29"/>
          <p:cNvSpPr txBox="1"/>
          <p:nvPr/>
        </p:nvSpPr>
        <p:spPr>
          <a:xfrm>
            <a:off x="9326880" y="5303520"/>
            <a:ext cx="2286000" cy="594360"/>
          </a:xfrm>
          <a:prstGeom prst="rect">
            <a:avLst/>
          </a:prstGeom>
          <a:noFill/>
          <a:ln/>
        </p:spPr>
        <p:txBody>
          <a:bodyPr wrap="square" lIns="0" tIns="0" rIns="0" bIns="0" rtlCol="0" anchor="ctr"/>
          <a:lstStyle/>
          <a:p>
            <a:pPr indent="0" marL="0">
              <a:buNone/>
            </a:pPr>
            <a:r>
              <a:rPr lang="en-US" sz="800" i="1" dirty="0">
                <a:solidFill>
                  <a:srgbClr val="0097A7"/>
                </a:solidFill>
                <a:latin typeface="Calibri" pitchFamily="34" charset="0"/>
                <a:ea typeface="Calibri" pitchFamily="34" charset="-122"/>
                <a:cs typeface="Calibri" pitchFamily="34" charset="-120"/>
              </a:rPr>
              <a:t>Status: conceptual architecture; engagement with PSAU stated, not yet documented.</a:t>
            </a:r>
            <a:endParaRPr lang="en-US" sz="800" dirty="0"/>
          </a:p>
        </p:txBody>
      </p:sp>
      <p:sp>
        <p:nvSpPr>
          <p:cNvPr id="32" name="Text 30"/>
          <p:cNvSpPr txBox="1"/>
          <p:nvPr/>
        </p:nvSpPr>
        <p:spPr>
          <a:xfrm>
            <a:off x="548640" y="6126480"/>
            <a:ext cx="11155680" cy="365760"/>
          </a:xfrm>
          <a:prstGeom prst="rect">
            <a:avLst/>
          </a:prstGeom>
          <a:noFill/>
          <a:ln/>
        </p:spPr>
        <p:txBody>
          <a:bodyPr wrap="square" lIns="0" tIns="0" rIns="0" bIns="0" rtlCol="0" anchor="ctr"/>
          <a:lstStyle/>
          <a:p>
            <a:pPr indent="0" marL="0">
              <a:buNone/>
            </a:pPr>
            <a:r>
              <a:rPr lang="en-US" sz="950" i="1" dirty="0">
                <a:solidFill>
                  <a:srgbClr val="065A82"/>
                </a:solidFill>
                <a:latin typeface="Calibri" pitchFamily="34" charset="0"/>
                <a:ea typeface="Calibri" pitchFamily="34" charset="-122"/>
                <a:cs typeface="Calibri" pitchFamily="34" charset="-120"/>
              </a:rPr>
              <a:t>Localization is not just purchasing equipment: it includes local integration, 60-Hz verification, commissioning, panel assembly, firmware, testing, calibration, maintenance, training and future manufacturing.</a:t>
            </a:r>
            <a:endParaRPr lang="en-US" sz="950" dirty="0"/>
          </a:p>
        </p:txBody>
      </p:sp>
      <p:sp>
        <p:nvSpPr>
          <p:cNvPr id="33" name="Text 31"/>
          <p:cNvSpPr txBox="1"/>
          <p:nvPr/>
        </p:nvSpPr>
        <p:spPr>
          <a:xfrm>
            <a:off x="548640" y="6473952"/>
            <a:ext cx="10698480" cy="274320"/>
          </a:xfrm>
          <a:prstGeom prst="rect">
            <a:avLst/>
          </a:prstGeom>
          <a:noFill/>
          <a:ln/>
        </p:spPr>
        <p:txBody>
          <a:bodyPr wrap="square" lIns="0" tIns="0" rIns="0" bIns="0" rtlCol="0" anchor="ctr"/>
          <a:lstStyle/>
          <a:p>
            <a:pPr indent="0" marL="0">
              <a:buNone/>
            </a:pPr>
            <a:r>
              <a:rPr lang="en-US" sz="800" dirty="0">
                <a:solidFill>
                  <a:srgbClr val="5F6B76"/>
                </a:solidFill>
                <a:latin typeface="Calibri" pitchFamily="34" charset="0"/>
                <a:ea typeface="Calibri" pitchFamily="34" charset="-122"/>
                <a:cs typeface="Calibri" pitchFamily="34" charset="-120"/>
              </a:rPr>
              <a:t>Source: Instructor Notes (CHINT LV R&amp;D, Nov 2025) · Future Energy Lab · PSAU College of Engineering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2026-09-09T16:16:56Z</dcterms:created>
  <dcterms:modified xsi:type="dcterms:W3CDTF">2026-09-09T16:16:56Z</dcterms:modified>
</cp:coreProperties>
</file>