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73" r:id="rId4"/>
    <p:sldId id="258" r:id="rId5"/>
    <p:sldId id="266" r:id="rId6"/>
    <p:sldId id="267" r:id="rId7"/>
    <p:sldId id="260" r:id="rId8"/>
    <p:sldId id="268" r:id="rId9"/>
    <p:sldId id="269" r:id="rId10"/>
    <p:sldId id="270" r:id="rId11"/>
    <p:sldId id="271" r:id="rId12"/>
    <p:sldId id="272" r:id="rId13"/>
    <p:sldId id="274" r:id="rId14"/>
    <p:sldId id="265"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52" autoAdjust="0"/>
    <p:restoredTop sz="94610"/>
  </p:normalViewPr>
  <p:slideViewPr>
    <p:cSldViewPr snapToGrid="0" snapToObjects="1">
      <p:cViewPr varScale="1">
        <p:scale>
          <a:sx n="113" d="100"/>
          <a:sy n="113" d="100"/>
        </p:scale>
        <p:origin x="83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9878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platform is deliberately integrated. The microgrid is the energy source and the object under study. Arc-fault protection is applied to that same microgrid and its LV feeders. The digital twin is the common monitoring and visualisation layer and logs events for engineering decisions. The fourth block turns a lab result into something deployable on the Saudi 60-Hz grid. Everything shown today runs, is simulated, or is a defined build step, and each slide labels which.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needs are usually pursued in isolation. The strategic point is that they share infrastructure: the same LV board, the same metering breakers, the same data layer. A series arc fault draws less than rated current, so today's protection misses it. Renewable integration on a 60-Hz network is a control and protection problem, not just sizing. Every imported device needs explicit 60-Hz and high-temperature verification before it can be trusted on the Saudi grid.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smart meter is only as good as what it can infer from one measurement point. The three targets are theft detection, load forecasting, and load disaggregation. All three are supervised-learning problems, and all three need the same input: a labelled, time-synchronised, per-appliance power dataset with known switching events. That data does not exist off the shelf, so the Future Energy Lab built a Data Setup to generate it. The implementation path is three steps: collect the data with the rig, develop the models on that data, and finally fabricate the model into a meter.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 after the lab dataset is a field pilot with Saudi Electricity and CHINT, starting after a short preparation period. CHINT brings the metering and breaker hardware - the same NB2LE class we already use in the Data Setup - and SEC provides host premises, real field load data, and alignment with Saudi grid codes and standards. The pilot has one objective per smart-meter goal: validate theft detection on real tamper cases, validate the forecasting models against SEC consumption data, and validate NILM disaggregation on live households. The outputs are field-validated models, a fabrication-ready meter specification, and a scale-up recommendation. To be precise: this is the stated plan; the formal agreement and pilot document are not yet in the project folder.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A is a scaled-down, LV-side version of the NEOM City microgrid concept. It covers only the Phase A loads, taken directly from the load CSV: each device's rated power times its daily on-hours gives the 24-hour profile and 12.85 kWh/day, of which 2.82 kWh is critical. The design basis is a full islanded 24-hour cycle at 230 V / 60 Hz with critical loads always supplied. The sizing chain runs load -&gt; PV -&gt; battery -&gt; grid-forming inverter -&gt; cables and protection, and the whole system is checked against four operating cases on fixed hardware.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sizing is not just a spreadsheet. A Python model (sizing.py then sim.py) runs a 24-hour energy and power balance for each of the four operating cases on the same fixed hardware. Across all four, critical load is served 100% of the time and the battery stays above its 10% floor. Single stresses are absorbed with minor non-critical shedding; the compound worst case still keeps critical loads fully supplied. The plots show PV plus battery tracking the load, the base-case state of charge, and the worst-case state of charge.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centres are becoming a major LV/MV load with strict continuity requirements. The instructor's direction is to explore the microgrid as an energy-resilience solution for that case. The lab's value is a scaled, instrumented environment where scenarios are simulated then validated on real hardware before committing to a field system. To be precise: we have a concept and a simulation capability; no data-centre partnership, deployment or approval, and no operator is named in our documents.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arc-fault work starts from a real, labelled dataset. It covers more than ten residential load types across four AFDD devices, with both series and parallel arcs, sampled as current only at 6.4 kHz. Every recording has a clean no-arc segment and an arc segment. We analyse each load type in three views: the time domain, where the arc produces zero-crossing shoulders and conduction collapse; the frequency domain, where the FFT shows added broadband and harmonic content; and the time-frequency domain, where a spectrogram or a moving-RMS envelope marks the transition. These features feed a ResNet-1D classifier that reaches about 90% under lab conditions.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contribution is a current-only, voltage-free arc-fault detector for switching power supplies that does not need to know the sampling rate. Instead of assuming an arc equation, we discover the nominal device dynamics from healthy data using SINDy, verify that discovered map as a genuine dynamic model, and only then embed it in the neural network. We also show, with documented evidence, that the classical Mayr and Cassie arc equations cannot be identified from current alone. On the one-shot outer test the detector reaches 0.9924 average precision with no rate information, catches all 105 arc events with zero median delay, and - most importantly for field acceptance - fires only 0.59 false alarms per 100 cycles, several times better than the strongest benchmarks. It also stays accurate when the data is resampled, a regime where a rate-aware detector collapses.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vision is to localize the arc-fault work into our own test bench. The layout is simple and safe: the LV supply feeds the CHINT NB2 smart breaker, which meters voltage, current, power and power factor and can trip; downstream is a dedicated arc-generator line inside a rated safety enclosure; and beyond that a load bank of SMPS, motor, resistive and dimmer loads. The breaker's metering plus a high-rate current acquisition on the arc line feed the DAQ and the digital twin, so every arc event is logged and alarmed. This lets us reproduce and extend the CHINT dataset at Saudi 60 Hz and test both the multi-feature and PINN detectors on live data. All of this is done on a controlled rig with an enclosure, PPE and approved procedures.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twin is not a 3D picture. It is a software model that stays continuously synchronized with a physical asset through live telemetry, and lets you monitor, analyse, simulate and control that asset from one place. It is built in layers: the physical layer with the asset and its smart meter; a real-time channel, here MQTT over secure WebSockets with a primary and a failover broker; an edge and cloud layer of serverless functions that keep credentials out of the browser; and the twin layer itself - the KPIs, charts, 3D model, SCADA alarms and physics simulation. The value is the closed loop: the physical state drives the twin, the twin drives a decision, and a command goes back to the asset.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working pilot. The physical object is a 40-lamp lighting distribution panel behind a CHINT NB2 smart breaker whose built-in metering we publish over MQTT, with a failover broker, through a serverless edge layer to a browser dashboard. At this point in the talk the presenter should stop and open the website to run the demo: show the live telemetry and KPIs, rotate the 3D panel model, run a simulation scenario such as the datasheet L70 baseline or the beyond-rated summer-ambient case, and demonstrate the remote Open and Close commands. Then return to the slides. To be precise on scope: the stakeholder demonstration is planned, and there is no documented SEC engagement yet.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precise because the audience includes potential partners. What exists: a running digital twin on live telemetry, a data-acquisition rig proven over months, a fully simulated lab-scale microgrid, and an arc-fault dataset with a ~90% classifier and a manuscript in preparation. What is a target or direction: four papers in a year, a conference paper, a formal CHINT partnership, SEC involvement, a 10-to-100-house pilot, and an arc-fault patent — goals with partial or verbal support, labelled as such. The strategic impact is a repeatable pipeline: research, trained students, local 60-Hz capability, and a validated path to deployment.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713232" y="797899"/>
            <a:ext cx="8394192" cy="274320"/>
          </a:xfrm>
          <a:prstGeom prst="rect">
            <a:avLst/>
          </a:prstGeom>
          <a:noFill/>
          <a:ln/>
        </p:spPr>
        <p:txBody>
          <a:bodyPr wrap="square" lIns="0" tIns="0" rIns="0" bIns="0" rtlCol="0" anchor="ctr"/>
          <a:lstStyle/>
          <a:p>
            <a:pPr marL="0" indent="0">
              <a:buNone/>
            </a:pPr>
            <a:r>
              <a:rPr lang="en-US" sz="1050" b="1" kern="0" spc="200" dirty="0">
                <a:solidFill>
                  <a:srgbClr val="1C7293"/>
                </a:solidFill>
                <a:latin typeface="Calibri" pitchFamily="34" charset="0"/>
                <a:ea typeface="Calibri" pitchFamily="34" charset="-122"/>
                <a:cs typeface="Calibri" pitchFamily="34" charset="-120"/>
              </a:rPr>
              <a:t>PRINCE SATTAM BIN ABDULAZIZ UNIVERSITY   ·   COLLEGE OF ENGINEERING   ·   ELECTRICAL ENGINEERING</a:t>
            </a:r>
            <a:endParaRPr lang="en-US" sz="1050" dirty="0"/>
          </a:p>
        </p:txBody>
      </p:sp>
      <p:sp>
        <p:nvSpPr>
          <p:cNvPr id="3" name="Text 1"/>
          <p:cNvSpPr txBox="1"/>
          <p:nvPr/>
        </p:nvSpPr>
        <p:spPr>
          <a:xfrm>
            <a:off x="713232" y="1731941"/>
            <a:ext cx="10607040" cy="1097280"/>
          </a:xfrm>
          <a:prstGeom prst="rect">
            <a:avLst/>
          </a:prstGeom>
          <a:noFill/>
          <a:ln/>
        </p:spPr>
        <p:txBody>
          <a:bodyPr wrap="square" lIns="0" tIns="0" rIns="0" bIns="0" rtlCol="0" anchor="ctr"/>
          <a:lstStyle/>
          <a:p>
            <a:pPr marL="0" indent="0">
              <a:buNone/>
            </a:pPr>
            <a:r>
              <a:rPr lang="en-US" sz="5200" b="1" dirty="0">
                <a:solidFill>
                  <a:srgbClr val="1B2733"/>
                </a:solidFill>
                <a:latin typeface="Cambria" pitchFamily="34" charset="0"/>
                <a:ea typeface="Cambria" pitchFamily="34" charset="-122"/>
                <a:cs typeface="Cambria" pitchFamily="34" charset="-120"/>
              </a:rPr>
              <a:t>Future Energy Lab</a:t>
            </a:r>
            <a:endParaRPr lang="en-US" sz="5200" dirty="0"/>
          </a:p>
        </p:txBody>
      </p:sp>
      <p:sp>
        <p:nvSpPr>
          <p:cNvPr id="4" name="Text 2"/>
          <p:cNvSpPr txBox="1"/>
          <p:nvPr/>
        </p:nvSpPr>
        <p:spPr>
          <a:xfrm>
            <a:off x="1042416" y="3038517"/>
            <a:ext cx="10424160" cy="548640"/>
          </a:xfrm>
          <a:prstGeom prst="rect">
            <a:avLst/>
          </a:prstGeom>
          <a:noFill/>
          <a:ln/>
        </p:spPr>
        <p:txBody>
          <a:bodyPr wrap="square" lIns="0" tIns="0" rIns="0" bIns="0" rtlCol="0" anchor="ctr"/>
          <a:lstStyle/>
          <a:p>
            <a:pPr marL="0" indent="0">
              <a:buNone/>
            </a:pPr>
            <a:r>
              <a:rPr lang="en-US" sz="1600" dirty="0">
                <a:solidFill>
                  <a:srgbClr val="065A82"/>
                </a:solidFill>
                <a:latin typeface="Calibri" pitchFamily="34" charset="0"/>
                <a:ea typeface="Calibri" pitchFamily="34" charset="-122"/>
                <a:cs typeface="Calibri" pitchFamily="34" charset="-120"/>
              </a:rPr>
              <a:t>An Integrated Low-Voltage Testbed for Microgrid, Protection, Digital-Twin.</a:t>
            </a:r>
            <a:endParaRPr lang="en-US" sz="1600" dirty="0"/>
          </a:p>
        </p:txBody>
      </p:sp>
      <p:sp>
        <p:nvSpPr>
          <p:cNvPr id="6" name="Shape 4"/>
          <p:cNvSpPr/>
          <p:nvPr/>
        </p:nvSpPr>
        <p:spPr>
          <a:xfrm>
            <a:off x="822960" y="3843189"/>
            <a:ext cx="2578608" cy="1828800"/>
          </a:xfrm>
          <a:prstGeom prst="roundRect">
            <a:avLst>
              <a:gd name="adj" fmla="val 2500"/>
            </a:avLst>
          </a:prstGeom>
          <a:solidFill>
            <a:srgbClr val="E9F1E9"/>
          </a:solidFill>
          <a:ln w="15875">
            <a:solidFill>
              <a:srgbClr val="2E7D32"/>
            </a:solidFill>
            <a:prstDash val="solid"/>
          </a:ln>
        </p:spPr>
        <p:txBody>
          <a:bodyPr/>
          <a:lstStyle/>
          <a:p>
            <a:endParaRPr lang="ar-SA"/>
          </a:p>
        </p:txBody>
      </p:sp>
      <p:sp>
        <p:nvSpPr>
          <p:cNvPr id="7" name="Shape 5"/>
          <p:cNvSpPr/>
          <p:nvPr/>
        </p:nvSpPr>
        <p:spPr>
          <a:xfrm>
            <a:off x="1042416" y="4080933"/>
            <a:ext cx="292608" cy="292608"/>
          </a:xfrm>
          <a:prstGeom prst="ellipse">
            <a:avLst/>
          </a:prstGeom>
          <a:solidFill>
            <a:srgbClr val="2E7D32"/>
          </a:solidFill>
          <a:ln/>
        </p:spPr>
        <p:txBody>
          <a:bodyPr/>
          <a:lstStyle/>
          <a:p>
            <a:endParaRPr lang="ar-SA"/>
          </a:p>
        </p:txBody>
      </p:sp>
      <p:sp>
        <p:nvSpPr>
          <p:cNvPr id="8" name="Text 6"/>
          <p:cNvSpPr txBox="1"/>
          <p:nvPr/>
        </p:nvSpPr>
        <p:spPr>
          <a:xfrm>
            <a:off x="1042416" y="4080933"/>
            <a:ext cx="292608" cy="29260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MG</a:t>
            </a:r>
            <a:endParaRPr lang="en-US" sz="800" dirty="0"/>
          </a:p>
        </p:txBody>
      </p:sp>
      <p:sp>
        <p:nvSpPr>
          <p:cNvPr id="9" name="Text 7"/>
          <p:cNvSpPr txBox="1"/>
          <p:nvPr/>
        </p:nvSpPr>
        <p:spPr>
          <a:xfrm>
            <a:off x="1042416" y="4501557"/>
            <a:ext cx="2212848" cy="658368"/>
          </a:xfrm>
          <a:prstGeom prst="rect">
            <a:avLst/>
          </a:prstGeom>
          <a:noFill/>
          <a:ln/>
        </p:spPr>
        <p:txBody>
          <a:bodyPr wrap="square" lIns="0" tIns="0" rIns="0" bIns="0" rtlCol="0" anchor="ctr"/>
          <a:lstStyle/>
          <a:p>
            <a:pPr marL="0" indent="0">
              <a:buNone/>
            </a:pPr>
            <a:r>
              <a:rPr lang="en-US" sz="1300" b="1" dirty="0">
                <a:solidFill>
                  <a:srgbClr val="1B2733"/>
                </a:solidFill>
                <a:latin typeface="Calibri" pitchFamily="34" charset="0"/>
                <a:ea typeface="Calibri" pitchFamily="34" charset="-122"/>
                <a:cs typeface="Calibri" pitchFamily="34" charset="-120"/>
              </a:rPr>
              <a:t>MicroGrid</a:t>
            </a:r>
            <a:endParaRPr lang="en-US" sz="1300" dirty="0"/>
          </a:p>
        </p:txBody>
      </p:sp>
      <p:sp>
        <p:nvSpPr>
          <p:cNvPr id="10" name="Text 8"/>
          <p:cNvSpPr txBox="1"/>
          <p:nvPr/>
        </p:nvSpPr>
        <p:spPr>
          <a:xfrm>
            <a:off x="1042416" y="5141637"/>
            <a:ext cx="2212848" cy="457200"/>
          </a:xfrm>
          <a:prstGeom prst="rect">
            <a:avLst/>
          </a:prstGeom>
          <a:noFill/>
          <a:ln/>
        </p:spPr>
        <p:txBody>
          <a:bodyPr wrap="square" lIns="0" tIns="0" rIns="0" bIns="0" rtlCol="0" anchor="ctr"/>
          <a:lstStyle/>
          <a:p>
            <a:pPr marL="0" indent="0">
              <a:buNone/>
            </a:pPr>
            <a:r>
              <a:rPr lang="en-US" sz="850" dirty="0">
                <a:solidFill>
                  <a:srgbClr val="5F6B76"/>
                </a:solidFill>
                <a:latin typeface="Calibri" pitchFamily="34" charset="0"/>
                <a:ea typeface="Calibri" pitchFamily="34" charset="-122"/>
                <a:cs typeface="Calibri" pitchFamily="34" charset="-120"/>
              </a:rPr>
              <a:t>PV + battery + grid-forming inverter; 60 Hz islanded</a:t>
            </a:r>
            <a:endParaRPr lang="en-US" sz="850" dirty="0"/>
          </a:p>
        </p:txBody>
      </p:sp>
      <p:sp>
        <p:nvSpPr>
          <p:cNvPr id="11" name="Shape 9"/>
          <p:cNvSpPr/>
          <p:nvPr/>
        </p:nvSpPr>
        <p:spPr>
          <a:xfrm>
            <a:off x="3584448" y="3843189"/>
            <a:ext cx="2578608" cy="1828800"/>
          </a:xfrm>
          <a:prstGeom prst="roundRect">
            <a:avLst>
              <a:gd name="adj" fmla="val 2500"/>
            </a:avLst>
          </a:prstGeom>
          <a:solidFill>
            <a:srgbClr val="F8EAEA"/>
          </a:solidFill>
          <a:ln w="15875">
            <a:solidFill>
              <a:srgbClr val="C62828"/>
            </a:solidFill>
            <a:prstDash val="solid"/>
          </a:ln>
        </p:spPr>
        <p:txBody>
          <a:bodyPr/>
          <a:lstStyle/>
          <a:p>
            <a:endParaRPr lang="ar-SA"/>
          </a:p>
        </p:txBody>
      </p:sp>
      <p:sp>
        <p:nvSpPr>
          <p:cNvPr id="12" name="Shape 10"/>
          <p:cNvSpPr/>
          <p:nvPr/>
        </p:nvSpPr>
        <p:spPr>
          <a:xfrm>
            <a:off x="3803904" y="4080933"/>
            <a:ext cx="292608" cy="292608"/>
          </a:xfrm>
          <a:prstGeom prst="ellipse">
            <a:avLst/>
          </a:prstGeom>
          <a:solidFill>
            <a:srgbClr val="C62828"/>
          </a:solidFill>
          <a:ln/>
        </p:spPr>
        <p:txBody>
          <a:bodyPr/>
          <a:lstStyle/>
          <a:p>
            <a:endParaRPr lang="ar-SA"/>
          </a:p>
        </p:txBody>
      </p:sp>
      <p:sp>
        <p:nvSpPr>
          <p:cNvPr id="13" name="Text 11"/>
          <p:cNvSpPr txBox="1"/>
          <p:nvPr/>
        </p:nvSpPr>
        <p:spPr>
          <a:xfrm>
            <a:off x="3803904" y="4080933"/>
            <a:ext cx="292608" cy="29260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AF</a:t>
            </a:r>
            <a:endParaRPr lang="en-US" sz="800" dirty="0"/>
          </a:p>
        </p:txBody>
      </p:sp>
      <p:sp>
        <p:nvSpPr>
          <p:cNvPr id="14" name="Text 12"/>
          <p:cNvSpPr txBox="1"/>
          <p:nvPr/>
        </p:nvSpPr>
        <p:spPr>
          <a:xfrm>
            <a:off x="3803904" y="4501557"/>
            <a:ext cx="2212848" cy="658368"/>
          </a:xfrm>
          <a:prstGeom prst="rect">
            <a:avLst/>
          </a:prstGeom>
          <a:noFill/>
          <a:ln/>
        </p:spPr>
        <p:txBody>
          <a:bodyPr wrap="square" lIns="0" tIns="0" rIns="0" bIns="0" rtlCol="0" anchor="ctr"/>
          <a:lstStyle/>
          <a:p>
            <a:pPr marL="0" indent="0">
              <a:buNone/>
            </a:pPr>
            <a:r>
              <a:rPr lang="en-US" sz="1300" b="1" dirty="0">
                <a:solidFill>
                  <a:srgbClr val="1B2733"/>
                </a:solidFill>
                <a:latin typeface="Calibri" pitchFamily="34" charset="0"/>
                <a:ea typeface="Calibri" pitchFamily="34" charset="-122"/>
                <a:cs typeface="Calibri" pitchFamily="34" charset="-120"/>
              </a:rPr>
              <a:t>Arc-Fault Protection</a:t>
            </a:r>
            <a:endParaRPr lang="en-US" sz="1300" dirty="0"/>
          </a:p>
        </p:txBody>
      </p:sp>
      <p:sp>
        <p:nvSpPr>
          <p:cNvPr id="15" name="Text 13"/>
          <p:cNvSpPr txBox="1"/>
          <p:nvPr/>
        </p:nvSpPr>
        <p:spPr>
          <a:xfrm>
            <a:off x="3803904" y="5141637"/>
            <a:ext cx="2212848" cy="457200"/>
          </a:xfrm>
          <a:prstGeom prst="rect">
            <a:avLst/>
          </a:prstGeom>
          <a:noFill/>
          <a:ln/>
        </p:spPr>
        <p:txBody>
          <a:bodyPr wrap="square" lIns="0" tIns="0" rIns="0" bIns="0" rtlCol="0" anchor="ctr"/>
          <a:lstStyle/>
          <a:p>
            <a:pPr marL="0" indent="0">
              <a:buNone/>
            </a:pPr>
            <a:r>
              <a:rPr lang="en-US" sz="850" dirty="0">
                <a:solidFill>
                  <a:srgbClr val="5F6B76"/>
                </a:solidFill>
                <a:latin typeface="Calibri" pitchFamily="34" charset="0"/>
                <a:ea typeface="Calibri" pitchFamily="34" charset="-122"/>
                <a:cs typeface="Calibri" pitchFamily="34" charset="-120"/>
              </a:rPr>
              <a:t>Series / parallel arc detection on LV feeders</a:t>
            </a:r>
            <a:endParaRPr lang="en-US" sz="850" dirty="0"/>
          </a:p>
        </p:txBody>
      </p:sp>
      <p:sp>
        <p:nvSpPr>
          <p:cNvPr id="16" name="Shape 14"/>
          <p:cNvSpPr/>
          <p:nvPr/>
        </p:nvSpPr>
        <p:spPr>
          <a:xfrm>
            <a:off x="6345936" y="3843189"/>
            <a:ext cx="2578608" cy="1828800"/>
          </a:xfrm>
          <a:prstGeom prst="roundRect">
            <a:avLst>
              <a:gd name="adj" fmla="val 2500"/>
            </a:avLst>
          </a:prstGeom>
          <a:solidFill>
            <a:srgbClr val="E4F3F5"/>
          </a:solidFill>
          <a:ln w="15875">
            <a:solidFill>
              <a:srgbClr val="0097A7"/>
            </a:solidFill>
            <a:prstDash val="solid"/>
          </a:ln>
        </p:spPr>
        <p:txBody>
          <a:bodyPr/>
          <a:lstStyle/>
          <a:p>
            <a:endParaRPr lang="ar-SA"/>
          </a:p>
        </p:txBody>
      </p:sp>
      <p:sp>
        <p:nvSpPr>
          <p:cNvPr id="17" name="Shape 15"/>
          <p:cNvSpPr/>
          <p:nvPr/>
        </p:nvSpPr>
        <p:spPr>
          <a:xfrm>
            <a:off x="6565392" y="4080933"/>
            <a:ext cx="292608" cy="292608"/>
          </a:xfrm>
          <a:prstGeom prst="ellipse">
            <a:avLst/>
          </a:prstGeom>
          <a:solidFill>
            <a:srgbClr val="0097A7"/>
          </a:solidFill>
          <a:ln/>
        </p:spPr>
        <p:txBody>
          <a:bodyPr/>
          <a:lstStyle/>
          <a:p>
            <a:endParaRPr lang="ar-SA"/>
          </a:p>
        </p:txBody>
      </p:sp>
      <p:sp>
        <p:nvSpPr>
          <p:cNvPr id="18" name="Text 16"/>
          <p:cNvSpPr txBox="1"/>
          <p:nvPr/>
        </p:nvSpPr>
        <p:spPr>
          <a:xfrm>
            <a:off x="6565392" y="4080933"/>
            <a:ext cx="292608" cy="29260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DT</a:t>
            </a:r>
            <a:endParaRPr lang="en-US" sz="800" dirty="0"/>
          </a:p>
        </p:txBody>
      </p:sp>
      <p:sp>
        <p:nvSpPr>
          <p:cNvPr id="19" name="Text 17"/>
          <p:cNvSpPr txBox="1"/>
          <p:nvPr/>
        </p:nvSpPr>
        <p:spPr>
          <a:xfrm>
            <a:off x="6565392" y="4501557"/>
            <a:ext cx="2212848" cy="658368"/>
          </a:xfrm>
          <a:prstGeom prst="rect">
            <a:avLst/>
          </a:prstGeom>
          <a:noFill/>
          <a:ln/>
        </p:spPr>
        <p:txBody>
          <a:bodyPr wrap="square" lIns="0" tIns="0" rIns="0" bIns="0" rtlCol="0" anchor="ctr"/>
          <a:lstStyle/>
          <a:p>
            <a:pPr marL="0" indent="0">
              <a:buNone/>
            </a:pPr>
            <a:r>
              <a:rPr lang="en-US" sz="1300" b="1" dirty="0">
                <a:solidFill>
                  <a:srgbClr val="1B2733"/>
                </a:solidFill>
                <a:latin typeface="Calibri" pitchFamily="34" charset="0"/>
                <a:ea typeface="Calibri" pitchFamily="34" charset="-122"/>
                <a:cs typeface="Calibri" pitchFamily="34" charset="-120"/>
              </a:rPr>
              <a:t>Digital Twin</a:t>
            </a:r>
            <a:endParaRPr lang="en-US" sz="1300" dirty="0"/>
          </a:p>
        </p:txBody>
      </p:sp>
      <p:sp>
        <p:nvSpPr>
          <p:cNvPr id="20" name="Text 18"/>
          <p:cNvSpPr txBox="1"/>
          <p:nvPr/>
        </p:nvSpPr>
        <p:spPr>
          <a:xfrm>
            <a:off x="6565392" y="5141637"/>
            <a:ext cx="2212848" cy="457200"/>
          </a:xfrm>
          <a:prstGeom prst="rect">
            <a:avLst/>
          </a:prstGeom>
          <a:noFill/>
          <a:ln/>
        </p:spPr>
        <p:txBody>
          <a:bodyPr wrap="square" lIns="0" tIns="0" rIns="0" bIns="0" rtlCol="0" anchor="ctr"/>
          <a:lstStyle/>
          <a:p>
            <a:pPr marL="0" indent="0">
              <a:buNone/>
            </a:pPr>
            <a:r>
              <a:rPr lang="en-US" sz="850" dirty="0">
                <a:solidFill>
                  <a:srgbClr val="5F6B76"/>
                </a:solidFill>
                <a:latin typeface="Calibri" pitchFamily="34" charset="0"/>
                <a:ea typeface="Calibri" pitchFamily="34" charset="-122"/>
                <a:cs typeface="Calibri" pitchFamily="34" charset="-120"/>
              </a:rPr>
              <a:t>Live telemetry · 3D model · SCADA alarms · analytics</a:t>
            </a:r>
            <a:endParaRPr lang="en-US" sz="850" dirty="0"/>
          </a:p>
        </p:txBody>
      </p:sp>
      <p:sp>
        <p:nvSpPr>
          <p:cNvPr id="21" name="Shape 19"/>
          <p:cNvSpPr/>
          <p:nvPr/>
        </p:nvSpPr>
        <p:spPr>
          <a:xfrm>
            <a:off x="9107424" y="3843189"/>
            <a:ext cx="2578608" cy="1828800"/>
          </a:xfrm>
          <a:prstGeom prst="roundRect">
            <a:avLst>
              <a:gd name="adj" fmla="val 2500"/>
            </a:avLst>
          </a:prstGeom>
          <a:solidFill>
            <a:srgbClr val="E9ECF4"/>
          </a:solidFill>
          <a:ln w="15875">
            <a:solidFill>
              <a:srgbClr val="1F3A5F"/>
            </a:solidFill>
            <a:prstDash val="solid"/>
          </a:ln>
        </p:spPr>
        <p:txBody>
          <a:bodyPr/>
          <a:lstStyle/>
          <a:p>
            <a:endParaRPr lang="ar-SA"/>
          </a:p>
        </p:txBody>
      </p:sp>
      <p:sp>
        <p:nvSpPr>
          <p:cNvPr id="22" name="Shape 20"/>
          <p:cNvSpPr/>
          <p:nvPr/>
        </p:nvSpPr>
        <p:spPr>
          <a:xfrm>
            <a:off x="9326880" y="4080933"/>
            <a:ext cx="292608" cy="292608"/>
          </a:xfrm>
          <a:prstGeom prst="ellipse">
            <a:avLst/>
          </a:prstGeom>
          <a:solidFill>
            <a:srgbClr val="1F3A5F"/>
          </a:solidFill>
          <a:ln/>
        </p:spPr>
        <p:txBody>
          <a:bodyPr/>
          <a:lstStyle/>
          <a:p>
            <a:endParaRPr lang="ar-SA"/>
          </a:p>
        </p:txBody>
      </p:sp>
      <p:sp>
        <p:nvSpPr>
          <p:cNvPr id="23" name="Text 21"/>
          <p:cNvSpPr txBox="1"/>
          <p:nvPr/>
        </p:nvSpPr>
        <p:spPr>
          <a:xfrm>
            <a:off x="9326880" y="4080933"/>
            <a:ext cx="292608" cy="29260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LX</a:t>
            </a:r>
            <a:endParaRPr lang="en-US" sz="800" dirty="0"/>
          </a:p>
        </p:txBody>
      </p:sp>
      <p:sp>
        <p:nvSpPr>
          <p:cNvPr id="24" name="Text 22"/>
          <p:cNvSpPr txBox="1"/>
          <p:nvPr/>
        </p:nvSpPr>
        <p:spPr>
          <a:xfrm>
            <a:off x="9326880" y="4501557"/>
            <a:ext cx="2212848" cy="658368"/>
          </a:xfrm>
          <a:prstGeom prst="rect">
            <a:avLst/>
          </a:prstGeom>
          <a:noFill/>
          <a:ln/>
        </p:spPr>
        <p:txBody>
          <a:bodyPr wrap="square" lIns="0" tIns="0" rIns="0" bIns="0" rtlCol="0" anchor="ctr"/>
          <a:lstStyle/>
          <a:p>
            <a:pPr marL="0" indent="0">
              <a:buNone/>
            </a:pPr>
            <a:r>
              <a:rPr lang="en-US" sz="1300" dirty="0"/>
              <a:t>One Year Achievements</a:t>
            </a:r>
          </a:p>
        </p:txBody>
      </p:sp>
      <p:sp>
        <p:nvSpPr>
          <p:cNvPr id="25" name="Text 23"/>
          <p:cNvSpPr txBox="1"/>
          <p:nvPr/>
        </p:nvSpPr>
        <p:spPr>
          <a:xfrm>
            <a:off x="9326880" y="5141637"/>
            <a:ext cx="2212848" cy="457200"/>
          </a:xfrm>
          <a:prstGeom prst="rect">
            <a:avLst/>
          </a:prstGeom>
          <a:noFill/>
          <a:ln/>
        </p:spPr>
        <p:txBody>
          <a:bodyPr wrap="square" lIns="0" tIns="0" rIns="0" bIns="0" rtlCol="0" anchor="ctr"/>
          <a:lstStyle/>
          <a:p>
            <a:pPr marL="0" indent="0">
              <a:buNone/>
            </a:pPr>
            <a:r>
              <a:rPr lang="en-US" sz="850" dirty="0">
                <a:solidFill>
                  <a:srgbClr val="5F6B76"/>
                </a:solidFill>
                <a:latin typeface="Calibri" pitchFamily="34" charset="0"/>
                <a:ea typeface="Calibri" pitchFamily="34" charset="-122"/>
                <a:cs typeface="Calibri" pitchFamily="34" charset="-120"/>
              </a:rPr>
              <a:t>Papers , results , partnership</a:t>
            </a:r>
            <a:endParaRPr lang="en-US" sz="850" dirty="0"/>
          </a:p>
        </p:txBody>
      </p:sp>
      <p:pic>
        <p:nvPicPr>
          <p:cNvPr id="1026" name="Picture 2">
            <a:extLst>
              <a:ext uri="{FF2B5EF4-FFF2-40B4-BE49-F238E27FC236}">
                <a16:creationId xmlns:a16="http://schemas.microsoft.com/office/drawing/2014/main" id="{BD3B6686-184F-E28A-DD58-FAED080CD2F7}"/>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9107424" y="819944"/>
            <a:ext cx="2692549" cy="20905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548640" y="749808"/>
            <a:ext cx="9052560" cy="868680"/>
          </a:xfrm>
          <a:prstGeom prst="rect">
            <a:avLst/>
          </a:prstGeom>
          <a:noFill/>
          <a:ln/>
        </p:spPr>
        <p:txBody>
          <a:bodyPr wrap="square" lIns="0" tIns="0" rIns="0" bIns="0" rtlCol="0" anchor="ctr"/>
          <a:lstStyle/>
          <a:p>
            <a:pPr marL="0" indent="0">
              <a:buNone/>
            </a:pPr>
            <a:r>
              <a:rPr lang="en-US" sz="3000" b="1" dirty="0">
                <a:solidFill>
                  <a:srgbClr val="1B2733"/>
                </a:solidFill>
                <a:latin typeface="Cambria" pitchFamily="34" charset="0"/>
                <a:ea typeface="Cambria" pitchFamily="34" charset="-122"/>
                <a:cs typeface="Cambria" pitchFamily="34" charset="-120"/>
              </a:rPr>
              <a:t>Lab Vision and Strategic Direction</a:t>
            </a:r>
            <a:endParaRPr lang="en-US" sz="3000" dirty="0"/>
          </a:p>
        </p:txBody>
      </p:sp>
      <p:sp>
        <p:nvSpPr>
          <p:cNvPr id="7" name="Text 5"/>
          <p:cNvSpPr txBox="1"/>
          <p:nvPr/>
        </p:nvSpPr>
        <p:spPr>
          <a:xfrm>
            <a:off x="563880" y="1566333"/>
            <a:ext cx="11064240" cy="640080"/>
          </a:xfrm>
          <a:prstGeom prst="rect">
            <a:avLst/>
          </a:prstGeom>
          <a:noFill/>
          <a:ln/>
        </p:spPr>
        <p:txBody>
          <a:bodyPr wrap="square" lIns="0" tIns="0" rIns="0" bIns="0" rtlCol="0" anchor="ctr"/>
          <a:lstStyle/>
          <a:p>
            <a:pPr marL="0" indent="0">
              <a:buNone/>
            </a:pPr>
            <a:r>
              <a:rPr lang="en-US" sz="1350" i="1" dirty="0">
                <a:solidFill>
                  <a:srgbClr val="065A82"/>
                </a:solidFill>
                <a:latin typeface="Calibri" pitchFamily="34" charset="0"/>
                <a:ea typeface="Calibri" pitchFamily="34" charset="-122"/>
                <a:cs typeface="Calibri" pitchFamily="34" charset="-120"/>
              </a:rPr>
              <a:t>Saudi LV systems need combined progress in safety, renewable integration, energy visibility and locally engineered 60-Hz equipment — </a:t>
            </a:r>
            <a:r>
              <a:rPr lang="en-US" sz="1350" b="1" i="1" dirty="0">
                <a:solidFill>
                  <a:srgbClr val="065A82"/>
                </a:solidFill>
                <a:latin typeface="Calibri" pitchFamily="34" charset="0"/>
                <a:ea typeface="Calibri" pitchFamily="34" charset="-122"/>
                <a:cs typeface="Calibri" pitchFamily="34" charset="-120"/>
              </a:rPr>
              <a:t>and a scaled lab is the safest place to develop and validate it.</a:t>
            </a:r>
            <a:endParaRPr lang="en-US" sz="1350" b="1" dirty="0"/>
          </a:p>
        </p:txBody>
      </p:sp>
      <p:sp>
        <p:nvSpPr>
          <p:cNvPr id="9" name="Text 7"/>
          <p:cNvSpPr txBox="1"/>
          <p:nvPr/>
        </p:nvSpPr>
        <p:spPr>
          <a:xfrm>
            <a:off x="1143000" y="2406056"/>
            <a:ext cx="2743200" cy="457200"/>
          </a:xfrm>
          <a:prstGeom prst="rect">
            <a:avLst/>
          </a:prstGeom>
          <a:noFill/>
          <a:ln/>
        </p:spPr>
        <p:txBody>
          <a:bodyPr wrap="square" lIns="0" tIns="0" rIns="0" bIns="0" rtlCol="0" anchor="ctr"/>
          <a:lstStyle/>
          <a:p>
            <a:pPr marL="0" indent="0">
              <a:buNone/>
            </a:pPr>
            <a:r>
              <a:rPr lang="en-US" sz="2000" b="1" dirty="0">
                <a:solidFill>
                  <a:srgbClr val="1B2733"/>
                </a:solidFill>
                <a:latin typeface="Calibri" pitchFamily="34" charset="0"/>
                <a:ea typeface="Calibri" pitchFamily="34" charset="-122"/>
                <a:cs typeface="Calibri" pitchFamily="34" charset="-120"/>
              </a:rPr>
              <a:t>Smart Meter </a:t>
            </a:r>
            <a:endParaRPr lang="en-US" sz="2000" dirty="0"/>
          </a:p>
        </p:txBody>
      </p:sp>
      <p:sp>
        <p:nvSpPr>
          <p:cNvPr id="10" name="Text 8"/>
          <p:cNvSpPr txBox="1"/>
          <p:nvPr/>
        </p:nvSpPr>
        <p:spPr>
          <a:xfrm>
            <a:off x="4023360" y="2284983"/>
            <a:ext cx="7680960" cy="731520"/>
          </a:xfrm>
          <a:prstGeom prst="rect">
            <a:avLst/>
          </a:prstGeom>
          <a:noFill/>
          <a:ln/>
        </p:spPr>
        <p:txBody>
          <a:bodyPr wrap="square" lIns="0" tIns="0" rIns="0" bIns="0" rtlCol="0" anchor="ctr"/>
          <a:lstStyle/>
          <a:p>
            <a:pPr marL="0" indent="0">
              <a:buNone/>
            </a:pPr>
            <a:r>
              <a:rPr lang="en-US" dirty="0"/>
              <a:t>Smart devices for load disaggregation , electrical theft , smart forecasting.</a:t>
            </a:r>
          </a:p>
        </p:txBody>
      </p:sp>
      <p:sp>
        <p:nvSpPr>
          <p:cNvPr id="11" name="Shape 9"/>
          <p:cNvSpPr/>
          <p:nvPr/>
        </p:nvSpPr>
        <p:spPr>
          <a:xfrm>
            <a:off x="694605" y="3325284"/>
            <a:ext cx="310896" cy="310896"/>
          </a:xfrm>
          <a:prstGeom prst="ellipse">
            <a:avLst/>
          </a:prstGeom>
          <a:solidFill>
            <a:srgbClr val="2E7D32"/>
          </a:solidFill>
          <a:ln/>
        </p:spPr>
        <p:txBody>
          <a:bodyPr/>
          <a:lstStyle/>
          <a:p>
            <a:endParaRPr lang="ar-SA" sz="2000"/>
          </a:p>
        </p:txBody>
      </p:sp>
      <p:sp>
        <p:nvSpPr>
          <p:cNvPr id="12" name="Text 10"/>
          <p:cNvSpPr txBox="1"/>
          <p:nvPr/>
        </p:nvSpPr>
        <p:spPr>
          <a:xfrm>
            <a:off x="1115568" y="3254079"/>
            <a:ext cx="2743200" cy="457200"/>
          </a:xfrm>
          <a:prstGeom prst="rect">
            <a:avLst/>
          </a:prstGeom>
          <a:noFill/>
          <a:ln/>
        </p:spPr>
        <p:txBody>
          <a:bodyPr wrap="square" lIns="0" tIns="0" rIns="0" bIns="0" rtlCol="0" anchor="ctr"/>
          <a:lstStyle/>
          <a:p>
            <a:pPr marL="0" indent="0">
              <a:buNone/>
            </a:pPr>
            <a:r>
              <a:rPr lang="en-US" sz="2000" b="1" dirty="0">
                <a:solidFill>
                  <a:srgbClr val="1B2733"/>
                </a:solidFill>
                <a:latin typeface="Calibri" pitchFamily="34" charset="0"/>
                <a:ea typeface="Calibri" pitchFamily="34" charset="-122"/>
                <a:cs typeface="Calibri" pitchFamily="34" charset="-120"/>
              </a:rPr>
              <a:t>Renewable integration</a:t>
            </a:r>
            <a:endParaRPr lang="en-US" sz="2000" dirty="0"/>
          </a:p>
        </p:txBody>
      </p:sp>
      <p:sp>
        <p:nvSpPr>
          <p:cNvPr id="13" name="Text 11"/>
          <p:cNvSpPr txBox="1"/>
          <p:nvPr/>
        </p:nvSpPr>
        <p:spPr>
          <a:xfrm>
            <a:off x="4023360" y="3084237"/>
            <a:ext cx="7680960" cy="731520"/>
          </a:xfrm>
          <a:prstGeom prst="rect">
            <a:avLst/>
          </a:prstGeom>
          <a:noFill/>
          <a:ln/>
        </p:spPr>
        <p:txBody>
          <a:bodyPr wrap="square" lIns="0" tIns="0" rIns="0" bIns="0" rtlCol="0" anchor="ctr"/>
          <a:lstStyle/>
          <a:p>
            <a:pPr marL="0" indent="0">
              <a:buNone/>
            </a:pPr>
            <a:r>
              <a:rPr lang="en-US" dirty="0">
                <a:solidFill>
                  <a:srgbClr val="1B2733"/>
                </a:solidFill>
                <a:latin typeface="Calibri" pitchFamily="34" charset="0"/>
                <a:ea typeface="Calibri" pitchFamily="34" charset="-122"/>
                <a:cs typeface="Calibri" pitchFamily="34" charset="-120"/>
              </a:rPr>
              <a:t>PV + battery on a 60-Hz LV network needs grid-forming control, islanding logic and protection coordination.</a:t>
            </a:r>
            <a:endParaRPr lang="en-US" dirty="0"/>
          </a:p>
        </p:txBody>
      </p:sp>
      <p:sp>
        <p:nvSpPr>
          <p:cNvPr id="14" name="Shape 12"/>
          <p:cNvSpPr/>
          <p:nvPr/>
        </p:nvSpPr>
        <p:spPr>
          <a:xfrm>
            <a:off x="694605" y="4154848"/>
            <a:ext cx="310896" cy="310896"/>
          </a:xfrm>
          <a:prstGeom prst="ellipse">
            <a:avLst/>
          </a:prstGeom>
          <a:solidFill>
            <a:srgbClr val="0097A7"/>
          </a:solidFill>
          <a:ln/>
        </p:spPr>
        <p:txBody>
          <a:bodyPr/>
          <a:lstStyle/>
          <a:p>
            <a:endParaRPr lang="ar-SA" sz="2000"/>
          </a:p>
        </p:txBody>
      </p:sp>
      <p:sp>
        <p:nvSpPr>
          <p:cNvPr id="15" name="Text 13"/>
          <p:cNvSpPr txBox="1"/>
          <p:nvPr/>
        </p:nvSpPr>
        <p:spPr>
          <a:xfrm>
            <a:off x="1115568" y="4073059"/>
            <a:ext cx="2743200" cy="457200"/>
          </a:xfrm>
          <a:prstGeom prst="rect">
            <a:avLst/>
          </a:prstGeom>
          <a:noFill/>
          <a:ln/>
        </p:spPr>
        <p:txBody>
          <a:bodyPr wrap="square" lIns="0" tIns="0" rIns="0" bIns="0" rtlCol="0" anchor="ctr"/>
          <a:lstStyle/>
          <a:p>
            <a:pPr marL="0" indent="0">
              <a:buNone/>
            </a:pPr>
            <a:r>
              <a:rPr lang="en-US" sz="2000" b="1" dirty="0">
                <a:solidFill>
                  <a:srgbClr val="1B2733"/>
                </a:solidFill>
                <a:latin typeface="Calibri" pitchFamily="34" charset="0"/>
                <a:ea typeface="Calibri" pitchFamily="34" charset="-122"/>
                <a:cs typeface="Calibri" pitchFamily="34" charset="-120"/>
              </a:rPr>
              <a:t>Energy visibility</a:t>
            </a:r>
            <a:endParaRPr lang="en-US" sz="2000" dirty="0"/>
          </a:p>
        </p:txBody>
      </p:sp>
      <p:sp>
        <p:nvSpPr>
          <p:cNvPr id="16" name="Text 14"/>
          <p:cNvSpPr txBox="1"/>
          <p:nvPr/>
        </p:nvSpPr>
        <p:spPr>
          <a:xfrm>
            <a:off x="4023360" y="4023360"/>
            <a:ext cx="7680960" cy="731520"/>
          </a:xfrm>
          <a:prstGeom prst="rect">
            <a:avLst/>
          </a:prstGeom>
          <a:noFill/>
          <a:ln/>
        </p:spPr>
        <p:txBody>
          <a:bodyPr wrap="square" lIns="0" tIns="0" rIns="0" bIns="0" rtlCol="0" anchor="ctr"/>
          <a:lstStyle/>
          <a:p>
            <a:pPr marL="0" indent="0">
              <a:buNone/>
            </a:pPr>
            <a:r>
              <a:rPr lang="en-US" dirty="0">
                <a:solidFill>
                  <a:srgbClr val="1B2733"/>
                </a:solidFill>
                <a:latin typeface="Calibri" pitchFamily="34" charset="0"/>
                <a:ea typeface="Calibri" pitchFamily="34" charset="-122"/>
                <a:cs typeface="Calibri" pitchFamily="34" charset="-120"/>
              </a:rPr>
              <a:t>Per-circuit metering + digital twin turn a panel into analysable data: power, PF, energy, alarms.</a:t>
            </a:r>
            <a:endParaRPr lang="en-US" dirty="0"/>
          </a:p>
        </p:txBody>
      </p:sp>
      <p:sp>
        <p:nvSpPr>
          <p:cNvPr id="18" name="Text 16"/>
          <p:cNvSpPr txBox="1"/>
          <p:nvPr/>
        </p:nvSpPr>
        <p:spPr>
          <a:xfrm>
            <a:off x="1115568" y="4892040"/>
            <a:ext cx="2743200" cy="457200"/>
          </a:xfrm>
          <a:prstGeom prst="rect">
            <a:avLst/>
          </a:prstGeom>
          <a:noFill/>
          <a:ln/>
        </p:spPr>
        <p:txBody>
          <a:bodyPr wrap="square" lIns="0" tIns="0" rIns="0" bIns="0" rtlCol="0" anchor="ctr"/>
          <a:lstStyle/>
          <a:p>
            <a:pPr marL="0" indent="0">
              <a:buNone/>
            </a:pPr>
            <a:r>
              <a:rPr lang="en-US" sz="2000" b="1" dirty="0">
                <a:solidFill>
                  <a:srgbClr val="1B2733"/>
                </a:solidFill>
                <a:latin typeface="Calibri" pitchFamily="34" charset="0"/>
                <a:ea typeface="Calibri" pitchFamily="34" charset="-122"/>
                <a:cs typeface="Calibri" pitchFamily="34" charset="-120"/>
              </a:rPr>
              <a:t>Smart Fault detection</a:t>
            </a:r>
            <a:endParaRPr lang="en-US" sz="2000" dirty="0"/>
          </a:p>
        </p:txBody>
      </p:sp>
      <p:sp>
        <p:nvSpPr>
          <p:cNvPr id="19" name="Text 17"/>
          <p:cNvSpPr txBox="1"/>
          <p:nvPr/>
        </p:nvSpPr>
        <p:spPr>
          <a:xfrm>
            <a:off x="4023360" y="4846320"/>
            <a:ext cx="7680960" cy="731520"/>
          </a:xfrm>
          <a:prstGeom prst="rect">
            <a:avLst/>
          </a:prstGeom>
          <a:noFill/>
          <a:ln/>
        </p:spPr>
        <p:txBody>
          <a:bodyPr wrap="square" lIns="0" tIns="0" rIns="0" bIns="0" rtlCol="0" anchor="ctr"/>
          <a:lstStyle/>
          <a:p>
            <a:pPr marL="0" indent="0">
              <a:buNone/>
            </a:pPr>
            <a:r>
              <a:rPr lang="en-US" dirty="0">
                <a:solidFill>
                  <a:srgbClr val="1B2733"/>
                </a:solidFill>
                <a:latin typeface="Calibri" pitchFamily="34" charset="0"/>
                <a:ea typeface="Calibri" pitchFamily="34" charset="-122"/>
                <a:cs typeface="Calibri" pitchFamily="34" charset="-120"/>
              </a:rPr>
              <a:t>Utilization of deep learning architecture for develop AI detection algorithm. </a:t>
            </a:r>
            <a:endParaRPr lang="en-US" dirty="0"/>
          </a:p>
        </p:txBody>
      </p:sp>
      <p:sp>
        <p:nvSpPr>
          <p:cNvPr id="23" name="Text 21"/>
          <p:cNvSpPr txBox="1"/>
          <p:nvPr/>
        </p:nvSpPr>
        <p:spPr>
          <a:xfrm>
            <a:off x="548640" y="6455664"/>
            <a:ext cx="9144000" cy="274320"/>
          </a:xfrm>
          <a:prstGeom prst="rect">
            <a:avLst/>
          </a:prstGeom>
          <a:noFill/>
          <a:ln/>
        </p:spPr>
        <p:txBody>
          <a:bodyPr wrap="square" lIns="0" tIns="0" rIns="0" bIns="0" rtlCol="0" anchor="ctr"/>
          <a:lstStyle/>
          <a:p>
            <a:pPr marL="0" indent="0">
              <a:buNone/>
            </a:pPr>
            <a:r>
              <a:rPr lang="en-US" sz="900" dirty="0">
                <a:solidFill>
                  <a:srgbClr val="5F6B76"/>
                </a:solidFill>
                <a:latin typeface="Calibri" pitchFamily="34" charset="0"/>
                <a:ea typeface="Calibri" pitchFamily="34" charset="-122"/>
                <a:cs typeface="Calibri" pitchFamily="34" charset="-120"/>
              </a:rPr>
              <a:t>Future Energy Lab  ·  PSAU College of Engineering  ·  Electrical Engineering</a:t>
            </a:r>
            <a:endParaRPr lang="en-US" sz="900" dirty="0"/>
          </a:p>
        </p:txBody>
      </p:sp>
      <p:sp>
        <p:nvSpPr>
          <p:cNvPr id="24" name="Text 22"/>
          <p:cNvSpPr txBox="1"/>
          <p:nvPr/>
        </p:nvSpPr>
        <p:spPr>
          <a:xfrm>
            <a:off x="11430000" y="6455664"/>
            <a:ext cx="457200" cy="274320"/>
          </a:xfrm>
          <a:prstGeom prst="rect">
            <a:avLst/>
          </a:prstGeom>
          <a:noFill/>
          <a:ln/>
        </p:spPr>
        <p:txBody>
          <a:bodyPr wrap="square" lIns="0" tIns="0" rIns="0" bIns="0" rtlCol="0" anchor="ctr"/>
          <a:lstStyle/>
          <a:p>
            <a:pPr marL="0" indent="0" algn="r">
              <a:buNone/>
            </a:pPr>
            <a:r>
              <a:rPr lang="en-US" sz="900" dirty="0">
                <a:solidFill>
                  <a:srgbClr val="5F6B76"/>
                </a:solidFill>
                <a:latin typeface="Calibri" pitchFamily="34" charset="0"/>
                <a:ea typeface="Calibri" pitchFamily="34" charset="-122"/>
                <a:cs typeface="Calibri" pitchFamily="34" charset="-120"/>
              </a:rPr>
              <a:t>2</a:t>
            </a:r>
            <a:endParaRPr lang="en-US" sz="900" dirty="0"/>
          </a:p>
        </p:txBody>
      </p:sp>
      <p:sp>
        <p:nvSpPr>
          <p:cNvPr id="27" name="Shape 9">
            <a:extLst>
              <a:ext uri="{FF2B5EF4-FFF2-40B4-BE49-F238E27FC236}">
                <a16:creationId xmlns:a16="http://schemas.microsoft.com/office/drawing/2014/main" id="{8C45AF32-6009-692B-16B3-DE2E8A7D75B8}"/>
              </a:ext>
            </a:extLst>
          </p:cNvPr>
          <p:cNvSpPr/>
          <p:nvPr/>
        </p:nvSpPr>
        <p:spPr>
          <a:xfrm>
            <a:off x="694605" y="2496312"/>
            <a:ext cx="310896" cy="310896"/>
          </a:xfrm>
          <a:prstGeom prst="ellipse">
            <a:avLst/>
          </a:prstGeom>
          <a:solidFill>
            <a:srgbClr val="1F3A5F"/>
          </a:solidFill>
          <a:ln/>
        </p:spPr>
        <p:txBody>
          <a:bodyPr/>
          <a:lstStyle/>
          <a:p>
            <a:endParaRPr lang="ar-SA"/>
          </a:p>
        </p:txBody>
      </p:sp>
      <p:sp>
        <p:nvSpPr>
          <p:cNvPr id="28" name="Shape 9">
            <a:extLst>
              <a:ext uri="{FF2B5EF4-FFF2-40B4-BE49-F238E27FC236}">
                <a16:creationId xmlns:a16="http://schemas.microsoft.com/office/drawing/2014/main" id="{9FA8DADB-5BB1-D50D-E012-5AD74BC1AA34}"/>
              </a:ext>
            </a:extLst>
          </p:cNvPr>
          <p:cNvSpPr/>
          <p:nvPr/>
        </p:nvSpPr>
        <p:spPr>
          <a:xfrm>
            <a:off x="694605" y="4965192"/>
            <a:ext cx="310896" cy="310896"/>
          </a:xfrm>
          <a:prstGeom prst="ellipse">
            <a:avLst/>
          </a:prstGeom>
          <a:solidFill>
            <a:srgbClr val="C00000"/>
          </a:solidFill>
          <a:ln/>
        </p:spPr>
        <p:txBody>
          <a:bodyPr/>
          <a:lstStyle/>
          <a:p>
            <a:endParaRPr lang="ar-SA" sz="2000">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256032" cy="256032"/>
          </a:xfrm>
          <a:prstGeom prst="ellipse">
            <a:avLst/>
          </a:prstGeom>
          <a:solidFill>
            <a:srgbClr val="1F3A5F"/>
          </a:solidFill>
          <a:ln/>
        </p:spPr>
        <p:txBody>
          <a:bodyPr/>
          <a:lstStyle/>
          <a:p>
            <a:endParaRPr lang="ar-SA"/>
          </a:p>
        </p:txBody>
      </p:sp>
      <p:sp>
        <p:nvSpPr>
          <p:cNvPr id="3" name="Text 1"/>
          <p:cNvSpPr txBox="1"/>
          <p:nvPr/>
        </p:nvSpPr>
        <p:spPr>
          <a:xfrm>
            <a:off x="896112" y="411480"/>
            <a:ext cx="7315200" cy="320040"/>
          </a:xfrm>
          <a:prstGeom prst="rect">
            <a:avLst/>
          </a:prstGeom>
          <a:noFill/>
          <a:ln/>
        </p:spPr>
        <p:txBody>
          <a:bodyPr wrap="square" lIns="0" tIns="0" rIns="0" bIns="0" rtlCol="0" anchor="ctr"/>
          <a:lstStyle/>
          <a:p>
            <a:pPr marL="0" indent="0">
              <a:buNone/>
            </a:pPr>
            <a:r>
              <a:rPr lang="en-US" sz="1200" b="1" kern="0" spc="200" dirty="0">
                <a:solidFill>
                  <a:srgbClr val="1F3A5F"/>
                </a:solidFill>
                <a:latin typeface="Calibri" pitchFamily="34" charset="0"/>
                <a:ea typeface="Calibri" pitchFamily="34" charset="-122"/>
                <a:cs typeface="Calibri" pitchFamily="34" charset="-120"/>
              </a:rPr>
              <a:t>SMART METER</a:t>
            </a:r>
            <a:endParaRPr lang="en-US" sz="1200" dirty="0"/>
          </a:p>
        </p:txBody>
      </p:sp>
      <p:sp>
        <p:nvSpPr>
          <p:cNvPr id="4" name="Text 2"/>
          <p:cNvSpPr txBox="1"/>
          <p:nvPr/>
        </p:nvSpPr>
        <p:spPr>
          <a:xfrm>
            <a:off x="548640" y="749808"/>
            <a:ext cx="8503920" cy="822960"/>
          </a:xfrm>
          <a:prstGeom prst="rect">
            <a:avLst/>
          </a:prstGeom>
          <a:noFill/>
          <a:ln/>
        </p:spPr>
        <p:txBody>
          <a:bodyPr wrap="square" lIns="0" tIns="0" rIns="0" bIns="0" rtlCol="0" anchor="ctr"/>
          <a:lstStyle/>
          <a:p>
            <a:pPr marL="0" indent="0">
              <a:buNone/>
            </a:pPr>
            <a:r>
              <a:rPr lang="en-US" sz="2800" b="1" dirty="0">
                <a:solidFill>
                  <a:srgbClr val="1B2733"/>
                </a:solidFill>
                <a:latin typeface="Cambria" pitchFamily="34" charset="0"/>
                <a:ea typeface="Cambria" pitchFamily="34" charset="-122"/>
                <a:cs typeface="Cambria" pitchFamily="34" charset="-120"/>
              </a:rPr>
              <a:t>Three Goals, One Data Foundation</a:t>
            </a:r>
            <a:endParaRPr lang="en-US" sz="2800" dirty="0"/>
          </a:p>
        </p:txBody>
      </p:sp>
      <p:sp>
        <p:nvSpPr>
          <p:cNvPr id="5" name="Shape 3"/>
          <p:cNvSpPr/>
          <p:nvPr/>
        </p:nvSpPr>
        <p:spPr>
          <a:xfrm>
            <a:off x="9052560" y="457200"/>
            <a:ext cx="2560320" cy="329184"/>
          </a:xfrm>
          <a:prstGeom prst="roundRect">
            <a:avLst>
              <a:gd name="adj" fmla="val 50000"/>
            </a:avLst>
          </a:prstGeom>
          <a:solidFill>
            <a:srgbClr val="2E7D32"/>
          </a:solidFill>
          <a:ln/>
        </p:spPr>
        <p:txBody>
          <a:bodyPr/>
          <a:lstStyle/>
          <a:p>
            <a:endParaRPr lang="ar-SA"/>
          </a:p>
        </p:txBody>
      </p:sp>
      <p:sp>
        <p:nvSpPr>
          <p:cNvPr id="6" name="Text 4"/>
          <p:cNvSpPr txBox="1"/>
          <p:nvPr/>
        </p:nvSpPr>
        <p:spPr>
          <a:xfrm>
            <a:off x="9052560" y="457200"/>
            <a:ext cx="256032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Data layer validated</a:t>
            </a:r>
            <a:endParaRPr lang="en-US" sz="950" dirty="0"/>
          </a:p>
        </p:txBody>
      </p:sp>
      <p:sp>
        <p:nvSpPr>
          <p:cNvPr id="7" name="Text 5"/>
          <p:cNvSpPr txBox="1"/>
          <p:nvPr/>
        </p:nvSpPr>
        <p:spPr>
          <a:xfrm>
            <a:off x="548640" y="1572768"/>
            <a:ext cx="11155680" cy="658368"/>
          </a:xfrm>
          <a:prstGeom prst="rect">
            <a:avLst/>
          </a:prstGeom>
          <a:noFill/>
          <a:ln/>
        </p:spPr>
        <p:txBody>
          <a:bodyPr wrap="square" lIns="0" tIns="0" rIns="0" bIns="0" rtlCol="0" anchor="ctr"/>
          <a:lstStyle/>
          <a:p>
            <a:pPr marL="0" indent="0">
              <a:buNone/>
            </a:pPr>
            <a:r>
              <a:rPr lang="en-US" sz="1250" i="1" dirty="0">
                <a:solidFill>
                  <a:srgbClr val="065A82"/>
                </a:solidFill>
                <a:latin typeface="Calibri" pitchFamily="34" charset="0"/>
                <a:ea typeface="Calibri" pitchFamily="34" charset="-122"/>
                <a:cs typeface="Calibri" pitchFamily="34" charset="-120"/>
              </a:rPr>
              <a:t>A smart meter's value is what it can infer from a single measurement point - but every inference model must be trained on per-appliance ground-truth data. The Future Energy Lab built a Data Setup to produce exactly that.</a:t>
            </a:r>
            <a:endParaRPr lang="en-US" sz="1250" dirty="0"/>
          </a:p>
        </p:txBody>
      </p:sp>
      <p:sp>
        <p:nvSpPr>
          <p:cNvPr id="8" name="Shape 6"/>
          <p:cNvSpPr/>
          <p:nvPr/>
        </p:nvSpPr>
        <p:spPr>
          <a:xfrm>
            <a:off x="548640" y="2331720"/>
            <a:ext cx="3520440" cy="1965960"/>
          </a:xfrm>
          <a:prstGeom prst="roundRect">
            <a:avLst>
              <a:gd name="adj" fmla="val 2326"/>
            </a:avLst>
          </a:prstGeom>
          <a:solidFill>
            <a:srgbClr val="F8EAEA"/>
          </a:solidFill>
          <a:ln w="12700">
            <a:solidFill>
              <a:srgbClr val="C9D6DE"/>
            </a:solidFill>
            <a:prstDash val="solid"/>
          </a:ln>
        </p:spPr>
        <p:txBody>
          <a:bodyPr/>
          <a:lstStyle/>
          <a:p>
            <a:endParaRPr lang="ar-SA"/>
          </a:p>
        </p:txBody>
      </p:sp>
      <p:sp>
        <p:nvSpPr>
          <p:cNvPr id="9" name="Shape 7"/>
          <p:cNvSpPr/>
          <p:nvPr/>
        </p:nvSpPr>
        <p:spPr>
          <a:xfrm>
            <a:off x="749808" y="2542032"/>
            <a:ext cx="310896" cy="310896"/>
          </a:xfrm>
          <a:prstGeom prst="ellipse">
            <a:avLst/>
          </a:prstGeom>
          <a:solidFill>
            <a:srgbClr val="C62828"/>
          </a:solidFill>
          <a:ln/>
        </p:spPr>
        <p:txBody>
          <a:bodyPr/>
          <a:lstStyle/>
          <a:p>
            <a:endParaRPr lang="ar-SA"/>
          </a:p>
        </p:txBody>
      </p:sp>
      <p:sp>
        <p:nvSpPr>
          <p:cNvPr id="10" name="Text 8"/>
          <p:cNvSpPr txBox="1"/>
          <p:nvPr/>
        </p:nvSpPr>
        <p:spPr>
          <a:xfrm>
            <a:off x="749808" y="2542032"/>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AF</a:t>
            </a:r>
            <a:endParaRPr lang="en-US" sz="800" dirty="0"/>
          </a:p>
        </p:txBody>
      </p:sp>
      <p:sp>
        <p:nvSpPr>
          <p:cNvPr id="11" name="Text 9"/>
          <p:cNvSpPr txBox="1"/>
          <p:nvPr/>
        </p:nvSpPr>
        <p:spPr>
          <a:xfrm>
            <a:off x="1170432" y="2505456"/>
            <a:ext cx="2743200" cy="457200"/>
          </a:xfrm>
          <a:prstGeom prst="rect">
            <a:avLst/>
          </a:prstGeom>
          <a:noFill/>
          <a:ln/>
        </p:spPr>
        <p:txBody>
          <a:bodyPr wrap="square" lIns="0" tIns="0" rIns="0" bIns="0" rtlCol="0" anchor="ctr"/>
          <a:lstStyle/>
          <a:p>
            <a:pPr marL="0" indent="0">
              <a:buNone/>
            </a:pPr>
            <a:r>
              <a:rPr lang="en-US" sz="1250" b="1" dirty="0">
                <a:solidFill>
                  <a:srgbClr val="1B2733"/>
                </a:solidFill>
                <a:latin typeface="Calibri" pitchFamily="34" charset="0"/>
                <a:ea typeface="Calibri" pitchFamily="34" charset="-122"/>
                <a:cs typeface="Calibri" pitchFamily="34" charset="-120"/>
              </a:rPr>
              <a:t>Electricity theft detection</a:t>
            </a:r>
            <a:endParaRPr lang="en-US" sz="1250" dirty="0"/>
          </a:p>
        </p:txBody>
      </p:sp>
      <p:sp>
        <p:nvSpPr>
          <p:cNvPr id="12" name="Text 10"/>
          <p:cNvSpPr txBox="1"/>
          <p:nvPr/>
        </p:nvSpPr>
        <p:spPr>
          <a:xfrm>
            <a:off x="749808" y="3017520"/>
            <a:ext cx="3108960" cy="1188720"/>
          </a:xfrm>
          <a:prstGeom prst="rect">
            <a:avLst/>
          </a:prstGeom>
          <a:noFill/>
          <a:ln/>
        </p:spPr>
        <p:txBody>
          <a:bodyPr wrap="square" lIns="0" tIns="0" rIns="0" bIns="0" rtlCol="0" anchor="ctr"/>
          <a:lstStyle/>
          <a:p>
            <a:pPr marL="0" indent="0">
              <a:buNone/>
            </a:pPr>
            <a:r>
              <a:rPr lang="en-US" sz="950" dirty="0">
                <a:solidFill>
                  <a:srgbClr val="1B2733"/>
                </a:solidFill>
                <a:latin typeface="Calibri" pitchFamily="34" charset="0"/>
                <a:ea typeface="Calibri" pitchFamily="34" charset="-122"/>
                <a:cs typeface="Calibri" pitchFamily="34" charset="-120"/>
              </a:rPr>
              <a:t>Detect tampering, bypass and abnormal consumption directly from the metered signal.</a:t>
            </a:r>
            <a:endParaRPr lang="en-US" sz="950" dirty="0"/>
          </a:p>
        </p:txBody>
      </p:sp>
      <p:sp>
        <p:nvSpPr>
          <p:cNvPr id="13" name="Shape 11"/>
          <p:cNvSpPr/>
          <p:nvPr/>
        </p:nvSpPr>
        <p:spPr>
          <a:xfrm>
            <a:off x="4315968" y="2331720"/>
            <a:ext cx="3520440" cy="1965960"/>
          </a:xfrm>
          <a:prstGeom prst="roundRect">
            <a:avLst>
              <a:gd name="adj" fmla="val 2326"/>
            </a:avLst>
          </a:prstGeom>
          <a:solidFill>
            <a:srgbClr val="E9F1E9"/>
          </a:solidFill>
          <a:ln w="12700">
            <a:solidFill>
              <a:srgbClr val="C9D6DE"/>
            </a:solidFill>
            <a:prstDash val="solid"/>
          </a:ln>
        </p:spPr>
        <p:txBody>
          <a:bodyPr/>
          <a:lstStyle/>
          <a:p>
            <a:endParaRPr lang="ar-SA"/>
          </a:p>
        </p:txBody>
      </p:sp>
      <p:sp>
        <p:nvSpPr>
          <p:cNvPr id="14" name="Shape 12"/>
          <p:cNvSpPr/>
          <p:nvPr/>
        </p:nvSpPr>
        <p:spPr>
          <a:xfrm>
            <a:off x="4517136" y="2542032"/>
            <a:ext cx="310896" cy="310896"/>
          </a:xfrm>
          <a:prstGeom prst="ellipse">
            <a:avLst/>
          </a:prstGeom>
          <a:solidFill>
            <a:srgbClr val="2E7D32"/>
          </a:solidFill>
          <a:ln/>
        </p:spPr>
        <p:txBody>
          <a:bodyPr/>
          <a:lstStyle/>
          <a:p>
            <a:endParaRPr lang="ar-SA"/>
          </a:p>
        </p:txBody>
      </p:sp>
      <p:sp>
        <p:nvSpPr>
          <p:cNvPr id="15" name="Text 13"/>
          <p:cNvSpPr txBox="1"/>
          <p:nvPr/>
        </p:nvSpPr>
        <p:spPr>
          <a:xfrm>
            <a:off x="4517136" y="2542032"/>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FC</a:t>
            </a:r>
            <a:endParaRPr lang="en-US" sz="800" dirty="0"/>
          </a:p>
        </p:txBody>
      </p:sp>
      <p:sp>
        <p:nvSpPr>
          <p:cNvPr id="16" name="Text 14"/>
          <p:cNvSpPr txBox="1"/>
          <p:nvPr/>
        </p:nvSpPr>
        <p:spPr>
          <a:xfrm>
            <a:off x="4937760" y="2505456"/>
            <a:ext cx="2743200" cy="457200"/>
          </a:xfrm>
          <a:prstGeom prst="rect">
            <a:avLst/>
          </a:prstGeom>
          <a:noFill/>
          <a:ln/>
        </p:spPr>
        <p:txBody>
          <a:bodyPr wrap="square" lIns="0" tIns="0" rIns="0" bIns="0" rtlCol="0" anchor="ctr"/>
          <a:lstStyle/>
          <a:p>
            <a:pPr marL="0" indent="0">
              <a:buNone/>
            </a:pPr>
            <a:r>
              <a:rPr lang="en-US" sz="1250" b="1" dirty="0">
                <a:solidFill>
                  <a:srgbClr val="1B2733"/>
                </a:solidFill>
                <a:latin typeface="Calibri" pitchFamily="34" charset="0"/>
                <a:ea typeface="Calibri" pitchFamily="34" charset="-122"/>
                <a:cs typeface="Calibri" pitchFamily="34" charset="-120"/>
              </a:rPr>
              <a:t>Load forecasting</a:t>
            </a:r>
            <a:endParaRPr lang="en-US" sz="1250" dirty="0"/>
          </a:p>
        </p:txBody>
      </p:sp>
      <p:sp>
        <p:nvSpPr>
          <p:cNvPr id="17" name="Text 15"/>
          <p:cNvSpPr txBox="1"/>
          <p:nvPr/>
        </p:nvSpPr>
        <p:spPr>
          <a:xfrm>
            <a:off x="4517136" y="3017520"/>
            <a:ext cx="3108960" cy="1188720"/>
          </a:xfrm>
          <a:prstGeom prst="rect">
            <a:avLst/>
          </a:prstGeom>
          <a:noFill/>
          <a:ln/>
        </p:spPr>
        <p:txBody>
          <a:bodyPr wrap="square" lIns="0" tIns="0" rIns="0" bIns="0" rtlCol="0" anchor="ctr"/>
          <a:lstStyle/>
          <a:p>
            <a:pPr marL="0" indent="0">
              <a:buNone/>
            </a:pPr>
            <a:r>
              <a:rPr lang="en-US" sz="950" dirty="0">
                <a:solidFill>
                  <a:srgbClr val="1B2733"/>
                </a:solidFill>
                <a:latin typeface="Calibri" pitchFamily="34" charset="0"/>
                <a:ea typeface="Calibri" pitchFamily="34" charset="-122"/>
                <a:cs typeface="Calibri" pitchFamily="34" charset="-120"/>
              </a:rPr>
              <a:t>Predict consumption for network planning, time-of-use tariffs and demand response (demand modelling).</a:t>
            </a:r>
            <a:endParaRPr lang="en-US" sz="950" dirty="0"/>
          </a:p>
        </p:txBody>
      </p:sp>
      <p:sp>
        <p:nvSpPr>
          <p:cNvPr id="18" name="Shape 16"/>
          <p:cNvSpPr/>
          <p:nvPr/>
        </p:nvSpPr>
        <p:spPr>
          <a:xfrm>
            <a:off x="8083296" y="2331720"/>
            <a:ext cx="3520440" cy="1965960"/>
          </a:xfrm>
          <a:prstGeom prst="roundRect">
            <a:avLst>
              <a:gd name="adj" fmla="val 2326"/>
            </a:avLst>
          </a:prstGeom>
          <a:solidFill>
            <a:srgbClr val="E4F3F5"/>
          </a:solidFill>
          <a:ln w="12700">
            <a:solidFill>
              <a:srgbClr val="C9D6DE"/>
            </a:solidFill>
            <a:prstDash val="solid"/>
          </a:ln>
        </p:spPr>
        <p:txBody>
          <a:bodyPr/>
          <a:lstStyle/>
          <a:p>
            <a:endParaRPr lang="ar-SA"/>
          </a:p>
        </p:txBody>
      </p:sp>
      <p:sp>
        <p:nvSpPr>
          <p:cNvPr id="19" name="Shape 17"/>
          <p:cNvSpPr/>
          <p:nvPr/>
        </p:nvSpPr>
        <p:spPr>
          <a:xfrm>
            <a:off x="8284464" y="2542032"/>
            <a:ext cx="310896" cy="310896"/>
          </a:xfrm>
          <a:prstGeom prst="ellipse">
            <a:avLst/>
          </a:prstGeom>
          <a:solidFill>
            <a:srgbClr val="0097A7"/>
          </a:solidFill>
          <a:ln/>
        </p:spPr>
        <p:txBody>
          <a:bodyPr/>
          <a:lstStyle/>
          <a:p>
            <a:endParaRPr lang="ar-SA"/>
          </a:p>
        </p:txBody>
      </p:sp>
      <p:sp>
        <p:nvSpPr>
          <p:cNvPr id="20" name="Text 18"/>
          <p:cNvSpPr txBox="1"/>
          <p:nvPr/>
        </p:nvSpPr>
        <p:spPr>
          <a:xfrm>
            <a:off x="8284464" y="2542032"/>
            <a:ext cx="31089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ND</a:t>
            </a:r>
            <a:endParaRPr lang="en-US" sz="800" dirty="0"/>
          </a:p>
        </p:txBody>
      </p:sp>
      <p:sp>
        <p:nvSpPr>
          <p:cNvPr id="21" name="Text 19"/>
          <p:cNvSpPr txBox="1"/>
          <p:nvPr/>
        </p:nvSpPr>
        <p:spPr>
          <a:xfrm>
            <a:off x="8705088" y="2505456"/>
            <a:ext cx="2743200" cy="457200"/>
          </a:xfrm>
          <a:prstGeom prst="rect">
            <a:avLst/>
          </a:prstGeom>
          <a:noFill/>
          <a:ln/>
        </p:spPr>
        <p:txBody>
          <a:bodyPr wrap="square" lIns="0" tIns="0" rIns="0" bIns="0" rtlCol="0" anchor="ctr"/>
          <a:lstStyle/>
          <a:p>
            <a:pPr marL="0" indent="0">
              <a:buNone/>
            </a:pPr>
            <a:r>
              <a:rPr lang="en-US" sz="1250" b="1" dirty="0">
                <a:solidFill>
                  <a:srgbClr val="1B2733"/>
                </a:solidFill>
                <a:latin typeface="Calibri" pitchFamily="34" charset="0"/>
                <a:ea typeface="Calibri" pitchFamily="34" charset="-122"/>
                <a:cs typeface="Calibri" pitchFamily="34" charset="-120"/>
              </a:rPr>
              <a:t>Load disaggregation (NILM)</a:t>
            </a:r>
            <a:endParaRPr lang="en-US" sz="1250" dirty="0"/>
          </a:p>
        </p:txBody>
      </p:sp>
      <p:sp>
        <p:nvSpPr>
          <p:cNvPr id="22" name="Text 20"/>
          <p:cNvSpPr txBox="1"/>
          <p:nvPr/>
        </p:nvSpPr>
        <p:spPr>
          <a:xfrm>
            <a:off x="8284464" y="3017520"/>
            <a:ext cx="3108960" cy="1188720"/>
          </a:xfrm>
          <a:prstGeom prst="rect">
            <a:avLst/>
          </a:prstGeom>
          <a:noFill/>
          <a:ln/>
        </p:spPr>
        <p:txBody>
          <a:bodyPr wrap="square" lIns="0" tIns="0" rIns="0" bIns="0" rtlCol="0" anchor="ctr"/>
          <a:lstStyle/>
          <a:p>
            <a:pPr marL="0" indent="0">
              <a:buNone/>
            </a:pPr>
            <a:r>
              <a:rPr lang="en-US" sz="950" dirty="0">
                <a:solidFill>
                  <a:srgbClr val="1B2733"/>
                </a:solidFill>
                <a:latin typeface="Calibri" pitchFamily="34" charset="0"/>
                <a:ea typeface="Calibri" pitchFamily="34" charset="-122"/>
                <a:cs typeface="Calibri" pitchFamily="34" charset="-120"/>
              </a:rPr>
              <a:t>Break the aggregate signal into individual appliances from one metering point.</a:t>
            </a:r>
            <a:endParaRPr lang="en-US" sz="950" dirty="0"/>
          </a:p>
        </p:txBody>
      </p:sp>
      <p:sp>
        <p:nvSpPr>
          <p:cNvPr id="23" name="Shape 21"/>
          <p:cNvSpPr/>
          <p:nvPr/>
        </p:nvSpPr>
        <p:spPr>
          <a:xfrm>
            <a:off x="548640" y="4526280"/>
            <a:ext cx="11109960" cy="914400"/>
          </a:xfrm>
          <a:prstGeom prst="roundRect">
            <a:avLst>
              <a:gd name="adj" fmla="val 6000"/>
            </a:avLst>
          </a:prstGeom>
          <a:solidFill>
            <a:srgbClr val="EEF3F6"/>
          </a:solidFill>
          <a:ln w="12700">
            <a:solidFill>
              <a:srgbClr val="C9D6DE"/>
            </a:solidFill>
            <a:prstDash val="solid"/>
          </a:ln>
        </p:spPr>
        <p:txBody>
          <a:bodyPr/>
          <a:lstStyle/>
          <a:p>
            <a:endParaRPr lang="ar-SA"/>
          </a:p>
        </p:txBody>
      </p:sp>
      <p:sp>
        <p:nvSpPr>
          <p:cNvPr id="24" name="Text 22"/>
          <p:cNvSpPr txBox="1"/>
          <p:nvPr/>
        </p:nvSpPr>
        <p:spPr>
          <a:xfrm>
            <a:off x="777240" y="4526280"/>
            <a:ext cx="10698480" cy="914400"/>
          </a:xfrm>
          <a:prstGeom prst="rect">
            <a:avLst/>
          </a:prstGeom>
          <a:noFill/>
          <a:ln/>
        </p:spPr>
        <p:txBody>
          <a:bodyPr wrap="square" lIns="0" tIns="0" rIns="0" bIns="0" rtlCol="0" anchor="ctr"/>
          <a:lstStyle/>
          <a:p>
            <a:pPr marL="0" indent="0">
              <a:buNone/>
            </a:pPr>
            <a:r>
              <a:rPr lang="en-US" sz="1100" b="1" dirty="0">
                <a:solidFill>
                  <a:srgbClr val="1F3A5F"/>
                </a:solidFill>
                <a:latin typeface="Calibri" pitchFamily="34" charset="0"/>
                <a:ea typeface="Calibri" pitchFamily="34" charset="-122"/>
                <a:cs typeface="Calibri" pitchFamily="34" charset="-120"/>
              </a:rPr>
              <a:t>All three need the same thing:  </a:t>
            </a:r>
            <a:r>
              <a:rPr lang="en-US" sz="1100" dirty="0">
                <a:solidFill>
                  <a:srgbClr val="1B2733"/>
                </a:solidFill>
                <a:latin typeface="Calibri" pitchFamily="34" charset="0"/>
                <a:ea typeface="Calibri" pitchFamily="34" charset="-122"/>
                <a:cs typeface="Calibri" pitchFamily="34" charset="-120"/>
              </a:rPr>
              <a:t>a labelled, synchronised, per-appliance active-power dataset with known switching events.
</a:t>
            </a:r>
            <a:r>
              <a:rPr lang="en-US" sz="1100" b="1" dirty="0">
                <a:solidFill>
                  <a:srgbClr val="1F3A5F"/>
                </a:solidFill>
                <a:latin typeface="Calibri" pitchFamily="34" charset="0"/>
                <a:ea typeface="Calibri" pitchFamily="34" charset="-122"/>
                <a:cs typeface="Calibri" pitchFamily="34" charset="-120"/>
              </a:rPr>
              <a:t>-&gt; Build a Data Setup: </a:t>
            </a:r>
            <a:r>
              <a:rPr lang="en-US" sz="1100" dirty="0">
                <a:solidFill>
                  <a:srgbClr val="1B2733"/>
                </a:solidFill>
                <a:latin typeface="Calibri" pitchFamily="34" charset="0"/>
                <a:ea typeface="Calibri" pitchFamily="34" charset="-122"/>
                <a:cs typeface="Calibri" pitchFamily="34" charset="-120"/>
              </a:rPr>
              <a:t>an open, reproducible edge rig that isolates, switches and continuously logs each appliance's power signature.</a:t>
            </a:r>
            <a:endParaRPr lang="en-US" sz="1100" dirty="0"/>
          </a:p>
        </p:txBody>
      </p:sp>
      <p:sp>
        <p:nvSpPr>
          <p:cNvPr id="25" name="Text 23"/>
          <p:cNvSpPr txBox="1"/>
          <p:nvPr/>
        </p:nvSpPr>
        <p:spPr>
          <a:xfrm>
            <a:off x="548640" y="5596128"/>
            <a:ext cx="4572000" cy="274320"/>
          </a:xfrm>
          <a:prstGeom prst="rect">
            <a:avLst/>
          </a:prstGeom>
          <a:noFill/>
          <a:ln/>
        </p:spPr>
        <p:txBody>
          <a:bodyPr wrap="square" lIns="0" tIns="0" rIns="0" bIns="0" rtlCol="0" anchor="ctr"/>
          <a:lstStyle/>
          <a:p>
            <a:pPr marL="0" indent="0">
              <a:buNone/>
            </a:pPr>
            <a:r>
              <a:rPr lang="en-US" sz="1000" b="1" kern="0" spc="100" dirty="0">
                <a:solidFill>
                  <a:srgbClr val="1F3A5F"/>
                </a:solidFill>
                <a:latin typeface="Calibri" pitchFamily="34" charset="0"/>
                <a:ea typeface="Calibri" pitchFamily="34" charset="-122"/>
                <a:cs typeface="Calibri" pitchFamily="34" charset="-120"/>
              </a:rPr>
              <a:t>IMPLEMENTATION PATH</a:t>
            </a:r>
            <a:endParaRPr lang="en-US" sz="1000" dirty="0"/>
          </a:p>
        </p:txBody>
      </p:sp>
      <p:sp>
        <p:nvSpPr>
          <p:cNvPr id="26" name="Shape 24"/>
          <p:cNvSpPr/>
          <p:nvPr/>
        </p:nvSpPr>
        <p:spPr>
          <a:xfrm>
            <a:off x="548640" y="5897880"/>
            <a:ext cx="3474720" cy="868680"/>
          </a:xfrm>
          <a:prstGeom prst="roundRect">
            <a:avLst>
              <a:gd name="adj" fmla="val 6316"/>
            </a:avLst>
          </a:prstGeom>
          <a:solidFill>
            <a:srgbClr val="E9ECF4"/>
          </a:solidFill>
          <a:ln w="19050">
            <a:solidFill>
              <a:srgbClr val="1F3A5F"/>
            </a:solidFill>
            <a:prstDash val="solid"/>
          </a:ln>
        </p:spPr>
        <p:txBody>
          <a:bodyPr/>
          <a:lstStyle/>
          <a:p>
            <a:endParaRPr lang="ar-SA"/>
          </a:p>
        </p:txBody>
      </p:sp>
      <p:sp>
        <p:nvSpPr>
          <p:cNvPr id="27" name="Shape 25"/>
          <p:cNvSpPr/>
          <p:nvPr/>
        </p:nvSpPr>
        <p:spPr>
          <a:xfrm>
            <a:off x="713232" y="6117336"/>
            <a:ext cx="420624" cy="420624"/>
          </a:xfrm>
          <a:prstGeom prst="ellipse">
            <a:avLst/>
          </a:prstGeom>
          <a:solidFill>
            <a:srgbClr val="1F3A5F"/>
          </a:solidFill>
          <a:ln/>
        </p:spPr>
        <p:txBody>
          <a:bodyPr/>
          <a:lstStyle/>
          <a:p>
            <a:endParaRPr lang="ar-SA"/>
          </a:p>
        </p:txBody>
      </p:sp>
      <p:sp>
        <p:nvSpPr>
          <p:cNvPr id="28" name="Text 26"/>
          <p:cNvSpPr txBox="1"/>
          <p:nvPr/>
        </p:nvSpPr>
        <p:spPr>
          <a:xfrm>
            <a:off x="713232" y="611733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29" name="Text 27"/>
          <p:cNvSpPr txBox="1"/>
          <p:nvPr/>
        </p:nvSpPr>
        <p:spPr>
          <a:xfrm>
            <a:off x="1261872" y="6007608"/>
            <a:ext cx="2651760" cy="658368"/>
          </a:xfrm>
          <a:prstGeom prst="rect">
            <a:avLst/>
          </a:prstGeom>
          <a:noFill/>
          <a:ln/>
        </p:spPr>
        <p:txBody>
          <a:bodyPr wrap="square" lIns="0" tIns="0" rIns="0" bIns="0" rtlCol="0" anchor="ctr"/>
          <a:lstStyle/>
          <a:p>
            <a:pPr marL="0" indent="0">
              <a:buNone/>
            </a:pPr>
            <a:r>
              <a:rPr lang="en-US" sz="1150" b="1" dirty="0">
                <a:solidFill>
                  <a:srgbClr val="1B2733"/>
                </a:solidFill>
                <a:latin typeface="Calibri" pitchFamily="34" charset="0"/>
                <a:ea typeface="Calibri" pitchFamily="34" charset="-122"/>
                <a:cs typeface="Calibri" pitchFamily="34" charset="-120"/>
              </a:rPr>
              <a:t>Collect data  </a:t>
            </a:r>
            <a:r>
              <a:rPr lang="en-US" sz="850" dirty="0">
                <a:solidFill>
                  <a:srgbClr val="5F6B76"/>
                </a:solidFill>
                <a:latin typeface="Calibri" pitchFamily="34" charset="0"/>
                <a:ea typeface="Calibri" pitchFamily="34" charset="-122"/>
                <a:cs typeface="Calibri" pitchFamily="34" charset="-120"/>
              </a:rPr>
              <a:t>the Data Setup rig</a:t>
            </a:r>
            <a:endParaRPr lang="en-US" sz="1150" dirty="0"/>
          </a:p>
        </p:txBody>
      </p:sp>
      <p:sp>
        <p:nvSpPr>
          <p:cNvPr id="30" name="Shape 28"/>
          <p:cNvSpPr/>
          <p:nvPr/>
        </p:nvSpPr>
        <p:spPr>
          <a:xfrm>
            <a:off x="4050792" y="6199632"/>
            <a:ext cx="219456" cy="256032"/>
          </a:xfrm>
          <a:prstGeom prst="chevron">
            <a:avLst/>
          </a:prstGeom>
          <a:solidFill>
            <a:srgbClr val="5F6B76"/>
          </a:solidFill>
          <a:ln/>
        </p:spPr>
        <p:txBody>
          <a:bodyPr/>
          <a:lstStyle/>
          <a:p>
            <a:endParaRPr lang="ar-SA"/>
          </a:p>
        </p:txBody>
      </p:sp>
      <p:sp>
        <p:nvSpPr>
          <p:cNvPr id="31" name="Shape 29"/>
          <p:cNvSpPr/>
          <p:nvPr/>
        </p:nvSpPr>
        <p:spPr>
          <a:xfrm>
            <a:off x="4315968" y="5897880"/>
            <a:ext cx="3474720" cy="868680"/>
          </a:xfrm>
          <a:prstGeom prst="roundRect">
            <a:avLst>
              <a:gd name="adj" fmla="val 6316"/>
            </a:avLst>
          </a:prstGeom>
          <a:solidFill>
            <a:srgbClr val="E9ECF4"/>
          </a:solidFill>
          <a:ln w="19050">
            <a:solidFill>
              <a:srgbClr val="1F3A5F"/>
            </a:solidFill>
            <a:prstDash val="solid"/>
          </a:ln>
        </p:spPr>
        <p:txBody>
          <a:bodyPr/>
          <a:lstStyle/>
          <a:p>
            <a:endParaRPr lang="ar-SA"/>
          </a:p>
        </p:txBody>
      </p:sp>
      <p:sp>
        <p:nvSpPr>
          <p:cNvPr id="32" name="Shape 30"/>
          <p:cNvSpPr/>
          <p:nvPr/>
        </p:nvSpPr>
        <p:spPr>
          <a:xfrm>
            <a:off x="4480560" y="6117336"/>
            <a:ext cx="420624" cy="420624"/>
          </a:xfrm>
          <a:prstGeom prst="ellipse">
            <a:avLst/>
          </a:prstGeom>
          <a:solidFill>
            <a:srgbClr val="1F3A5F"/>
          </a:solidFill>
          <a:ln/>
        </p:spPr>
        <p:txBody>
          <a:bodyPr/>
          <a:lstStyle/>
          <a:p>
            <a:endParaRPr lang="ar-SA"/>
          </a:p>
        </p:txBody>
      </p:sp>
      <p:sp>
        <p:nvSpPr>
          <p:cNvPr id="33" name="Text 31"/>
          <p:cNvSpPr txBox="1"/>
          <p:nvPr/>
        </p:nvSpPr>
        <p:spPr>
          <a:xfrm>
            <a:off x="4480560" y="611733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34" name="Text 32"/>
          <p:cNvSpPr txBox="1"/>
          <p:nvPr/>
        </p:nvSpPr>
        <p:spPr>
          <a:xfrm>
            <a:off x="5029200" y="6007608"/>
            <a:ext cx="2651760" cy="658368"/>
          </a:xfrm>
          <a:prstGeom prst="rect">
            <a:avLst/>
          </a:prstGeom>
          <a:noFill/>
          <a:ln/>
        </p:spPr>
        <p:txBody>
          <a:bodyPr wrap="square" lIns="0" tIns="0" rIns="0" bIns="0" rtlCol="0" anchor="ctr"/>
          <a:lstStyle/>
          <a:p>
            <a:pPr marL="0" indent="0">
              <a:buNone/>
            </a:pPr>
            <a:r>
              <a:rPr lang="en-US" sz="1150" b="1" dirty="0">
                <a:solidFill>
                  <a:srgbClr val="1B2733"/>
                </a:solidFill>
                <a:latin typeface="Calibri" pitchFamily="34" charset="0"/>
                <a:ea typeface="Calibri" pitchFamily="34" charset="-122"/>
                <a:cs typeface="Calibri" pitchFamily="34" charset="-120"/>
              </a:rPr>
              <a:t>Develop a model  </a:t>
            </a:r>
            <a:r>
              <a:rPr lang="en-US" sz="850" dirty="0">
                <a:solidFill>
                  <a:srgbClr val="5F6B76"/>
                </a:solidFill>
                <a:latin typeface="Calibri" pitchFamily="34" charset="0"/>
                <a:ea typeface="Calibri" pitchFamily="34" charset="-122"/>
                <a:cs typeface="Calibri" pitchFamily="34" charset="-120"/>
              </a:rPr>
              <a:t>train on the dataset</a:t>
            </a:r>
            <a:endParaRPr lang="en-US" sz="1150" dirty="0"/>
          </a:p>
        </p:txBody>
      </p:sp>
      <p:sp>
        <p:nvSpPr>
          <p:cNvPr id="35" name="Shape 33"/>
          <p:cNvSpPr/>
          <p:nvPr/>
        </p:nvSpPr>
        <p:spPr>
          <a:xfrm>
            <a:off x="7818120" y="6199632"/>
            <a:ext cx="219456" cy="256032"/>
          </a:xfrm>
          <a:prstGeom prst="chevron">
            <a:avLst/>
          </a:prstGeom>
          <a:solidFill>
            <a:srgbClr val="5F6B76"/>
          </a:solidFill>
          <a:ln/>
        </p:spPr>
        <p:txBody>
          <a:bodyPr/>
          <a:lstStyle/>
          <a:p>
            <a:endParaRPr lang="ar-SA"/>
          </a:p>
        </p:txBody>
      </p:sp>
      <p:sp>
        <p:nvSpPr>
          <p:cNvPr id="36" name="Shape 34"/>
          <p:cNvSpPr/>
          <p:nvPr/>
        </p:nvSpPr>
        <p:spPr>
          <a:xfrm>
            <a:off x="8083296" y="5897880"/>
            <a:ext cx="3474720" cy="868680"/>
          </a:xfrm>
          <a:prstGeom prst="roundRect">
            <a:avLst>
              <a:gd name="adj" fmla="val 6316"/>
            </a:avLst>
          </a:prstGeom>
          <a:solidFill>
            <a:srgbClr val="E9ECF4"/>
          </a:solidFill>
          <a:ln w="19050">
            <a:solidFill>
              <a:srgbClr val="1F3A5F"/>
            </a:solidFill>
            <a:prstDash val="solid"/>
          </a:ln>
        </p:spPr>
        <p:txBody>
          <a:bodyPr/>
          <a:lstStyle/>
          <a:p>
            <a:endParaRPr lang="ar-SA"/>
          </a:p>
        </p:txBody>
      </p:sp>
      <p:sp>
        <p:nvSpPr>
          <p:cNvPr id="37" name="Shape 35"/>
          <p:cNvSpPr/>
          <p:nvPr/>
        </p:nvSpPr>
        <p:spPr>
          <a:xfrm>
            <a:off x="8247888" y="6117336"/>
            <a:ext cx="420624" cy="420624"/>
          </a:xfrm>
          <a:prstGeom prst="ellipse">
            <a:avLst/>
          </a:prstGeom>
          <a:solidFill>
            <a:srgbClr val="1F3A5F"/>
          </a:solidFill>
          <a:ln/>
        </p:spPr>
        <p:txBody>
          <a:bodyPr/>
          <a:lstStyle/>
          <a:p>
            <a:endParaRPr lang="ar-SA"/>
          </a:p>
        </p:txBody>
      </p:sp>
      <p:sp>
        <p:nvSpPr>
          <p:cNvPr id="38" name="Text 36"/>
          <p:cNvSpPr txBox="1"/>
          <p:nvPr/>
        </p:nvSpPr>
        <p:spPr>
          <a:xfrm>
            <a:off x="8247888" y="611733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39" name="Text 37"/>
          <p:cNvSpPr txBox="1"/>
          <p:nvPr/>
        </p:nvSpPr>
        <p:spPr>
          <a:xfrm>
            <a:off x="8796528" y="6007608"/>
            <a:ext cx="2651760" cy="658368"/>
          </a:xfrm>
          <a:prstGeom prst="rect">
            <a:avLst/>
          </a:prstGeom>
          <a:noFill/>
          <a:ln/>
        </p:spPr>
        <p:txBody>
          <a:bodyPr wrap="square" lIns="0" tIns="0" rIns="0" bIns="0" rtlCol="0" anchor="ctr"/>
          <a:lstStyle/>
          <a:p>
            <a:pPr marL="0" indent="0">
              <a:buNone/>
            </a:pPr>
            <a:r>
              <a:rPr lang="en-US" sz="1150" b="1" dirty="0">
                <a:solidFill>
                  <a:srgbClr val="1B2733"/>
                </a:solidFill>
                <a:latin typeface="Calibri" pitchFamily="34" charset="0"/>
                <a:ea typeface="Calibri" pitchFamily="34" charset="-122"/>
                <a:cs typeface="Calibri" pitchFamily="34" charset="-120"/>
              </a:rPr>
              <a:t>Fabricate it  </a:t>
            </a:r>
            <a:r>
              <a:rPr lang="en-US" sz="850" dirty="0">
                <a:solidFill>
                  <a:srgbClr val="5F6B76"/>
                </a:solidFill>
                <a:latin typeface="Calibri" pitchFamily="34" charset="0"/>
                <a:ea typeface="Calibri" pitchFamily="34" charset="-122"/>
                <a:cs typeface="Calibri" pitchFamily="34" charset="-120"/>
              </a:rPr>
              <a:t>embed into a meter</a:t>
            </a:r>
            <a:endParaRPr lang="en-US" sz="1150" dirty="0"/>
          </a:p>
        </p:txBody>
      </p:sp>
      <p:sp>
        <p:nvSpPr>
          <p:cNvPr id="41" name="Text 39"/>
          <p:cNvSpPr txBox="1"/>
          <p:nvPr/>
        </p:nvSpPr>
        <p:spPr>
          <a:xfrm>
            <a:off x="11430000" y="6473952"/>
            <a:ext cx="457200" cy="274320"/>
          </a:xfrm>
          <a:prstGeom prst="rect">
            <a:avLst/>
          </a:prstGeom>
          <a:noFill/>
          <a:ln/>
        </p:spPr>
        <p:txBody>
          <a:bodyPr wrap="square" lIns="0" tIns="0" rIns="0" bIns="0" rtlCol="0" anchor="ctr"/>
          <a:lstStyle/>
          <a:p>
            <a:pPr marL="0" indent="0" algn="r">
              <a:buNone/>
            </a:pPr>
            <a:r>
              <a:rPr lang="en-US" sz="850" dirty="0">
                <a:solidFill>
                  <a:srgbClr val="5F6B76"/>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256032" cy="256032"/>
          </a:xfrm>
          <a:prstGeom prst="ellipse">
            <a:avLst/>
          </a:prstGeom>
          <a:solidFill>
            <a:srgbClr val="1F3A5F"/>
          </a:solidFill>
          <a:ln/>
        </p:spPr>
        <p:txBody>
          <a:bodyPr/>
          <a:lstStyle/>
          <a:p>
            <a:endParaRPr lang="ar-SA"/>
          </a:p>
        </p:txBody>
      </p:sp>
      <p:sp>
        <p:nvSpPr>
          <p:cNvPr id="3" name="Text 1"/>
          <p:cNvSpPr txBox="1"/>
          <p:nvPr/>
        </p:nvSpPr>
        <p:spPr>
          <a:xfrm>
            <a:off x="896112" y="411480"/>
            <a:ext cx="7315200" cy="320040"/>
          </a:xfrm>
          <a:prstGeom prst="rect">
            <a:avLst/>
          </a:prstGeom>
          <a:noFill/>
          <a:ln/>
        </p:spPr>
        <p:txBody>
          <a:bodyPr wrap="square" lIns="0" tIns="0" rIns="0" bIns="0" rtlCol="0" anchor="ctr"/>
          <a:lstStyle/>
          <a:p>
            <a:pPr marL="0" indent="0">
              <a:buNone/>
            </a:pPr>
            <a:r>
              <a:rPr lang="en-US" sz="1200" b="1" kern="0" spc="200" dirty="0">
                <a:solidFill>
                  <a:srgbClr val="1F3A5F"/>
                </a:solidFill>
                <a:latin typeface="Calibri" pitchFamily="34" charset="0"/>
                <a:ea typeface="Calibri" pitchFamily="34" charset="-122"/>
                <a:cs typeface="Calibri" pitchFamily="34" charset="-120"/>
              </a:rPr>
              <a:t>SMART METER</a:t>
            </a:r>
            <a:endParaRPr lang="en-US" sz="1200" dirty="0"/>
          </a:p>
        </p:txBody>
      </p:sp>
      <p:sp>
        <p:nvSpPr>
          <p:cNvPr id="4" name="Text 2"/>
          <p:cNvSpPr txBox="1"/>
          <p:nvPr/>
        </p:nvSpPr>
        <p:spPr>
          <a:xfrm>
            <a:off x="548640" y="749808"/>
            <a:ext cx="8503920" cy="822960"/>
          </a:xfrm>
          <a:prstGeom prst="rect">
            <a:avLst/>
          </a:prstGeom>
          <a:noFill/>
          <a:ln/>
        </p:spPr>
        <p:txBody>
          <a:bodyPr wrap="square" lIns="0" tIns="0" rIns="0" bIns="0" rtlCol="0" anchor="ctr"/>
          <a:lstStyle/>
          <a:p>
            <a:pPr marL="0" indent="0">
              <a:buNone/>
            </a:pPr>
            <a:r>
              <a:rPr lang="en-US" sz="2800" b="1" dirty="0">
                <a:solidFill>
                  <a:srgbClr val="1B2733"/>
                </a:solidFill>
                <a:latin typeface="Cambria" pitchFamily="34" charset="0"/>
                <a:ea typeface="Cambria" pitchFamily="34" charset="-122"/>
                <a:cs typeface="Cambria" pitchFamily="34" charset="-120"/>
              </a:rPr>
              <a:t>Pilot Deployment: SE + CHINT</a:t>
            </a:r>
            <a:endParaRPr lang="en-US" sz="2800" dirty="0"/>
          </a:p>
        </p:txBody>
      </p:sp>
      <p:sp>
        <p:nvSpPr>
          <p:cNvPr id="7" name="Text 5"/>
          <p:cNvSpPr txBox="1"/>
          <p:nvPr/>
        </p:nvSpPr>
        <p:spPr>
          <a:xfrm>
            <a:off x="548640" y="1572768"/>
            <a:ext cx="11155680" cy="658368"/>
          </a:xfrm>
          <a:prstGeom prst="rect">
            <a:avLst/>
          </a:prstGeom>
          <a:noFill/>
          <a:ln/>
        </p:spPr>
        <p:txBody>
          <a:bodyPr wrap="square" lIns="0" tIns="0" rIns="0" bIns="0" rtlCol="0" anchor="ctr"/>
          <a:lstStyle/>
          <a:p>
            <a:pPr marL="0" indent="0">
              <a:buNone/>
            </a:pPr>
            <a:r>
              <a:rPr lang="en-US" sz="1250" i="1" dirty="0">
                <a:solidFill>
                  <a:srgbClr val="065A82"/>
                </a:solidFill>
                <a:latin typeface="Calibri" pitchFamily="34" charset="0"/>
                <a:ea typeface="Calibri" pitchFamily="34" charset="-122"/>
                <a:cs typeface="Calibri" pitchFamily="34" charset="-120"/>
              </a:rPr>
              <a:t>After a short preparation period, a pilot with Saudi Electricity (SEC) and CHINT will begin - moving the smart-meter models from lab data to field validation on real customer premises.</a:t>
            </a:r>
            <a:endParaRPr lang="en-US" sz="1250" dirty="0"/>
          </a:p>
        </p:txBody>
      </p:sp>
      <p:sp>
        <p:nvSpPr>
          <p:cNvPr id="8" name="Shape 6"/>
          <p:cNvSpPr/>
          <p:nvPr/>
        </p:nvSpPr>
        <p:spPr>
          <a:xfrm>
            <a:off x="548640" y="2286000"/>
            <a:ext cx="5532120" cy="2286000"/>
          </a:xfrm>
          <a:prstGeom prst="roundRect">
            <a:avLst>
              <a:gd name="adj" fmla="val 2000"/>
            </a:avLst>
          </a:prstGeom>
          <a:solidFill>
            <a:srgbClr val="EEF3F6"/>
          </a:solidFill>
          <a:ln w="12700">
            <a:solidFill>
              <a:srgbClr val="C9D6DE"/>
            </a:solidFill>
            <a:prstDash val="solid"/>
          </a:ln>
        </p:spPr>
        <p:txBody>
          <a:bodyPr/>
          <a:lstStyle/>
          <a:p>
            <a:endParaRPr lang="ar-SA"/>
          </a:p>
        </p:txBody>
      </p:sp>
      <p:sp>
        <p:nvSpPr>
          <p:cNvPr id="9" name="Text 7"/>
          <p:cNvSpPr txBox="1"/>
          <p:nvPr/>
        </p:nvSpPr>
        <p:spPr>
          <a:xfrm>
            <a:off x="731520" y="2377440"/>
            <a:ext cx="5120640" cy="274320"/>
          </a:xfrm>
          <a:prstGeom prst="rect">
            <a:avLst/>
          </a:prstGeom>
          <a:noFill/>
          <a:ln/>
        </p:spPr>
        <p:txBody>
          <a:bodyPr wrap="square" lIns="0" tIns="0" rIns="0" bIns="0" rtlCol="0" anchor="ctr"/>
          <a:lstStyle/>
          <a:p>
            <a:pPr marL="0" indent="0">
              <a:buNone/>
            </a:pPr>
            <a:r>
              <a:rPr lang="en-US" b="1" dirty="0">
                <a:solidFill>
                  <a:srgbClr val="1F3A5F"/>
                </a:solidFill>
                <a:latin typeface="Calibri" pitchFamily="34" charset="0"/>
                <a:ea typeface="Calibri" pitchFamily="34" charset="-122"/>
                <a:cs typeface="Calibri" pitchFamily="34" charset="-120"/>
              </a:rPr>
              <a:t>PARTNERS &amp; ROLES</a:t>
            </a:r>
            <a:endParaRPr lang="en-US" dirty="0"/>
          </a:p>
        </p:txBody>
      </p:sp>
      <p:sp>
        <p:nvSpPr>
          <p:cNvPr id="10" name="Text 8"/>
          <p:cNvSpPr txBox="1"/>
          <p:nvPr/>
        </p:nvSpPr>
        <p:spPr>
          <a:xfrm>
            <a:off x="731520" y="2688336"/>
            <a:ext cx="5120640" cy="1828800"/>
          </a:xfrm>
          <a:prstGeom prst="rect">
            <a:avLst/>
          </a:prstGeom>
          <a:noFill/>
          <a:ln/>
        </p:spPr>
        <p:txBody>
          <a:bodyPr wrap="square" lIns="0" tIns="0" rIns="0" bIns="0" rtlCol="0" anchor="t"/>
          <a:lstStyle/>
          <a:p>
            <a:pPr marL="152400" indent="-152400">
              <a:spcAft>
                <a:spcPts val="600"/>
              </a:spcAft>
              <a:buSzPct val="100000"/>
              <a:buChar char="•"/>
            </a:pPr>
            <a:r>
              <a:rPr lang="en-US" sz="1600" dirty="0">
                <a:solidFill>
                  <a:srgbClr val="1B2733"/>
                </a:solidFill>
                <a:latin typeface="Calibri" pitchFamily="34" charset="0"/>
                <a:ea typeface="Calibri" pitchFamily="34" charset="-122"/>
                <a:cs typeface="Calibri" pitchFamily="34" charset="-120"/>
              </a:rPr>
              <a:t>CHINT - smart metering / breaker hardware and integration (the CHINT NB2LE class already used in the Data Setup).</a:t>
            </a:r>
            <a:endParaRPr lang="en-US" sz="1600" dirty="0"/>
          </a:p>
          <a:p>
            <a:pPr marL="152400" indent="-152400">
              <a:spcAft>
                <a:spcPts val="600"/>
              </a:spcAft>
              <a:buSzPct val="100000"/>
              <a:buChar char="•"/>
            </a:pPr>
            <a:r>
              <a:rPr lang="en-US" sz="1600" dirty="0">
                <a:solidFill>
                  <a:srgbClr val="1B2733"/>
                </a:solidFill>
                <a:latin typeface="Calibri" pitchFamily="34" charset="0"/>
                <a:ea typeface="Calibri" pitchFamily="34" charset="-122"/>
                <a:cs typeface="Calibri" pitchFamily="34" charset="-120"/>
              </a:rPr>
              <a:t>Saudi Electricity (SE) - host premises, field load data, and grid-code / standards alignment for Saudi 60-Hz networks.</a:t>
            </a:r>
            <a:endParaRPr lang="en-US" sz="1600" dirty="0"/>
          </a:p>
          <a:p>
            <a:pPr marL="152400" indent="-152400">
              <a:spcAft>
                <a:spcPts val="600"/>
              </a:spcAft>
              <a:buSzPct val="100000"/>
              <a:buChar char="•"/>
            </a:pPr>
            <a:r>
              <a:rPr lang="en-US" sz="1600" dirty="0">
                <a:solidFill>
                  <a:srgbClr val="1B2733"/>
                </a:solidFill>
                <a:latin typeface="Calibri" pitchFamily="34" charset="0"/>
                <a:ea typeface="Calibri" pitchFamily="34" charset="-122"/>
                <a:cs typeface="Calibri" pitchFamily="34" charset="-120"/>
              </a:rPr>
              <a:t>Future Energy Lab - Data Setup replication, model development, and validation protocol.</a:t>
            </a:r>
            <a:endParaRPr lang="en-US" sz="1600" dirty="0"/>
          </a:p>
        </p:txBody>
      </p:sp>
      <p:sp>
        <p:nvSpPr>
          <p:cNvPr id="11" name="Shape 9"/>
          <p:cNvSpPr/>
          <p:nvPr/>
        </p:nvSpPr>
        <p:spPr>
          <a:xfrm>
            <a:off x="6263640" y="2286000"/>
            <a:ext cx="5394960" cy="2286000"/>
          </a:xfrm>
          <a:prstGeom prst="roundRect">
            <a:avLst>
              <a:gd name="adj" fmla="val 2000"/>
            </a:avLst>
          </a:prstGeom>
          <a:solidFill>
            <a:srgbClr val="EEF3F6"/>
          </a:solidFill>
          <a:ln w="12700">
            <a:solidFill>
              <a:srgbClr val="C9D6DE"/>
            </a:solidFill>
            <a:prstDash val="solid"/>
          </a:ln>
        </p:spPr>
        <p:txBody>
          <a:bodyPr/>
          <a:lstStyle/>
          <a:p>
            <a:endParaRPr lang="ar-SA"/>
          </a:p>
        </p:txBody>
      </p:sp>
      <p:sp>
        <p:nvSpPr>
          <p:cNvPr id="12" name="Text 10"/>
          <p:cNvSpPr txBox="1"/>
          <p:nvPr/>
        </p:nvSpPr>
        <p:spPr>
          <a:xfrm>
            <a:off x="6446520" y="2377440"/>
            <a:ext cx="5029200" cy="274320"/>
          </a:xfrm>
          <a:prstGeom prst="rect">
            <a:avLst/>
          </a:prstGeom>
          <a:noFill/>
          <a:ln/>
        </p:spPr>
        <p:txBody>
          <a:bodyPr wrap="square" lIns="0" tIns="0" rIns="0" bIns="0" rtlCol="0" anchor="ctr"/>
          <a:lstStyle/>
          <a:p>
            <a:pPr marL="0" indent="0">
              <a:buNone/>
            </a:pPr>
            <a:r>
              <a:rPr lang="en-US" b="1" dirty="0">
                <a:solidFill>
                  <a:srgbClr val="1F3A5F"/>
                </a:solidFill>
                <a:latin typeface="Calibri" pitchFamily="34" charset="0"/>
                <a:ea typeface="Calibri" pitchFamily="34" charset="-122"/>
                <a:cs typeface="Calibri" pitchFamily="34" charset="-120"/>
              </a:rPr>
              <a:t>PILOT OBJECTIVES  (one per smart-meter goal)</a:t>
            </a:r>
            <a:endParaRPr lang="en-US" dirty="0"/>
          </a:p>
        </p:txBody>
      </p:sp>
      <p:sp>
        <p:nvSpPr>
          <p:cNvPr id="13" name="Text 11"/>
          <p:cNvSpPr txBox="1"/>
          <p:nvPr/>
        </p:nvSpPr>
        <p:spPr>
          <a:xfrm>
            <a:off x="6446520" y="2688336"/>
            <a:ext cx="5029200" cy="1828800"/>
          </a:xfrm>
          <a:prstGeom prst="rect">
            <a:avLst/>
          </a:prstGeom>
          <a:noFill/>
          <a:ln/>
        </p:spPr>
        <p:txBody>
          <a:bodyPr wrap="square" lIns="0" tIns="0" rIns="0" bIns="0" rtlCol="0" anchor="t"/>
          <a:lstStyle/>
          <a:p>
            <a:pPr marL="152400" indent="-152400">
              <a:spcAft>
                <a:spcPts val="600"/>
              </a:spcAft>
              <a:buSzPct val="100000"/>
              <a:buChar char="•"/>
            </a:pPr>
            <a:r>
              <a:rPr lang="en-US" sz="1600" dirty="0">
                <a:solidFill>
                  <a:srgbClr val="1B2733"/>
                </a:solidFill>
                <a:latin typeface="Calibri" pitchFamily="34" charset="0"/>
                <a:ea typeface="Calibri" pitchFamily="34" charset="-122"/>
                <a:cs typeface="Calibri" pitchFamily="34" charset="-120"/>
              </a:rPr>
              <a:t>Theft detection - validate on real tampering / bypass and abnormal-consumption cases.</a:t>
            </a:r>
            <a:endParaRPr lang="en-US" sz="1600" dirty="0"/>
          </a:p>
          <a:p>
            <a:pPr marL="152400" indent="-152400">
              <a:spcAft>
                <a:spcPts val="600"/>
              </a:spcAft>
              <a:buSzPct val="100000"/>
              <a:buChar char="•"/>
            </a:pPr>
            <a:r>
              <a:rPr lang="en-US" sz="1600" dirty="0">
                <a:solidFill>
                  <a:srgbClr val="1B2733"/>
                </a:solidFill>
                <a:latin typeface="Calibri" pitchFamily="34" charset="0"/>
                <a:ea typeface="Calibri" pitchFamily="34" charset="-122"/>
                <a:cs typeface="Calibri" pitchFamily="34" charset="-120"/>
              </a:rPr>
              <a:t>Forecasting - validate load predictions against SEC field consumption data.</a:t>
            </a:r>
            <a:endParaRPr lang="en-US" sz="1600" dirty="0"/>
          </a:p>
          <a:p>
            <a:pPr marL="152400" indent="-152400">
              <a:spcAft>
                <a:spcPts val="600"/>
              </a:spcAft>
              <a:buSzPct val="100000"/>
              <a:buChar char="•"/>
            </a:pPr>
            <a:r>
              <a:rPr lang="en-US" sz="1600" dirty="0">
                <a:solidFill>
                  <a:srgbClr val="1B2733"/>
                </a:solidFill>
                <a:latin typeface="Calibri" pitchFamily="34" charset="0"/>
                <a:ea typeface="Calibri" pitchFamily="34" charset="-122"/>
                <a:cs typeface="Calibri" pitchFamily="34" charset="-120"/>
              </a:rPr>
              <a:t>Disaggregation (NILM) - validate appliance-level breakdown on live households.</a:t>
            </a:r>
            <a:endParaRPr lang="en-US" sz="1600" dirty="0"/>
          </a:p>
        </p:txBody>
      </p:sp>
      <p:sp>
        <p:nvSpPr>
          <p:cNvPr id="14" name="Text 12"/>
          <p:cNvSpPr txBox="1"/>
          <p:nvPr/>
        </p:nvSpPr>
        <p:spPr>
          <a:xfrm>
            <a:off x="548640" y="4800600"/>
            <a:ext cx="5486400" cy="274320"/>
          </a:xfrm>
          <a:prstGeom prst="rect">
            <a:avLst/>
          </a:prstGeom>
          <a:noFill/>
          <a:ln/>
        </p:spPr>
        <p:txBody>
          <a:bodyPr wrap="square" lIns="0" tIns="0" rIns="0" bIns="0" rtlCol="0" anchor="ctr"/>
          <a:lstStyle/>
          <a:p>
            <a:pPr marL="0" indent="0">
              <a:buNone/>
            </a:pPr>
            <a:r>
              <a:rPr lang="en-US" sz="1000" b="1" kern="0" spc="100" dirty="0">
                <a:solidFill>
                  <a:srgbClr val="1F3A5F"/>
                </a:solidFill>
                <a:latin typeface="Calibri" pitchFamily="34" charset="0"/>
                <a:ea typeface="Calibri" pitchFamily="34" charset="-122"/>
                <a:cs typeface="Calibri" pitchFamily="34" charset="-120"/>
              </a:rPr>
              <a:t>FROM LAB DATA TO FIELD DEPLOYMENT</a:t>
            </a:r>
            <a:endParaRPr lang="en-US" sz="1000" dirty="0"/>
          </a:p>
        </p:txBody>
      </p:sp>
      <p:sp>
        <p:nvSpPr>
          <p:cNvPr id="15" name="Shape 13"/>
          <p:cNvSpPr/>
          <p:nvPr/>
        </p:nvSpPr>
        <p:spPr>
          <a:xfrm>
            <a:off x="548640" y="5120640"/>
            <a:ext cx="3474720" cy="868680"/>
          </a:xfrm>
          <a:prstGeom prst="roundRect">
            <a:avLst>
              <a:gd name="adj" fmla="val 6316"/>
            </a:avLst>
          </a:prstGeom>
          <a:solidFill>
            <a:srgbClr val="E9F1E9"/>
          </a:solidFill>
          <a:ln w="19050">
            <a:solidFill>
              <a:srgbClr val="2E7D32"/>
            </a:solidFill>
            <a:prstDash val="solid"/>
          </a:ln>
        </p:spPr>
        <p:txBody>
          <a:bodyPr/>
          <a:lstStyle/>
          <a:p>
            <a:endParaRPr lang="ar-SA"/>
          </a:p>
        </p:txBody>
      </p:sp>
      <p:sp>
        <p:nvSpPr>
          <p:cNvPr id="16" name="Shape 14"/>
          <p:cNvSpPr/>
          <p:nvPr/>
        </p:nvSpPr>
        <p:spPr>
          <a:xfrm>
            <a:off x="713232" y="5340096"/>
            <a:ext cx="420624" cy="420624"/>
          </a:xfrm>
          <a:prstGeom prst="ellipse">
            <a:avLst/>
          </a:prstGeom>
          <a:solidFill>
            <a:srgbClr val="2E7D32"/>
          </a:solidFill>
          <a:ln/>
        </p:spPr>
        <p:txBody>
          <a:bodyPr/>
          <a:lstStyle/>
          <a:p>
            <a:endParaRPr lang="ar-SA"/>
          </a:p>
        </p:txBody>
      </p:sp>
      <p:sp>
        <p:nvSpPr>
          <p:cNvPr id="17" name="Text 15"/>
          <p:cNvSpPr txBox="1"/>
          <p:nvPr/>
        </p:nvSpPr>
        <p:spPr>
          <a:xfrm>
            <a:off x="713232" y="534009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8" name="Text 16"/>
          <p:cNvSpPr txBox="1"/>
          <p:nvPr/>
        </p:nvSpPr>
        <p:spPr>
          <a:xfrm>
            <a:off x="1261872" y="5230368"/>
            <a:ext cx="2651760" cy="658368"/>
          </a:xfrm>
          <a:prstGeom prst="rect">
            <a:avLst/>
          </a:prstGeom>
          <a:noFill/>
          <a:ln/>
        </p:spPr>
        <p:txBody>
          <a:bodyPr wrap="square" lIns="0" tIns="0" rIns="0" bIns="0" rtlCol="0" anchor="ctr"/>
          <a:lstStyle/>
          <a:p>
            <a:pPr marL="0" indent="0" algn="ctr">
              <a:buNone/>
            </a:pPr>
            <a:r>
              <a:rPr lang="en-US" sz="2000" b="1" dirty="0">
                <a:solidFill>
                  <a:srgbClr val="1B2733"/>
                </a:solidFill>
                <a:latin typeface="Calibri" pitchFamily="34" charset="0"/>
                <a:ea typeface="Calibri" pitchFamily="34" charset="-122"/>
                <a:cs typeface="Calibri" pitchFamily="34" charset="-120"/>
              </a:rPr>
              <a:t>Lab dataset</a:t>
            </a:r>
            <a:endParaRPr lang="en-US" sz="2000" dirty="0"/>
          </a:p>
        </p:txBody>
      </p:sp>
      <p:sp>
        <p:nvSpPr>
          <p:cNvPr id="19" name="Shape 17"/>
          <p:cNvSpPr/>
          <p:nvPr/>
        </p:nvSpPr>
        <p:spPr>
          <a:xfrm>
            <a:off x="4050792" y="5422392"/>
            <a:ext cx="219456" cy="256032"/>
          </a:xfrm>
          <a:prstGeom prst="chevron">
            <a:avLst/>
          </a:prstGeom>
          <a:solidFill>
            <a:srgbClr val="5F6B76"/>
          </a:solidFill>
          <a:ln/>
        </p:spPr>
        <p:txBody>
          <a:bodyPr/>
          <a:lstStyle/>
          <a:p>
            <a:endParaRPr lang="ar-SA"/>
          </a:p>
        </p:txBody>
      </p:sp>
      <p:sp>
        <p:nvSpPr>
          <p:cNvPr id="20" name="Shape 18"/>
          <p:cNvSpPr/>
          <p:nvPr/>
        </p:nvSpPr>
        <p:spPr>
          <a:xfrm>
            <a:off x="4315968" y="5120640"/>
            <a:ext cx="3474720" cy="868680"/>
          </a:xfrm>
          <a:prstGeom prst="roundRect">
            <a:avLst>
              <a:gd name="adj" fmla="val 6316"/>
            </a:avLst>
          </a:prstGeom>
          <a:solidFill>
            <a:srgbClr val="FBF1E3"/>
          </a:solidFill>
          <a:ln w="19050">
            <a:solidFill>
              <a:srgbClr val="B26A00"/>
            </a:solidFill>
            <a:prstDash val="solid"/>
          </a:ln>
        </p:spPr>
        <p:txBody>
          <a:bodyPr/>
          <a:lstStyle/>
          <a:p>
            <a:endParaRPr lang="ar-SA"/>
          </a:p>
        </p:txBody>
      </p:sp>
      <p:sp>
        <p:nvSpPr>
          <p:cNvPr id="21" name="Shape 19"/>
          <p:cNvSpPr/>
          <p:nvPr/>
        </p:nvSpPr>
        <p:spPr>
          <a:xfrm>
            <a:off x="4480560" y="5340096"/>
            <a:ext cx="420624" cy="420624"/>
          </a:xfrm>
          <a:prstGeom prst="ellipse">
            <a:avLst/>
          </a:prstGeom>
          <a:solidFill>
            <a:srgbClr val="B26A00"/>
          </a:solidFill>
          <a:ln/>
        </p:spPr>
        <p:txBody>
          <a:bodyPr/>
          <a:lstStyle/>
          <a:p>
            <a:endParaRPr lang="ar-SA"/>
          </a:p>
        </p:txBody>
      </p:sp>
      <p:sp>
        <p:nvSpPr>
          <p:cNvPr id="22" name="Text 20"/>
          <p:cNvSpPr txBox="1"/>
          <p:nvPr/>
        </p:nvSpPr>
        <p:spPr>
          <a:xfrm>
            <a:off x="4480560" y="534009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23" name="Text 21"/>
          <p:cNvSpPr txBox="1"/>
          <p:nvPr/>
        </p:nvSpPr>
        <p:spPr>
          <a:xfrm>
            <a:off x="5029200" y="5230368"/>
            <a:ext cx="2651760" cy="658368"/>
          </a:xfrm>
          <a:prstGeom prst="rect">
            <a:avLst/>
          </a:prstGeom>
          <a:noFill/>
          <a:ln/>
        </p:spPr>
        <p:txBody>
          <a:bodyPr wrap="square" lIns="0" tIns="0" rIns="0" bIns="0" rtlCol="0" anchor="ctr"/>
          <a:lstStyle/>
          <a:p>
            <a:pPr marL="0" indent="0" algn="ctr">
              <a:buNone/>
            </a:pPr>
            <a:r>
              <a:rPr lang="en-US" sz="2000" b="1" dirty="0">
                <a:solidFill>
                  <a:srgbClr val="1B2733"/>
                </a:solidFill>
                <a:latin typeface="Calibri" pitchFamily="34" charset="0"/>
                <a:ea typeface="Calibri" pitchFamily="34" charset="-122"/>
                <a:cs typeface="Calibri" pitchFamily="34" charset="-120"/>
              </a:rPr>
              <a:t>Field pilot</a:t>
            </a:r>
            <a:endParaRPr lang="en-US" sz="2000" dirty="0"/>
          </a:p>
        </p:txBody>
      </p:sp>
      <p:sp>
        <p:nvSpPr>
          <p:cNvPr id="24" name="Shape 22"/>
          <p:cNvSpPr/>
          <p:nvPr/>
        </p:nvSpPr>
        <p:spPr>
          <a:xfrm>
            <a:off x="7818120" y="5422392"/>
            <a:ext cx="219456" cy="256032"/>
          </a:xfrm>
          <a:prstGeom prst="chevron">
            <a:avLst/>
          </a:prstGeom>
          <a:solidFill>
            <a:srgbClr val="5F6B76"/>
          </a:solidFill>
          <a:ln/>
        </p:spPr>
        <p:txBody>
          <a:bodyPr/>
          <a:lstStyle/>
          <a:p>
            <a:endParaRPr lang="ar-SA"/>
          </a:p>
        </p:txBody>
      </p:sp>
      <p:sp>
        <p:nvSpPr>
          <p:cNvPr id="25" name="Shape 23"/>
          <p:cNvSpPr/>
          <p:nvPr/>
        </p:nvSpPr>
        <p:spPr>
          <a:xfrm>
            <a:off x="8083296" y="5120640"/>
            <a:ext cx="3474720" cy="868680"/>
          </a:xfrm>
          <a:prstGeom prst="roundRect">
            <a:avLst>
              <a:gd name="adj" fmla="val 10721"/>
            </a:avLst>
          </a:prstGeom>
          <a:solidFill>
            <a:srgbClr val="E4F0F4"/>
          </a:solidFill>
          <a:ln w="19050">
            <a:solidFill>
              <a:srgbClr val="065A82"/>
            </a:solidFill>
            <a:prstDash val="solid"/>
          </a:ln>
        </p:spPr>
        <p:txBody>
          <a:bodyPr/>
          <a:lstStyle/>
          <a:p>
            <a:endParaRPr lang="ar-SA"/>
          </a:p>
        </p:txBody>
      </p:sp>
      <p:sp>
        <p:nvSpPr>
          <p:cNvPr id="26" name="Shape 24"/>
          <p:cNvSpPr/>
          <p:nvPr/>
        </p:nvSpPr>
        <p:spPr>
          <a:xfrm>
            <a:off x="8247888" y="5340096"/>
            <a:ext cx="420624" cy="420624"/>
          </a:xfrm>
          <a:prstGeom prst="ellipse">
            <a:avLst/>
          </a:prstGeom>
          <a:solidFill>
            <a:srgbClr val="065A82"/>
          </a:solidFill>
          <a:ln/>
        </p:spPr>
        <p:txBody>
          <a:bodyPr/>
          <a:lstStyle/>
          <a:p>
            <a:endParaRPr lang="ar-SA"/>
          </a:p>
        </p:txBody>
      </p:sp>
      <p:sp>
        <p:nvSpPr>
          <p:cNvPr id="27" name="Text 25"/>
          <p:cNvSpPr txBox="1"/>
          <p:nvPr/>
        </p:nvSpPr>
        <p:spPr>
          <a:xfrm>
            <a:off x="8247888" y="534009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8" name="Text 26"/>
          <p:cNvSpPr txBox="1"/>
          <p:nvPr/>
        </p:nvSpPr>
        <p:spPr>
          <a:xfrm>
            <a:off x="8796528" y="5230368"/>
            <a:ext cx="2651760" cy="658368"/>
          </a:xfrm>
          <a:prstGeom prst="rect">
            <a:avLst/>
          </a:prstGeom>
          <a:noFill/>
          <a:ln/>
        </p:spPr>
        <p:txBody>
          <a:bodyPr wrap="square" lIns="0" tIns="0" rIns="0" bIns="0" rtlCol="0" anchor="ctr"/>
          <a:lstStyle/>
          <a:p>
            <a:pPr marL="0" indent="0" algn="ctr">
              <a:buNone/>
            </a:pPr>
            <a:r>
              <a:rPr lang="en-US" sz="2000" b="1" dirty="0">
                <a:solidFill>
                  <a:srgbClr val="1B2733"/>
                </a:solidFill>
                <a:latin typeface="Calibri" pitchFamily="34" charset="0"/>
                <a:ea typeface="Calibri" pitchFamily="34" charset="-122"/>
                <a:cs typeface="Calibri" pitchFamily="34" charset="-120"/>
              </a:rPr>
              <a:t>Scale-up</a:t>
            </a:r>
            <a:endParaRPr lang="en-US" sz="2000" dirty="0"/>
          </a:p>
        </p:txBody>
      </p:sp>
      <p:sp>
        <p:nvSpPr>
          <p:cNvPr id="31" name="Text 29"/>
          <p:cNvSpPr txBox="1"/>
          <p:nvPr/>
        </p:nvSpPr>
        <p:spPr>
          <a:xfrm>
            <a:off x="11430000" y="6473952"/>
            <a:ext cx="457200" cy="274320"/>
          </a:xfrm>
          <a:prstGeom prst="rect">
            <a:avLst/>
          </a:prstGeom>
          <a:noFill/>
          <a:ln/>
        </p:spPr>
        <p:txBody>
          <a:bodyPr wrap="square" lIns="0" tIns="0" rIns="0" bIns="0" rtlCol="0" anchor="ctr"/>
          <a:lstStyle/>
          <a:p>
            <a:pPr marL="0" indent="0" algn="r">
              <a:buNone/>
            </a:pPr>
            <a:r>
              <a:rPr lang="en-US" sz="850" dirty="0">
                <a:solidFill>
                  <a:srgbClr val="5F6B76"/>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256032" cy="256032"/>
          </a:xfrm>
          <a:prstGeom prst="ellipse">
            <a:avLst/>
          </a:prstGeom>
          <a:solidFill>
            <a:srgbClr val="2E7D32"/>
          </a:solidFill>
          <a:ln/>
        </p:spPr>
        <p:txBody>
          <a:bodyPr/>
          <a:lstStyle/>
          <a:p>
            <a:endParaRPr lang="ar-SA"/>
          </a:p>
        </p:txBody>
      </p:sp>
      <p:sp>
        <p:nvSpPr>
          <p:cNvPr id="3" name="Text 1"/>
          <p:cNvSpPr txBox="1"/>
          <p:nvPr/>
        </p:nvSpPr>
        <p:spPr>
          <a:xfrm>
            <a:off x="896112" y="411480"/>
            <a:ext cx="7315200" cy="32004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MICROGRID</a:t>
            </a:r>
            <a:endParaRPr lang="en-US" sz="1200" dirty="0"/>
          </a:p>
        </p:txBody>
      </p:sp>
      <p:sp>
        <p:nvSpPr>
          <p:cNvPr id="4" name="Text 2"/>
          <p:cNvSpPr txBox="1"/>
          <p:nvPr/>
        </p:nvSpPr>
        <p:spPr>
          <a:xfrm>
            <a:off x="548640" y="749808"/>
            <a:ext cx="8778240" cy="822960"/>
          </a:xfrm>
          <a:prstGeom prst="rect">
            <a:avLst/>
          </a:prstGeom>
          <a:noFill/>
          <a:ln/>
        </p:spPr>
        <p:txBody>
          <a:bodyPr wrap="square" lIns="0" tIns="0" rIns="0" bIns="0" rtlCol="0" anchor="ctr"/>
          <a:lstStyle/>
          <a:p>
            <a:pPr marL="0" indent="0">
              <a:buNone/>
            </a:pPr>
            <a:r>
              <a:rPr lang="en-US" sz="3000" b="1" dirty="0">
                <a:solidFill>
                  <a:srgbClr val="1B2733"/>
                </a:solidFill>
                <a:latin typeface="Cambria" pitchFamily="34" charset="0"/>
                <a:ea typeface="Cambria" pitchFamily="34" charset="-122"/>
                <a:cs typeface="Cambria" pitchFamily="34" charset="-120"/>
              </a:rPr>
              <a:t>Phase A Microgrid — Design &amp; Sizing</a:t>
            </a:r>
            <a:endParaRPr lang="en-US" sz="3000" dirty="0"/>
          </a:p>
        </p:txBody>
      </p:sp>
      <p:sp>
        <p:nvSpPr>
          <p:cNvPr id="7" name="Text 5"/>
          <p:cNvSpPr txBox="1"/>
          <p:nvPr/>
        </p:nvSpPr>
        <p:spPr>
          <a:xfrm>
            <a:off x="548640" y="1627632"/>
            <a:ext cx="11155680" cy="566928"/>
          </a:xfrm>
          <a:prstGeom prst="rect">
            <a:avLst/>
          </a:prstGeom>
          <a:noFill/>
          <a:ln/>
        </p:spPr>
        <p:txBody>
          <a:bodyPr wrap="square" lIns="0" tIns="0" rIns="0" bIns="0" rtlCol="0" anchor="ctr"/>
          <a:lstStyle/>
          <a:p>
            <a:pPr marL="0" indent="0">
              <a:buNone/>
            </a:pPr>
            <a:r>
              <a:rPr lang="en-US" sz="1300" i="1" dirty="0">
                <a:solidFill>
                  <a:srgbClr val="065A82"/>
                </a:solidFill>
                <a:latin typeface="Calibri" pitchFamily="34" charset="0"/>
                <a:ea typeface="Calibri" pitchFamily="34" charset="-122"/>
                <a:cs typeface="Calibri" pitchFamily="34" charset="-120"/>
              </a:rPr>
              <a:t>A scaled-down, low-voltage-side laboratory version of the NEOM City microgrid concept — sized for the Phase A loads only, for a fully islanded 24-hour cycle at 230 V / 60 Hz.</a:t>
            </a:r>
            <a:endParaRPr lang="en-US" sz="1300" dirty="0"/>
          </a:p>
        </p:txBody>
      </p:sp>
      <p:sp>
        <p:nvSpPr>
          <p:cNvPr id="8" name="Shape 6"/>
          <p:cNvSpPr/>
          <p:nvPr/>
        </p:nvSpPr>
        <p:spPr>
          <a:xfrm>
            <a:off x="548640" y="2286000"/>
            <a:ext cx="5623560" cy="3246120"/>
          </a:xfrm>
          <a:prstGeom prst="roundRect">
            <a:avLst>
              <a:gd name="adj" fmla="val 1408"/>
            </a:avLst>
          </a:prstGeom>
          <a:solidFill>
            <a:srgbClr val="EEF3F6"/>
          </a:solidFill>
          <a:ln w="12700">
            <a:solidFill>
              <a:srgbClr val="C9D6DE"/>
            </a:solidFill>
            <a:prstDash val="solid"/>
          </a:ln>
        </p:spPr>
        <p:txBody>
          <a:bodyPr/>
          <a:lstStyle/>
          <a:p>
            <a:endParaRPr lang="ar-SA"/>
          </a:p>
        </p:txBody>
      </p:sp>
      <p:sp>
        <p:nvSpPr>
          <p:cNvPr id="9" name="Text 7"/>
          <p:cNvSpPr txBox="1"/>
          <p:nvPr/>
        </p:nvSpPr>
        <p:spPr>
          <a:xfrm>
            <a:off x="731520" y="2395728"/>
            <a:ext cx="5303520" cy="274320"/>
          </a:xfrm>
          <a:prstGeom prst="rect">
            <a:avLst/>
          </a:prstGeom>
          <a:noFill/>
          <a:ln/>
        </p:spPr>
        <p:txBody>
          <a:bodyPr wrap="square" lIns="0" tIns="0" rIns="0" bIns="0" rtlCol="0" anchor="ctr"/>
          <a:lstStyle/>
          <a:p>
            <a:pPr marL="0" indent="0">
              <a:buNone/>
            </a:pPr>
            <a:r>
              <a:rPr lang="en-US" sz="1050" b="1" dirty="0">
                <a:solidFill>
                  <a:srgbClr val="2E7D32"/>
                </a:solidFill>
                <a:latin typeface="Calibri" pitchFamily="34" charset="0"/>
                <a:ea typeface="Calibri" pitchFamily="34" charset="-122"/>
                <a:cs typeface="Calibri" pitchFamily="34" charset="-120"/>
              </a:rPr>
              <a:t>PHASE A LOAD DEMAND “RATINGS” </a:t>
            </a:r>
          </a:p>
        </p:txBody>
      </p:sp>
      <p:graphicFrame>
        <p:nvGraphicFramePr>
          <p:cNvPr id="10" name="Table 0"/>
          <p:cNvGraphicFramePr>
            <a:graphicFrameLocks noGrp="1"/>
          </p:cNvGraphicFramePr>
          <p:nvPr/>
        </p:nvGraphicFramePr>
        <p:xfrm>
          <a:off x="731520" y="2743200"/>
          <a:ext cx="5257800" cy="2633472"/>
        </p:xfrm>
        <a:graphic>
          <a:graphicData uri="http://schemas.openxmlformats.org/drawingml/2006/table">
            <a:tbl>
              <a:tblPr/>
              <a:tblGrid>
                <a:gridCol w="17830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329184">
                <a:tc>
                  <a:txBody>
                    <a:bodyPr/>
                    <a:lstStyle/>
                    <a:p>
                      <a:pPr marL="0" indent="0">
                        <a:buNone/>
                      </a:pPr>
                      <a:r>
                        <a:rPr lang="en-US" sz="900" b="1" dirty="0">
                          <a:solidFill>
                            <a:srgbClr val="1B2733"/>
                          </a:solidFill>
                          <a:latin typeface="Calibri" pitchFamily="34" charset="0"/>
                          <a:ea typeface="Calibri" pitchFamily="34" charset="-122"/>
                          <a:cs typeface="Calibri" pitchFamily="34" charset="-120"/>
                        </a:rPr>
                        <a:t>Device</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b="1" dirty="0">
                          <a:solidFill>
                            <a:srgbClr val="1B2733"/>
                          </a:solidFill>
                          <a:latin typeface="Calibri" pitchFamily="34" charset="0"/>
                          <a:ea typeface="Calibri" pitchFamily="34" charset="-122"/>
                          <a:cs typeface="Calibri" pitchFamily="34" charset="-120"/>
                        </a:rPr>
                        <a:t>Rated W</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b="1" dirty="0">
                          <a:solidFill>
                            <a:srgbClr val="1B2733"/>
                          </a:solidFill>
                          <a:latin typeface="Calibri" pitchFamily="34" charset="0"/>
                          <a:ea typeface="Calibri" pitchFamily="34" charset="-122"/>
                          <a:cs typeface="Calibri" pitchFamily="34" charset="-120"/>
                        </a:rPr>
                        <a:t>Hours/day </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b="1" dirty="0">
                          <a:solidFill>
                            <a:srgbClr val="1B2733"/>
                          </a:solidFill>
                          <a:latin typeface="Calibri" pitchFamily="34" charset="0"/>
                          <a:ea typeface="Calibri" pitchFamily="34" charset="-122"/>
                          <a:cs typeface="Calibri" pitchFamily="34" charset="-120"/>
                        </a:rPr>
                        <a:t>Wh/day</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b="1" dirty="0">
                          <a:solidFill>
                            <a:srgbClr val="1B2733"/>
                          </a:solidFill>
                          <a:latin typeface="Calibri" pitchFamily="34" charset="0"/>
                          <a:ea typeface="Calibri" pitchFamily="34" charset="-122"/>
                          <a:cs typeface="Calibri" pitchFamily="34" charset="-120"/>
                        </a:rPr>
                        <a:t>Type</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29184">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Air Conditioner</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1,300</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6.0</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7,800</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non-crit</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Hoover</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1,600</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1.0</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1,600</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non-crit</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Iron</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1,200</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0.5</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600</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non-crit</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Water Cooler</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600</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4.0</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2,400</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critical</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184">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Fan</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53</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8.0</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424</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critical</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184">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Blender</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330</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0.08</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27</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dirty="0">
                          <a:solidFill>
                            <a:srgbClr val="1B2733"/>
                          </a:solidFill>
                          <a:latin typeface="Calibri" pitchFamily="34" charset="0"/>
                          <a:ea typeface="Calibri" pitchFamily="34" charset="-122"/>
                          <a:cs typeface="Calibri" pitchFamily="34" charset="-120"/>
                        </a:rPr>
                        <a:t>non-crit</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184">
                <a:tc>
                  <a:txBody>
                    <a:bodyPr/>
                    <a:lstStyle/>
                    <a:p>
                      <a:pPr marL="0" indent="0">
                        <a:buNone/>
                      </a:pPr>
                      <a:r>
                        <a:rPr lang="en-US" sz="900" b="1" dirty="0">
                          <a:solidFill>
                            <a:srgbClr val="1B2733"/>
                          </a:solidFill>
                          <a:latin typeface="Calibri" pitchFamily="34" charset="0"/>
                          <a:ea typeface="Calibri" pitchFamily="34" charset="-122"/>
                          <a:cs typeface="Calibri" pitchFamily="34" charset="-120"/>
                        </a:rPr>
                        <a:t>TOTAL</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b="1" dirty="0">
                          <a:solidFill>
                            <a:srgbClr val="1B2733"/>
                          </a:solidFill>
                          <a:latin typeface="Calibri" pitchFamily="34" charset="0"/>
                          <a:ea typeface="Calibri" pitchFamily="34" charset="-122"/>
                          <a:cs typeface="Calibri" pitchFamily="34" charset="-120"/>
                        </a:rPr>
                        <a:t>5,083 W</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b="1" dirty="0">
                          <a:solidFill>
                            <a:srgbClr val="1B2733"/>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b="1" dirty="0">
                          <a:solidFill>
                            <a:srgbClr val="1B2733"/>
                          </a:solidFill>
                          <a:latin typeface="Calibri" pitchFamily="34" charset="0"/>
                          <a:ea typeface="Calibri" pitchFamily="34" charset="-122"/>
                          <a:cs typeface="Calibri" pitchFamily="34" charset="-120"/>
                        </a:rPr>
                        <a:t>12,851</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00" b="1" dirty="0">
                          <a:solidFill>
                            <a:srgbClr val="1B2733"/>
                          </a:solidFill>
                          <a:latin typeface="Calibri" pitchFamily="34" charset="0"/>
                          <a:ea typeface="Calibri" pitchFamily="34" charset="-122"/>
                          <a:cs typeface="Calibri" pitchFamily="34" charset="-120"/>
                        </a:rPr>
                        <a:t>PF 0.94</a:t>
                      </a:r>
                      <a:endParaRPr lang="en-US" sz="90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11" name="Text 8"/>
          <p:cNvSpPr txBox="1"/>
          <p:nvPr/>
        </p:nvSpPr>
        <p:spPr>
          <a:xfrm>
            <a:off x="754380" y="5297424"/>
            <a:ext cx="5303520" cy="274320"/>
          </a:xfrm>
          <a:prstGeom prst="rect">
            <a:avLst/>
          </a:prstGeom>
          <a:noFill/>
          <a:ln/>
        </p:spPr>
        <p:txBody>
          <a:bodyPr wrap="square" lIns="0" tIns="0" rIns="0" bIns="0" rtlCol="0" anchor="ctr"/>
          <a:lstStyle/>
          <a:p>
            <a:pPr marL="0" indent="0">
              <a:buNone/>
            </a:pPr>
            <a:r>
              <a:rPr lang="en-US" sz="800" i="1" dirty="0">
                <a:solidFill>
                  <a:srgbClr val="5F6B76"/>
                </a:solidFill>
                <a:latin typeface="Calibri" pitchFamily="34" charset="0"/>
                <a:ea typeface="Calibri" pitchFamily="34" charset="-122"/>
                <a:cs typeface="Calibri" pitchFamily="34" charset="-120"/>
              </a:rPr>
              <a:t>Daily energy 12.85 kWh · critical 2.82 kWh · connected 5.08 kW / 5.40 kVA</a:t>
            </a:r>
            <a:endParaRPr lang="en-US" sz="800" dirty="0"/>
          </a:p>
        </p:txBody>
      </p:sp>
      <p:sp>
        <p:nvSpPr>
          <p:cNvPr id="12" name="Shape 9"/>
          <p:cNvSpPr/>
          <p:nvPr/>
        </p:nvSpPr>
        <p:spPr>
          <a:xfrm>
            <a:off x="6355080" y="2286000"/>
            <a:ext cx="5303520" cy="3246120"/>
          </a:xfrm>
          <a:prstGeom prst="roundRect">
            <a:avLst>
              <a:gd name="adj" fmla="val 1408"/>
            </a:avLst>
          </a:prstGeom>
          <a:solidFill>
            <a:srgbClr val="EEF3F6"/>
          </a:solidFill>
          <a:ln w="12700">
            <a:solidFill>
              <a:srgbClr val="C9D6DE"/>
            </a:solidFill>
            <a:prstDash val="solid"/>
          </a:ln>
        </p:spPr>
        <p:txBody>
          <a:bodyPr/>
          <a:lstStyle/>
          <a:p>
            <a:endParaRPr lang="ar-SA"/>
          </a:p>
        </p:txBody>
      </p:sp>
      <p:sp>
        <p:nvSpPr>
          <p:cNvPr id="13" name="Text 10"/>
          <p:cNvSpPr txBox="1"/>
          <p:nvPr/>
        </p:nvSpPr>
        <p:spPr>
          <a:xfrm>
            <a:off x="6537960" y="2395728"/>
            <a:ext cx="4937760" cy="274320"/>
          </a:xfrm>
          <a:prstGeom prst="rect">
            <a:avLst/>
          </a:prstGeom>
          <a:noFill/>
          <a:ln/>
        </p:spPr>
        <p:txBody>
          <a:bodyPr wrap="square" lIns="0" tIns="0" rIns="0" bIns="0" rtlCol="0" anchor="ctr"/>
          <a:lstStyle/>
          <a:p>
            <a:pPr marL="0" indent="0">
              <a:buNone/>
            </a:pPr>
            <a:r>
              <a:rPr lang="en-US" sz="1050" b="1" dirty="0">
                <a:solidFill>
                  <a:srgbClr val="2E7D32"/>
                </a:solidFill>
                <a:latin typeface="Calibri" pitchFamily="34" charset="0"/>
                <a:ea typeface="Calibri" pitchFamily="34" charset="-122"/>
                <a:cs typeface="Calibri" pitchFamily="34" charset="-120"/>
              </a:rPr>
              <a:t>DESIGN &amp; SIZING PROCESS</a:t>
            </a:r>
            <a:endParaRPr lang="en-US" sz="1050" dirty="0"/>
          </a:p>
        </p:txBody>
      </p:sp>
      <p:sp>
        <p:nvSpPr>
          <p:cNvPr id="14" name="Text 11"/>
          <p:cNvSpPr txBox="1"/>
          <p:nvPr/>
        </p:nvSpPr>
        <p:spPr>
          <a:xfrm>
            <a:off x="6537960" y="2743200"/>
            <a:ext cx="4983480" cy="2743200"/>
          </a:xfrm>
          <a:prstGeom prst="rect">
            <a:avLst/>
          </a:prstGeom>
          <a:noFill/>
          <a:ln/>
        </p:spPr>
        <p:txBody>
          <a:bodyPr wrap="square" lIns="0" tIns="0" rIns="0" bIns="0" rtlCol="0" anchor="t"/>
          <a:lstStyle/>
          <a:p>
            <a:pPr marL="152400" indent="-152400">
              <a:spcAft>
                <a:spcPts val="700"/>
              </a:spcAft>
              <a:buSzPct val="100000"/>
              <a:buChar char="•"/>
            </a:pPr>
            <a:r>
              <a:rPr lang="en-US" sz="1050" dirty="0">
                <a:solidFill>
                  <a:srgbClr val="1B2733"/>
                </a:solidFill>
                <a:latin typeface="Calibri" pitchFamily="34" charset="0"/>
                <a:ea typeface="Calibri" pitchFamily="34" charset="-122"/>
                <a:cs typeface="Calibri" pitchFamily="34" charset="-120"/>
              </a:rPr>
              <a:t>Our design is a scaled-down LV-side version of the NEOM City microgrid concept — Phase A loads only, not the whole residential load set.</a:t>
            </a:r>
            <a:endParaRPr lang="en-US" sz="1050" dirty="0"/>
          </a:p>
          <a:p>
            <a:pPr marL="152400" indent="-152400">
              <a:spcAft>
                <a:spcPts val="700"/>
              </a:spcAft>
              <a:buSzPct val="100000"/>
              <a:buChar char="•"/>
            </a:pPr>
            <a:r>
              <a:rPr lang="en-US" sz="1050" dirty="0">
                <a:solidFill>
                  <a:srgbClr val="1B2733"/>
                </a:solidFill>
                <a:latin typeface="Calibri" pitchFamily="34" charset="0"/>
                <a:ea typeface="Calibri" pitchFamily="34" charset="-122"/>
                <a:cs typeface="Calibri" pitchFamily="34" charset="-120"/>
              </a:rPr>
              <a:t>Ground truth = the Phase A load CSV: device rating x daily on-hours -&gt; 24-h load profile and daily energy.</a:t>
            </a:r>
            <a:endParaRPr lang="en-US" sz="1050" dirty="0"/>
          </a:p>
          <a:p>
            <a:pPr marL="152400" indent="-152400">
              <a:spcAft>
                <a:spcPts val="700"/>
              </a:spcAft>
              <a:buSzPct val="100000"/>
              <a:buChar char="•"/>
            </a:pPr>
            <a:r>
              <a:rPr lang="en-US" sz="1050" b="1" dirty="0">
                <a:solidFill>
                  <a:srgbClr val="1B2733"/>
                </a:solidFill>
                <a:latin typeface="Calibri" pitchFamily="34" charset="0"/>
                <a:ea typeface="Calibri" pitchFamily="34" charset="-122"/>
                <a:cs typeface="Calibri" pitchFamily="34" charset="-120"/>
              </a:rPr>
              <a:t>Islanded</a:t>
            </a:r>
            <a:r>
              <a:rPr lang="en-US" sz="1050" dirty="0">
                <a:solidFill>
                  <a:srgbClr val="1B2733"/>
                </a:solidFill>
                <a:latin typeface="Calibri" pitchFamily="34" charset="0"/>
                <a:ea typeface="Calibri" pitchFamily="34" charset="-122"/>
                <a:cs typeface="Calibri" pitchFamily="34" charset="-120"/>
              </a:rPr>
              <a:t> </a:t>
            </a:r>
            <a:r>
              <a:rPr lang="en-US" sz="1050" b="1" dirty="0">
                <a:solidFill>
                  <a:srgbClr val="1B2733"/>
                </a:solidFill>
                <a:latin typeface="Calibri" pitchFamily="34" charset="0"/>
                <a:ea typeface="Calibri" pitchFamily="34" charset="-122"/>
                <a:cs typeface="Calibri" pitchFamily="34" charset="-120"/>
              </a:rPr>
              <a:t>design basis</a:t>
            </a:r>
            <a:r>
              <a:rPr lang="en-US" sz="1050" dirty="0">
                <a:solidFill>
                  <a:srgbClr val="1B2733"/>
                </a:solidFill>
                <a:latin typeface="Calibri" pitchFamily="34" charset="0"/>
                <a:ea typeface="Calibri" pitchFamily="34" charset="-122"/>
                <a:cs typeface="Calibri" pitchFamily="34" charset="-120"/>
              </a:rPr>
              <a:t>: 24-h off-grid cycle, single-phase 230 V / 60 Hz, critical loads supplied at all times.</a:t>
            </a:r>
            <a:endParaRPr lang="en-US" sz="1050" dirty="0"/>
          </a:p>
          <a:p>
            <a:pPr marL="152400" indent="-152400">
              <a:spcAft>
                <a:spcPts val="700"/>
              </a:spcAft>
              <a:buSzPct val="100000"/>
              <a:buChar char="•"/>
            </a:pPr>
            <a:r>
              <a:rPr lang="en-US" sz="1050" dirty="0">
                <a:solidFill>
                  <a:srgbClr val="1B2733"/>
                </a:solidFill>
                <a:latin typeface="Calibri" pitchFamily="34" charset="0"/>
                <a:ea typeface="Calibri" pitchFamily="34" charset="-122"/>
                <a:cs typeface="Calibri" pitchFamily="34" charset="-120"/>
              </a:rPr>
              <a:t>Sizing chain: load profile -&gt; PV array -&gt; battery storage -&gt; grid-forming inverter -&gt; DC/AC cables.</a:t>
            </a:r>
            <a:endParaRPr lang="en-US" sz="1050" dirty="0"/>
          </a:p>
          <a:p>
            <a:pPr marL="152400" indent="-152400">
              <a:spcAft>
                <a:spcPts val="700"/>
              </a:spcAft>
              <a:buSzPct val="100000"/>
              <a:buChar char="•"/>
            </a:pPr>
            <a:r>
              <a:rPr lang="en-US" sz="1050" dirty="0">
                <a:solidFill>
                  <a:srgbClr val="1B2733"/>
                </a:solidFill>
                <a:latin typeface="Calibri" pitchFamily="34" charset="0"/>
                <a:ea typeface="Calibri" pitchFamily="34" charset="-122"/>
                <a:cs typeface="Calibri" pitchFamily="34" charset="-120"/>
              </a:rPr>
              <a:t>Sizing built on 4 operating cases: base, low-PV, high-load, low-PV + high-load (hardware fixed, not re-sized per case).</a:t>
            </a:r>
            <a:endParaRPr lang="en-US" sz="1050" dirty="0"/>
          </a:p>
        </p:txBody>
      </p:sp>
      <p:sp>
        <p:nvSpPr>
          <p:cNvPr id="15" name="Shape 12"/>
          <p:cNvSpPr/>
          <p:nvPr/>
        </p:nvSpPr>
        <p:spPr>
          <a:xfrm>
            <a:off x="548640" y="5715000"/>
            <a:ext cx="11109960" cy="548640"/>
          </a:xfrm>
          <a:prstGeom prst="roundRect">
            <a:avLst>
              <a:gd name="adj" fmla="val 10000"/>
            </a:avLst>
          </a:prstGeom>
          <a:solidFill>
            <a:srgbClr val="E9F1E9"/>
          </a:solidFill>
          <a:ln w="12700">
            <a:solidFill>
              <a:srgbClr val="2E7D32"/>
            </a:solidFill>
            <a:prstDash val="solid"/>
          </a:ln>
        </p:spPr>
        <p:txBody>
          <a:bodyPr/>
          <a:lstStyle/>
          <a:p>
            <a:endParaRPr lang="ar-SA"/>
          </a:p>
        </p:txBody>
      </p:sp>
      <p:sp>
        <p:nvSpPr>
          <p:cNvPr id="16" name="Text 13"/>
          <p:cNvSpPr txBox="1"/>
          <p:nvPr/>
        </p:nvSpPr>
        <p:spPr>
          <a:xfrm>
            <a:off x="777240" y="5715000"/>
            <a:ext cx="10698480" cy="548640"/>
          </a:xfrm>
          <a:prstGeom prst="rect">
            <a:avLst/>
          </a:prstGeom>
          <a:noFill/>
          <a:ln/>
        </p:spPr>
        <p:txBody>
          <a:bodyPr wrap="square" lIns="0" tIns="0" rIns="0" bIns="0"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SIZED RESULT   </a:t>
            </a:r>
            <a:r>
              <a:rPr lang="en-US" sz="1000" dirty="0">
                <a:solidFill>
                  <a:srgbClr val="1B2733"/>
                </a:solidFill>
                <a:latin typeface="Calibri" pitchFamily="34" charset="0"/>
                <a:ea typeface="Calibri" pitchFamily="34" charset="-122"/>
                <a:cs typeface="Calibri" pitchFamily="34" charset="-120"/>
              </a:rPr>
              <a:t>PV 4.4 kWp  ·  Battery 10 kWh LiFePO4 (51.2 V, &gt;=5 kW)  ·  Inverter 5 kW / 5.5 kVA grid-forming (&gt;=10 kVA surge)  ·  AC 6 mm2 / DC 50 mm2 Cu</a:t>
            </a:r>
            <a:endParaRPr lang="en-US" sz="1000" dirty="0"/>
          </a:p>
        </p:txBody>
      </p:sp>
      <p:sp>
        <p:nvSpPr>
          <p:cNvPr id="17" name="Text 14"/>
          <p:cNvSpPr txBox="1"/>
          <p:nvPr/>
        </p:nvSpPr>
        <p:spPr>
          <a:xfrm>
            <a:off x="548640" y="6473952"/>
            <a:ext cx="9144000" cy="274320"/>
          </a:xfrm>
          <a:prstGeom prst="rect">
            <a:avLst/>
          </a:prstGeom>
          <a:noFill/>
          <a:ln/>
        </p:spPr>
        <p:txBody>
          <a:bodyPr wrap="square" lIns="0" tIns="0" rIns="0" bIns="0" rtlCol="0" anchor="ctr"/>
          <a:lstStyle/>
          <a:p>
            <a:pPr marL="0" indent="0">
              <a:buNone/>
            </a:pPr>
            <a:r>
              <a:rPr lang="en-US" sz="900" dirty="0">
                <a:solidFill>
                  <a:srgbClr val="5F6B76"/>
                </a:solidFill>
                <a:latin typeface="Calibri" pitchFamily="34" charset="0"/>
                <a:ea typeface="Calibri" pitchFamily="34" charset="-122"/>
                <a:cs typeface="Calibri" pitchFamily="34" charset="-120"/>
              </a:rPr>
              <a:t>Future Energy Lab · PSAU College of Engineering · Electrical Engineering</a:t>
            </a:r>
            <a:endParaRPr lang="en-US" sz="900" dirty="0"/>
          </a:p>
        </p:txBody>
      </p:sp>
      <p:sp>
        <p:nvSpPr>
          <p:cNvPr id="18" name="Text 15"/>
          <p:cNvSpPr txBox="1"/>
          <p:nvPr/>
        </p:nvSpPr>
        <p:spPr>
          <a:xfrm>
            <a:off x="11430000" y="6473952"/>
            <a:ext cx="457200" cy="274320"/>
          </a:xfrm>
          <a:prstGeom prst="rect">
            <a:avLst/>
          </a:prstGeom>
          <a:noFill/>
          <a:ln/>
        </p:spPr>
        <p:txBody>
          <a:bodyPr wrap="square" lIns="0" tIns="0" rIns="0" bIns="0" rtlCol="0" anchor="ctr"/>
          <a:lstStyle/>
          <a:p>
            <a:pPr marL="0" indent="0" algn="r">
              <a:buNone/>
            </a:pPr>
            <a:r>
              <a:rPr lang="en-US" sz="900" dirty="0">
                <a:solidFill>
                  <a:srgbClr val="5F6B7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256032" cy="256032"/>
          </a:xfrm>
          <a:prstGeom prst="ellipse">
            <a:avLst/>
          </a:prstGeom>
          <a:solidFill>
            <a:srgbClr val="2E7D32"/>
          </a:solidFill>
          <a:ln/>
        </p:spPr>
        <p:txBody>
          <a:bodyPr/>
          <a:lstStyle/>
          <a:p>
            <a:endParaRPr lang="ar-SA"/>
          </a:p>
        </p:txBody>
      </p:sp>
      <p:sp>
        <p:nvSpPr>
          <p:cNvPr id="3" name="Text 1"/>
          <p:cNvSpPr txBox="1"/>
          <p:nvPr/>
        </p:nvSpPr>
        <p:spPr>
          <a:xfrm>
            <a:off x="896112" y="411480"/>
            <a:ext cx="7315200" cy="32004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MICROGRID</a:t>
            </a:r>
            <a:endParaRPr lang="en-US" sz="1200" dirty="0"/>
          </a:p>
        </p:txBody>
      </p:sp>
      <p:sp>
        <p:nvSpPr>
          <p:cNvPr id="4" name="Text 2"/>
          <p:cNvSpPr txBox="1"/>
          <p:nvPr/>
        </p:nvSpPr>
        <p:spPr>
          <a:xfrm>
            <a:off x="548640" y="749808"/>
            <a:ext cx="8778240" cy="822960"/>
          </a:xfrm>
          <a:prstGeom prst="rect">
            <a:avLst/>
          </a:prstGeom>
          <a:noFill/>
          <a:ln/>
        </p:spPr>
        <p:txBody>
          <a:bodyPr wrap="square" lIns="0" tIns="0" rIns="0" bIns="0" rtlCol="0" anchor="ctr"/>
          <a:lstStyle/>
          <a:p>
            <a:pPr marL="0" indent="0">
              <a:buNone/>
            </a:pPr>
            <a:r>
              <a:rPr lang="en-US" sz="3000" b="1" dirty="0">
                <a:solidFill>
                  <a:srgbClr val="1B2733"/>
                </a:solidFill>
                <a:latin typeface="Cambria" pitchFamily="34" charset="0"/>
                <a:ea typeface="Cambria" pitchFamily="34" charset="-122"/>
                <a:cs typeface="Cambria" pitchFamily="34" charset="-120"/>
              </a:rPr>
              <a:t>Phase A Microgrid — Simulation Verification</a:t>
            </a:r>
            <a:endParaRPr lang="en-US" sz="3000" dirty="0"/>
          </a:p>
        </p:txBody>
      </p:sp>
      <p:sp>
        <p:nvSpPr>
          <p:cNvPr id="7" name="Text 5"/>
          <p:cNvSpPr txBox="1"/>
          <p:nvPr/>
        </p:nvSpPr>
        <p:spPr>
          <a:xfrm>
            <a:off x="548640" y="1627632"/>
            <a:ext cx="11155680" cy="566928"/>
          </a:xfrm>
          <a:prstGeom prst="rect">
            <a:avLst/>
          </a:prstGeom>
          <a:noFill/>
          <a:ln/>
        </p:spPr>
        <p:txBody>
          <a:bodyPr wrap="square" lIns="0" tIns="0" rIns="0" bIns="0" rtlCol="0" anchor="ctr"/>
          <a:lstStyle/>
          <a:p>
            <a:pPr marL="0" indent="0">
              <a:buNone/>
            </a:pPr>
            <a:r>
              <a:rPr lang="en-US" sz="1300" i="1" dirty="0">
                <a:solidFill>
                  <a:srgbClr val="065A82"/>
                </a:solidFill>
                <a:latin typeface="Calibri" pitchFamily="34" charset="0"/>
                <a:ea typeface="Calibri" pitchFamily="34" charset="-122"/>
                <a:cs typeface="Calibri" pitchFamily="34" charset="-120"/>
              </a:rPr>
              <a:t>The sizing was verified with a runnable 24-hour energy/power-balance simulation across the four operating cases — critical load is served 100% in every case.</a:t>
            </a:r>
            <a:endParaRPr lang="en-US" sz="1300" dirty="0"/>
          </a:p>
        </p:txBody>
      </p:sp>
      <p:graphicFrame>
        <p:nvGraphicFramePr>
          <p:cNvPr id="8" name="Table 0"/>
          <p:cNvGraphicFramePr>
            <a:graphicFrameLocks noGrp="1"/>
          </p:cNvGraphicFramePr>
          <p:nvPr/>
        </p:nvGraphicFramePr>
        <p:xfrm>
          <a:off x="548640" y="2286000"/>
          <a:ext cx="11109960" cy="1920240"/>
        </p:xfrm>
        <a:graphic>
          <a:graphicData uri="http://schemas.openxmlformats.org/drawingml/2006/table">
            <a:tbl>
              <a:tblPr/>
              <a:tblGrid>
                <a:gridCol w="233172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gridCol w="1645920">
                  <a:extLst>
                    <a:ext uri="{9D8B030D-6E8A-4147-A177-3AD203B41FA5}">
                      <a16:colId xmlns:a16="http://schemas.microsoft.com/office/drawing/2014/main" val="20006"/>
                    </a:ext>
                  </a:extLst>
                </a:gridCol>
                <a:gridCol w="1371600">
                  <a:extLst>
                    <a:ext uri="{9D8B030D-6E8A-4147-A177-3AD203B41FA5}">
                      <a16:colId xmlns:a16="http://schemas.microsoft.com/office/drawing/2014/main" val="20007"/>
                    </a:ext>
                  </a:extLst>
                </a:gridCol>
              </a:tblGrid>
              <a:tr h="384048">
                <a:tc>
                  <a:txBody>
                    <a:bodyPr/>
                    <a:lstStyle/>
                    <a:p>
                      <a:pPr marL="0" indent="0" algn="ctr">
                        <a:buNone/>
                      </a:pPr>
                      <a:r>
                        <a:rPr lang="en-US" sz="950" b="1" dirty="0">
                          <a:solidFill>
                            <a:srgbClr val="1B2733"/>
                          </a:solidFill>
                          <a:latin typeface="Calibri" pitchFamily="34" charset="0"/>
                          <a:ea typeface="Calibri" pitchFamily="34" charset="-122"/>
                          <a:cs typeface="Calibri" pitchFamily="34" charset="-120"/>
                        </a:rPr>
                        <a:t>Operating case</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B2733"/>
                          </a:solidFill>
                          <a:latin typeface="Calibri" pitchFamily="34" charset="0"/>
                          <a:ea typeface="Calibri" pitchFamily="34" charset="-122"/>
                          <a:cs typeface="Calibri" pitchFamily="34" charset="-120"/>
                        </a:rPr>
                        <a:t>PSH (h)</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B2733"/>
                          </a:solidFill>
                          <a:latin typeface="Calibri" pitchFamily="34" charset="0"/>
                          <a:ea typeface="Calibri" pitchFamily="34" charset="-122"/>
                          <a:cs typeface="Calibri" pitchFamily="34" charset="-120"/>
                        </a:rPr>
                        <a:t>Load</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B2733"/>
                          </a:solidFill>
                          <a:latin typeface="Calibri" pitchFamily="34" charset="0"/>
                          <a:ea typeface="Calibri" pitchFamily="34" charset="-122"/>
                          <a:cs typeface="Calibri" pitchFamily="34" charset="-120"/>
                        </a:rPr>
                        <a:t>Served</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B2733"/>
                          </a:solidFill>
                          <a:latin typeface="Calibri" pitchFamily="34" charset="0"/>
                          <a:ea typeface="Calibri" pitchFamily="34" charset="-122"/>
                          <a:cs typeface="Calibri" pitchFamily="34" charset="-120"/>
                        </a:rPr>
                        <a:t>SOC min</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B2733"/>
                          </a:solidFill>
                          <a:latin typeface="Calibri" pitchFamily="34" charset="0"/>
                          <a:ea typeface="Calibri" pitchFamily="34" charset="-122"/>
                          <a:cs typeface="Calibri" pitchFamily="34" charset="-120"/>
                        </a:rPr>
                        <a:t>Non-crit shed</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B2733"/>
                          </a:solidFill>
                          <a:latin typeface="Calibri" pitchFamily="34" charset="0"/>
                          <a:ea typeface="Calibri" pitchFamily="34" charset="-122"/>
                          <a:cs typeface="Calibri" pitchFamily="34" charset="-120"/>
                        </a:rPr>
                        <a:t>Critical unmet</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1B2733"/>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84048">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Base</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5.5</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37%</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0.00 kWh</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0.000 kWh</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Low PV</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90%</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29%</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1.30 kWh</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0.000 kWh</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High load</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5.5</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94%</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27%</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0.95 kWh</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0.000 kWh</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Low PV + high load</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+25%</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80%</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3.21 kWh</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0.000 kWh</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1B2733"/>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9" name="Shape 6"/>
          <p:cNvSpPr/>
          <p:nvPr/>
        </p:nvSpPr>
        <p:spPr>
          <a:xfrm>
            <a:off x="548640" y="4160520"/>
            <a:ext cx="3566160" cy="1874520"/>
          </a:xfrm>
          <a:prstGeom prst="roundRect">
            <a:avLst>
              <a:gd name="adj" fmla="val 1951"/>
            </a:avLst>
          </a:prstGeom>
          <a:solidFill>
            <a:srgbClr val="FFFFFF"/>
          </a:solidFill>
          <a:ln w="12700">
            <a:solidFill>
              <a:srgbClr val="C9D6DE"/>
            </a:solidFill>
            <a:prstDash val="solid"/>
          </a:ln>
        </p:spPr>
        <p:txBody>
          <a:bodyPr/>
          <a:lstStyle/>
          <a:p>
            <a:endParaRPr lang="ar-SA"/>
          </a:p>
        </p:txBody>
      </p:sp>
      <p:pic>
        <p:nvPicPr>
          <p:cNvPr id="10" name="Image 0" descr="C:/Users/psaum/Desktop/Future Energy Lab/MicroGrid/phase-a-microgrid-sizing/simulation/figs/base/02_pv_batt_vs_load.png"/>
          <p:cNvPicPr>
            <a:picLocks noChangeAspect="1"/>
          </p:cNvPicPr>
          <p:nvPr/>
        </p:nvPicPr>
        <p:blipFill>
          <a:blip r:embed="rId3"/>
          <a:srcRect/>
          <a:stretch/>
        </p:blipFill>
        <p:spPr>
          <a:xfrm>
            <a:off x="621792" y="4233672"/>
            <a:ext cx="3419856" cy="1728216"/>
          </a:xfrm>
          <a:prstGeom prst="rect">
            <a:avLst/>
          </a:prstGeom>
        </p:spPr>
      </p:pic>
      <p:sp>
        <p:nvSpPr>
          <p:cNvPr id="11" name="Text 7"/>
          <p:cNvSpPr txBox="1"/>
          <p:nvPr/>
        </p:nvSpPr>
        <p:spPr>
          <a:xfrm>
            <a:off x="548640" y="6053328"/>
            <a:ext cx="3566160" cy="274320"/>
          </a:xfrm>
          <a:prstGeom prst="rect">
            <a:avLst/>
          </a:prstGeom>
          <a:noFill/>
          <a:ln/>
        </p:spPr>
        <p:txBody>
          <a:bodyPr wrap="square" lIns="0" tIns="0" rIns="0" bIns="0" rtlCol="0" anchor="ctr"/>
          <a:lstStyle/>
          <a:p>
            <a:pPr marL="0" indent="0" algn="ctr">
              <a:buNone/>
            </a:pPr>
            <a:r>
              <a:rPr lang="en-US" sz="900" dirty="0">
                <a:solidFill>
                  <a:srgbClr val="5F6B76"/>
                </a:solidFill>
                <a:latin typeface="Calibri" pitchFamily="34" charset="0"/>
                <a:ea typeface="Calibri" pitchFamily="34" charset="-122"/>
                <a:cs typeface="Calibri" pitchFamily="34" charset="-120"/>
              </a:rPr>
              <a:t>Base case — PV + battery vs load</a:t>
            </a:r>
            <a:endParaRPr lang="en-US" sz="900" dirty="0"/>
          </a:p>
        </p:txBody>
      </p:sp>
      <p:sp>
        <p:nvSpPr>
          <p:cNvPr id="12" name="Shape 8"/>
          <p:cNvSpPr/>
          <p:nvPr/>
        </p:nvSpPr>
        <p:spPr>
          <a:xfrm>
            <a:off x="4315968" y="4160520"/>
            <a:ext cx="3566160" cy="1874520"/>
          </a:xfrm>
          <a:prstGeom prst="roundRect">
            <a:avLst>
              <a:gd name="adj" fmla="val 1951"/>
            </a:avLst>
          </a:prstGeom>
          <a:solidFill>
            <a:srgbClr val="FFFFFF"/>
          </a:solidFill>
          <a:ln w="12700">
            <a:solidFill>
              <a:srgbClr val="C9D6DE"/>
            </a:solidFill>
            <a:prstDash val="solid"/>
          </a:ln>
        </p:spPr>
        <p:txBody>
          <a:bodyPr/>
          <a:lstStyle/>
          <a:p>
            <a:endParaRPr lang="ar-SA"/>
          </a:p>
        </p:txBody>
      </p:sp>
      <p:pic>
        <p:nvPicPr>
          <p:cNvPr id="13" name="Image 1" descr="C:/Users/psaum/Desktop/Future Energy Lab/MicroGrid/phase-a-microgrid-sizing/simulation/figs/base/04_soc.png"/>
          <p:cNvPicPr>
            <a:picLocks noChangeAspect="1"/>
          </p:cNvPicPr>
          <p:nvPr/>
        </p:nvPicPr>
        <p:blipFill>
          <a:blip r:embed="rId4"/>
          <a:srcRect/>
          <a:stretch/>
        </p:blipFill>
        <p:spPr>
          <a:xfrm>
            <a:off x="4389120" y="4233672"/>
            <a:ext cx="3419856" cy="1728216"/>
          </a:xfrm>
          <a:prstGeom prst="rect">
            <a:avLst/>
          </a:prstGeom>
        </p:spPr>
      </p:pic>
      <p:sp>
        <p:nvSpPr>
          <p:cNvPr id="14" name="Text 9"/>
          <p:cNvSpPr txBox="1"/>
          <p:nvPr/>
        </p:nvSpPr>
        <p:spPr>
          <a:xfrm>
            <a:off x="4315968" y="6053328"/>
            <a:ext cx="3566160" cy="274320"/>
          </a:xfrm>
          <a:prstGeom prst="rect">
            <a:avLst/>
          </a:prstGeom>
          <a:noFill/>
          <a:ln/>
        </p:spPr>
        <p:txBody>
          <a:bodyPr wrap="square" lIns="0" tIns="0" rIns="0" bIns="0" rtlCol="0" anchor="ctr"/>
          <a:lstStyle/>
          <a:p>
            <a:pPr marL="0" indent="0" algn="ctr">
              <a:buNone/>
            </a:pPr>
            <a:r>
              <a:rPr lang="en-US" sz="900" dirty="0">
                <a:solidFill>
                  <a:srgbClr val="5F6B76"/>
                </a:solidFill>
                <a:latin typeface="Calibri" pitchFamily="34" charset="0"/>
                <a:ea typeface="Calibri" pitchFamily="34" charset="-122"/>
                <a:cs typeface="Calibri" pitchFamily="34" charset="-120"/>
              </a:rPr>
              <a:t>Base case — battery state of charge</a:t>
            </a:r>
            <a:endParaRPr lang="en-US" sz="900" dirty="0"/>
          </a:p>
        </p:txBody>
      </p:sp>
      <p:sp>
        <p:nvSpPr>
          <p:cNvPr id="15" name="Shape 10"/>
          <p:cNvSpPr/>
          <p:nvPr/>
        </p:nvSpPr>
        <p:spPr>
          <a:xfrm>
            <a:off x="8083296" y="4160520"/>
            <a:ext cx="3566160" cy="1874520"/>
          </a:xfrm>
          <a:prstGeom prst="roundRect">
            <a:avLst>
              <a:gd name="adj" fmla="val 1951"/>
            </a:avLst>
          </a:prstGeom>
          <a:solidFill>
            <a:srgbClr val="FFFFFF"/>
          </a:solidFill>
          <a:ln w="12700">
            <a:solidFill>
              <a:srgbClr val="C9D6DE"/>
            </a:solidFill>
            <a:prstDash val="solid"/>
          </a:ln>
        </p:spPr>
        <p:txBody>
          <a:bodyPr/>
          <a:lstStyle/>
          <a:p>
            <a:endParaRPr lang="ar-SA"/>
          </a:p>
        </p:txBody>
      </p:sp>
      <p:pic>
        <p:nvPicPr>
          <p:cNvPr id="16" name="Image 2" descr="C:/Users/psaum/Desktop/Future Energy Lab/MicroGrid/phase-a-microgrid-sizing/simulation/figs/low_pv_high_load/04_soc.png"/>
          <p:cNvPicPr>
            <a:picLocks noChangeAspect="1"/>
          </p:cNvPicPr>
          <p:nvPr/>
        </p:nvPicPr>
        <p:blipFill>
          <a:blip r:embed="rId5"/>
          <a:srcRect/>
          <a:stretch/>
        </p:blipFill>
        <p:spPr>
          <a:xfrm>
            <a:off x="8156448" y="4233672"/>
            <a:ext cx="3419856" cy="1728216"/>
          </a:xfrm>
          <a:prstGeom prst="rect">
            <a:avLst/>
          </a:prstGeom>
        </p:spPr>
      </p:pic>
      <p:sp>
        <p:nvSpPr>
          <p:cNvPr id="17" name="Text 11"/>
          <p:cNvSpPr txBox="1"/>
          <p:nvPr/>
        </p:nvSpPr>
        <p:spPr>
          <a:xfrm>
            <a:off x="8083296" y="6053328"/>
            <a:ext cx="3566160" cy="274320"/>
          </a:xfrm>
          <a:prstGeom prst="rect">
            <a:avLst/>
          </a:prstGeom>
          <a:noFill/>
          <a:ln/>
        </p:spPr>
        <p:txBody>
          <a:bodyPr wrap="square" lIns="0" tIns="0" rIns="0" bIns="0" rtlCol="0" anchor="ctr"/>
          <a:lstStyle/>
          <a:p>
            <a:pPr marL="0" indent="0" algn="ctr">
              <a:buNone/>
            </a:pPr>
            <a:r>
              <a:rPr lang="en-US" sz="900" dirty="0">
                <a:solidFill>
                  <a:srgbClr val="5F6B76"/>
                </a:solidFill>
                <a:latin typeface="Calibri" pitchFamily="34" charset="0"/>
                <a:ea typeface="Calibri" pitchFamily="34" charset="-122"/>
                <a:cs typeface="Calibri" pitchFamily="34" charset="-120"/>
              </a:rPr>
              <a:t>Worst case (low PV + high load) — SOC</a:t>
            </a:r>
            <a:endParaRPr lang="en-US" sz="900" dirty="0"/>
          </a:p>
        </p:txBody>
      </p:sp>
      <p:sp>
        <p:nvSpPr>
          <p:cNvPr id="18" name="Text 12"/>
          <p:cNvSpPr txBox="1"/>
          <p:nvPr/>
        </p:nvSpPr>
        <p:spPr>
          <a:xfrm>
            <a:off x="594360" y="6284976"/>
            <a:ext cx="11109960" cy="320040"/>
          </a:xfrm>
          <a:prstGeom prst="rect">
            <a:avLst/>
          </a:prstGeom>
          <a:noFill/>
          <a:ln/>
        </p:spPr>
        <p:txBody>
          <a:bodyPr wrap="square" lIns="0" tIns="0" rIns="0" bIns="0" rtlCol="0" anchor="ctr"/>
          <a:lstStyle/>
          <a:p>
            <a:pPr marL="0" indent="0">
              <a:buNone/>
            </a:pPr>
            <a:r>
              <a:rPr lang="en-US" sz="900" i="1" dirty="0">
                <a:solidFill>
                  <a:srgbClr val="065A82"/>
                </a:solidFill>
                <a:latin typeface="Calibri" pitchFamily="34" charset="0"/>
                <a:ea typeface="Calibri" pitchFamily="34" charset="-122"/>
                <a:cs typeface="Calibri" pitchFamily="34" charset="-120"/>
              </a:rPr>
              <a:t>EMS sheds the non-critical air conditioner at SOC &lt; 40% — the 10 kWh battery is retained and critical supply is guaranteed in all four cases..</a:t>
            </a:r>
            <a:endParaRPr lang="en-US" sz="900" dirty="0"/>
          </a:p>
        </p:txBody>
      </p:sp>
      <p:sp>
        <p:nvSpPr>
          <p:cNvPr id="19" name="Text 13"/>
          <p:cNvSpPr txBox="1"/>
          <p:nvPr/>
        </p:nvSpPr>
        <p:spPr>
          <a:xfrm>
            <a:off x="548640" y="6473952"/>
            <a:ext cx="9144000" cy="274320"/>
          </a:xfrm>
          <a:prstGeom prst="rect">
            <a:avLst/>
          </a:prstGeom>
          <a:noFill/>
          <a:ln/>
        </p:spPr>
        <p:txBody>
          <a:bodyPr wrap="square" lIns="0" tIns="0" rIns="0" bIns="0" rtlCol="0" anchor="ctr"/>
          <a:lstStyle/>
          <a:p>
            <a:pPr marL="0" indent="0">
              <a:buNone/>
            </a:pPr>
            <a:r>
              <a:rPr lang="en-US" sz="900" dirty="0">
                <a:solidFill>
                  <a:srgbClr val="5F6B76"/>
                </a:solidFill>
                <a:latin typeface="Calibri" pitchFamily="34" charset="0"/>
                <a:ea typeface="Calibri" pitchFamily="34" charset="-122"/>
                <a:cs typeface="Calibri" pitchFamily="34" charset="-120"/>
              </a:rPr>
              <a:t>Future Energy Lab · PSAU College of Engineering · Electrical Engineering</a:t>
            </a:r>
            <a:endParaRPr lang="en-US" sz="900" dirty="0"/>
          </a:p>
        </p:txBody>
      </p:sp>
      <p:sp>
        <p:nvSpPr>
          <p:cNvPr id="20" name="Text 14"/>
          <p:cNvSpPr txBox="1"/>
          <p:nvPr/>
        </p:nvSpPr>
        <p:spPr>
          <a:xfrm>
            <a:off x="11430000" y="6473952"/>
            <a:ext cx="457200" cy="274320"/>
          </a:xfrm>
          <a:prstGeom prst="rect">
            <a:avLst/>
          </a:prstGeom>
          <a:noFill/>
          <a:ln/>
        </p:spPr>
        <p:txBody>
          <a:bodyPr wrap="square" lIns="0" tIns="0" rIns="0" bIns="0" rtlCol="0" anchor="ctr"/>
          <a:lstStyle/>
          <a:p>
            <a:pPr marL="0" indent="0" algn="r">
              <a:buNone/>
            </a:pPr>
            <a:r>
              <a:rPr lang="en-US" sz="900" dirty="0">
                <a:solidFill>
                  <a:srgbClr val="5F6B7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4" name="Text 2"/>
          <p:cNvSpPr txBox="1"/>
          <p:nvPr/>
        </p:nvSpPr>
        <p:spPr>
          <a:xfrm>
            <a:off x="548640" y="749808"/>
            <a:ext cx="9052560" cy="868680"/>
          </a:xfrm>
          <a:prstGeom prst="rect">
            <a:avLst/>
          </a:prstGeom>
          <a:noFill/>
          <a:ln/>
        </p:spPr>
        <p:txBody>
          <a:bodyPr wrap="square" lIns="0" tIns="0" rIns="0" bIns="0" rtlCol="0" anchor="ctr"/>
          <a:lstStyle/>
          <a:p>
            <a:pPr marL="0" indent="0">
              <a:buNone/>
            </a:pPr>
            <a:r>
              <a:rPr lang="en-US" sz="3000" b="1" dirty="0">
                <a:solidFill>
                  <a:srgbClr val="1B2733"/>
                </a:solidFill>
                <a:latin typeface="Cambria" pitchFamily="34" charset="0"/>
                <a:ea typeface="Cambria" pitchFamily="34" charset="-122"/>
                <a:cs typeface="Cambria" pitchFamily="34" charset="-120"/>
              </a:rPr>
              <a:t>Microgrid Applications: Lab Validation to Data-Centre Resilience</a:t>
            </a:r>
            <a:endParaRPr lang="en-US" sz="3000" dirty="0"/>
          </a:p>
        </p:txBody>
      </p:sp>
      <p:sp>
        <p:nvSpPr>
          <p:cNvPr id="7" name="Text 5"/>
          <p:cNvSpPr txBox="1"/>
          <p:nvPr/>
        </p:nvSpPr>
        <p:spPr>
          <a:xfrm>
            <a:off x="548640" y="1664208"/>
            <a:ext cx="11064240" cy="640080"/>
          </a:xfrm>
          <a:prstGeom prst="rect">
            <a:avLst/>
          </a:prstGeom>
          <a:noFill/>
          <a:ln/>
        </p:spPr>
        <p:txBody>
          <a:bodyPr wrap="square" lIns="0" tIns="0" rIns="0" bIns="0" rtlCol="0" anchor="ctr"/>
          <a:lstStyle/>
          <a:p>
            <a:pPr marL="0" indent="0">
              <a:buNone/>
            </a:pPr>
            <a:r>
              <a:rPr lang="en-US" sz="1350" i="1" dirty="0">
                <a:solidFill>
                  <a:srgbClr val="065A82"/>
                </a:solidFill>
                <a:latin typeface="Calibri" pitchFamily="34" charset="0"/>
                <a:ea typeface="Calibri" pitchFamily="34" charset="-122"/>
                <a:cs typeface="Calibri" pitchFamily="34" charset="-120"/>
              </a:rPr>
              <a:t>The same microgrid model can study data-centre energy resilience — continuity, renewable integration, peak-load management, backup-power coordination — with the lab providing a scaled environment to validate scenarios before wider implementation.</a:t>
            </a:r>
            <a:endParaRPr lang="en-US" sz="1350" dirty="0"/>
          </a:p>
        </p:txBody>
      </p:sp>
      <p:sp>
        <p:nvSpPr>
          <p:cNvPr id="8" name="Shape 6"/>
          <p:cNvSpPr/>
          <p:nvPr/>
        </p:nvSpPr>
        <p:spPr>
          <a:xfrm>
            <a:off x="640080" y="2743200"/>
            <a:ext cx="2606040" cy="1554480"/>
          </a:xfrm>
          <a:prstGeom prst="roundRect">
            <a:avLst>
              <a:gd name="adj" fmla="val 4118"/>
            </a:avLst>
          </a:prstGeom>
          <a:solidFill>
            <a:srgbClr val="EEF3F6"/>
          </a:solidFill>
          <a:ln w="12700">
            <a:solidFill>
              <a:srgbClr val="065A82"/>
            </a:solidFill>
            <a:prstDash val="solid"/>
          </a:ln>
        </p:spPr>
        <p:txBody>
          <a:bodyPr/>
          <a:lstStyle/>
          <a:p>
            <a:endParaRPr lang="ar-SA"/>
          </a:p>
        </p:txBody>
      </p:sp>
      <p:sp>
        <p:nvSpPr>
          <p:cNvPr id="9" name="Text 7"/>
          <p:cNvSpPr txBox="1"/>
          <p:nvPr/>
        </p:nvSpPr>
        <p:spPr>
          <a:xfrm>
            <a:off x="777240" y="2852928"/>
            <a:ext cx="457200" cy="365760"/>
          </a:xfrm>
          <a:prstGeom prst="rect">
            <a:avLst/>
          </a:prstGeom>
          <a:noFill/>
          <a:ln/>
        </p:spPr>
        <p:txBody>
          <a:bodyPr wrap="square" lIns="0" tIns="0" rIns="0" bIns="0" rtlCol="0" anchor="ctr"/>
          <a:lstStyle/>
          <a:p>
            <a:pPr marL="0" indent="0">
              <a:buNone/>
            </a:pPr>
            <a:r>
              <a:rPr lang="en-US" sz="1600" b="1" dirty="0">
                <a:solidFill>
                  <a:srgbClr val="065A82"/>
                </a:solidFill>
                <a:latin typeface="Cambria" pitchFamily="34" charset="0"/>
                <a:ea typeface="Cambria" pitchFamily="34" charset="-122"/>
                <a:cs typeface="Cambria" pitchFamily="34" charset="-120"/>
              </a:rPr>
              <a:t>1</a:t>
            </a:r>
            <a:endParaRPr lang="en-US" sz="1600" dirty="0"/>
          </a:p>
        </p:txBody>
      </p:sp>
      <p:sp>
        <p:nvSpPr>
          <p:cNvPr id="10" name="Text 8"/>
          <p:cNvSpPr txBox="1"/>
          <p:nvPr/>
        </p:nvSpPr>
        <p:spPr>
          <a:xfrm>
            <a:off x="1207008" y="2852928"/>
            <a:ext cx="1920240" cy="365760"/>
          </a:xfrm>
          <a:prstGeom prst="rect">
            <a:avLst/>
          </a:prstGeom>
          <a:noFill/>
          <a:ln/>
        </p:spPr>
        <p:txBody>
          <a:bodyPr wrap="square" lIns="0" tIns="0" rIns="0" bIns="0" rtlCol="0" anchor="ctr"/>
          <a:lstStyle/>
          <a:p>
            <a:pPr marL="0" indent="0">
              <a:buNone/>
            </a:pPr>
            <a:r>
              <a:rPr lang="en-US" sz="1300" b="1" dirty="0">
                <a:solidFill>
                  <a:srgbClr val="1B2733"/>
                </a:solidFill>
                <a:latin typeface="Calibri" pitchFamily="34" charset="0"/>
                <a:ea typeface="Calibri" pitchFamily="34" charset="-122"/>
                <a:cs typeface="Calibri" pitchFamily="34" charset="-120"/>
              </a:rPr>
              <a:t>Concept</a:t>
            </a:r>
            <a:endParaRPr lang="en-US" sz="1300" dirty="0"/>
          </a:p>
        </p:txBody>
      </p:sp>
      <p:sp>
        <p:nvSpPr>
          <p:cNvPr id="11" name="Text 9"/>
          <p:cNvSpPr txBox="1"/>
          <p:nvPr/>
        </p:nvSpPr>
        <p:spPr>
          <a:xfrm>
            <a:off x="804672" y="3291840"/>
            <a:ext cx="2286000" cy="914400"/>
          </a:xfrm>
          <a:prstGeom prst="rect">
            <a:avLst/>
          </a:prstGeom>
          <a:noFill/>
          <a:ln/>
        </p:spPr>
        <p:txBody>
          <a:bodyPr wrap="square" lIns="0" tIns="0" rIns="0" bIns="0" rtlCol="0" anchor="ctr"/>
          <a:lstStyle/>
          <a:p>
            <a:pPr marL="0" indent="0">
              <a:buNone/>
            </a:pPr>
            <a:r>
              <a:rPr lang="en-US" sz="1000" dirty="0">
                <a:solidFill>
                  <a:srgbClr val="1B2733"/>
                </a:solidFill>
                <a:latin typeface="Calibri" pitchFamily="34" charset="0"/>
                <a:ea typeface="Calibri" pitchFamily="34" charset="-122"/>
                <a:cs typeface="Calibri" pitchFamily="34" charset="-120"/>
              </a:rPr>
              <a:t>Instructor direction: the data centre can be utilised via the microgrid</a:t>
            </a:r>
            <a:endParaRPr lang="en-US" sz="1000" dirty="0"/>
          </a:p>
        </p:txBody>
      </p:sp>
      <p:sp>
        <p:nvSpPr>
          <p:cNvPr id="12" name="Shape 10"/>
          <p:cNvSpPr/>
          <p:nvPr/>
        </p:nvSpPr>
        <p:spPr>
          <a:xfrm>
            <a:off x="3291840" y="3401568"/>
            <a:ext cx="201168" cy="237744"/>
          </a:xfrm>
          <a:prstGeom prst="chevron">
            <a:avLst/>
          </a:prstGeom>
          <a:solidFill>
            <a:srgbClr val="5F6B76"/>
          </a:solidFill>
          <a:ln/>
        </p:spPr>
        <p:txBody>
          <a:bodyPr/>
          <a:lstStyle/>
          <a:p>
            <a:endParaRPr lang="ar-SA"/>
          </a:p>
        </p:txBody>
      </p:sp>
      <p:sp>
        <p:nvSpPr>
          <p:cNvPr id="13" name="Shape 11"/>
          <p:cNvSpPr/>
          <p:nvPr/>
        </p:nvSpPr>
        <p:spPr>
          <a:xfrm>
            <a:off x="3520440" y="2743200"/>
            <a:ext cx="2606040" cy="1554480"/>
          </a:xfrm>
          <a:prstGeom prst="roundRect">
            <a:avLst>
              <a:gd name="adj" fmla="val 4118"/>
            </a:avLst>
          </a:prstGeom>
          <a:solidFill>
            <a:srgbClr val="EEF3F6"/>
          </a:solidFill>
          <a:ln w="25400">
            <a:solidFill>
              <a:srgbClr val="1C7293"/>
            </a:solidFill>
            <a:prstDash val="solid"/>
          </a:ln>
        </p:spPr>
        <p:txBody>
          <a:bodyPr/>
          <a:lstStyle/>
          <a:p>
            <a:endParaRPr lang="ar-SA"/>
          </a:p>
        </p:txBody>
      </p:sp>
      <p:sp>
        <p:nvSpPr>
          <p:cNvPr id="14" name="Text 12"/>
          <p:cNvSpPr txBox="1"/>
          <p:nvPr/>
        </p:nvSpPr>
        <p:spPr>
          <a:xfrm>
            <a:off x="3657600" y="2852928"/>
            <a:ext cx="457200" cy="365760"/>
          </a:xfrm>
          <a:prstGeom prst="rect">
            <a:avLst/>
          </a:prstGeom>
          <a:noFill/>
          <a:ln/>
        </p:spPr>
        <p:txBody>
          <a:bodyPr wrap="square" lIns="0" tIns="0" rIns="0" bIns="0" rtlCol="0" anchor="ctr"/>
          <a:lstStyle/>
          <a:p>
            <a:pPr marL="0" indent="0">
              <a:buNone/>
            </a:pPr>
            <a:r>
              <a:rPr lang="en-US" sz="1600" b="1" dirty="0">
                <a:solidFill>
                  <a:srgbClr val="1C7293"/>
                </a:solidFill>
                <a:latin typeface="Cambria" pitchFamily="34" charset="0"/>
                <a:ea typeface="Cambria" pitchFamily="34" charset="-122"/>
                <a:cs typeface="Cambria" pitchFamily="34" charset="-120"/>
              </a:rPr>
              <a:t>2</a:t>
            </a:r>
            <a:endParaRPr lang="en-US" sz="1600" dirty="0"/>
          </a:p>
        </p:txBody>
      </p:sp>
      <p:sp>
        <p:nvSpPr>
          <p:cNvPr id="15" name="Text 13"/>
          <p:cNvSpPr txBox="1"/>
          <p:nvPr/>
        </p:nvSpPr>
        <p:spPr>
          <a:xfrm>
            <a:off x="4087368" y="2852928"/>
            <a:ext cx="1920240" cy="365760"/>
          </a:xfrm>
          <a:prstGeom prst="rect">
            <a:avLst/>
          </a:prstGeom>
          <a:noFill/>
          <a:ln/>
        </p:spPr>
        <p:txBody>
          <a:bodyPr wrap="square" lIns="0" tIns="0" rIns="0" bIns="0" rtlCol="0" anchor="ctr"/>
          <a:lstStyle/>
          <a:p>
            <a:pPr marL="0" indent="0">
              <a:buNone/>
            </a:pPr>
            <a:r>
              <a:rPr lang="en-US" sz="1300" b="1" dirty="0">
                <a:solidFill>
                  <a:srgbClr val="1B2733"/>
                </a:solidFill>
                <a:latin typeface="Calibri" pitchFamily="34" charset="0"/>
                <a:ea typeface="Calibri" pitchFamily="34" charset="-122"/>
                <a:cs typeface="Calibri" pitchFamily="34" charset="-120"/>
              </a:rPr>
              <a:t>Simulation</a:t>
            </a:r>
            <a:endParaRPr lang="en-US" sz="1300" dirty="0"/>
          </a:p>
        </p:txBody>
      </p:sp>
      <p:sp>
        <p:nvSpPr>
          <p:cNvPr id="16" name="Text 14"/>
          <p:cNvSpPr txBox="1"/>
          <p:nvPr/>
        </p:nvSpPr>
        <p:spPr>
          <a:xfrm>
            <a:off x="3685032" y="3291840"/>
            <a:ext cx="2286000" cy="914400"/>
          </a:xfrm>
          <a:prstGeom prst="rect">
            <a:avLst/>
          </a:prstGeom>
          <a:noFill/>
          <a:ln/>
        </p:spPr>
        <p:txBody>
          <a:bodyPr wrap="square" lIns="0" tIns="0" rIns="0" bIns="0" rtlCol="0" anchor="ctr"/>
          <a:lstStyle/>
          <a:p>
            <a:pPr marL="0" indent="0">
              <a:buNone/>
            </a:pPr>
            <a:r>
              <a:rPr lang="en-US" sz="1000" dirty="0">
                <a:solidFill>
                  <a:srgbClr val="1B2733"/>
                </a:solidFill>
                <a:latin typeface="Calibri" pitchFamily="34" charset="0"/>
                <a:ea typeface="Calibri" pitchFamily="34" charset="-122"/>
                <a:cs typeface="Calibri" pitchFamily="34" charset="-120"/>
              </a:rPr>
              <a:t>Scenario engine models resilience, peak shaving, backup coordination</a:t>
            </a:r>
            <a:endParaRPr lang="en-US" sz="1000" dirty="0"/>
          </a:p>
        </p:txBody>
      </p:sp>
      <p:sp>
        <p:nvSpPr>
          <p:cNvPr id="17" name="Shape 15"/>
          <p:cNvSpPr/>
          <p:nvPr/>
        </p:nvSpPr>
        <p:spPr>
          <a:xfrm>
            <a:off x="6172200" y="3401568"/>
            <a:ext cx="201168" cy="237744"/>
          </a:xfrm>
          <a:prstGeom prst="chevron">
            <a:avLst/>
          </a:prstGeom>
          <a:solidFill>
            <a:srgbClr val="5F6B76"/>
          </a:solidFill>
          <a:ln/>
        </p:spPr>
        <p:txBody>
          <a:bodyPr/>
          <a:lstStyle/>
          <a:p>
            <a:endParaRPr lang="ar-SA"/>
          </a:p>
        </p:txBody>
      </p:sp>
      <p:sp>
        <p:nvSpPr>
          <p:cNvPr id="18" name="Shape 16"/>
          <p:cNvSpPr/>
          <p:nvPr/>
        </p:nvSpPr>
        <p:spPr>
          <a:xfrm>
            <a:off x="6400800" y="2743200"/>
            <a:ext cx="2606040" cy="1554480"/>
          </a:xfrm>
          <a:prstGeom prst="roundRect">
            <a:avLst>
              <a:gd name="adj" fmla="val 4118"/>
            </a:avLst>
          </a:prstGeom>
          <a:solidFill>
            <a:srgbClr val="EEF3F6"/>
          </a:solidFill>
          <a:ln w="25400">
            <a:solidFill>
              <a:srgbClr val="2E7D32"/>
            </a:solidFill>
            <a:prstDash val="solid"/>
          </a:ln>
        </p:spPr>
        <p:txBody>
          <a:bodyPr/>
          <a:lstStyle/>
          <a:p>
            <a:endParaRPr lang="ar-SA"/>
          </a:p>
        </p:txBody>
      </p:sp>
      <p:sp>
        <p:nvSpPr>
          <p:cNvPr id="19" name="Text 17"/>
          <p:cNvSpPr txBox="1"/>
          <p:nvPr/>
        </p:nvSpPr>
        <p:spPr>
          <a:xfrm>
            <a:off x="6537960" y="2852928"/>
            <a:ext cx="457200" cy="365760"/>
          </a:xfrm>
          <a:prstGeom prst="rect">
            <a:avLst/>
          </a:prstGeom>
          <a:noFill/>
          <a:ln/>
        </p:spPr>
        <p:txBody>
          <a:bodyPr wrap="square" lIns="0" tIns="0" rIns="0" bIns="0" rtlCol="0" anchor="ctr"/>
          <a:lstStyle/>
          <a:p>
            <a:pPr marL="0" indent="0">
              <a:buNone/>
            </a:pPr>
            <a:r>
              <a:rPr lang="en-US" sz="1600" b="1" dirty="0">
                <a:solidFill>
                  <a:srgbClr val="2E7D32"/>
                </a:solidFill>
                <a:latin typeface="Cambria" pitchFamily="34" charset="0"/>
                <a:ea typeface="Cambria" pitchFamily="34" charset="-122"/>
                <a:cs typeface="Cambria" pitchFamily="34" charset="-120"/>
              </a:rPr>
              <a:t>3</a:t>
            </a:r>
            <a:endParaRPr lang="en-US" sz="1600" dirty="0"/>
          </a:p>
        </p:txBody>
      </p:sp>
      <p:sp>
        <p:nvSpPr>
          <p:cNvPr id="20" name="Text 18"/>
          <p:cNvSpPr txBox="1"/>
          <p:nvPr/>
        </p:nvSpPr>
        <p:spPr>
          <a:xfrm>
            <a:off x="6967728" y="2852928"/>
            <a:ext cx="1920240" cy="365760"/>
          </a:xfrm>
          <a:prstGeom prst="rect">
            <a:avLst/>
          </a:prstGeom>
          <a:noFill/>
          <a:ln/>
        </p:spPr>
        <p:txBody>
          <a:bodyPr wrap="square" lIns="0" tIns="0" rIns="0" bIns="0" rtlCol="0" anchor="ctr"/>
          <a:lstStyle/>
          <a:p>
            <a:pPr marL="0" indent="0">
              <a:buNone/>
            </a:pPr>
            <a:r>
              <a:rPr lang="en-US" sz="1300" b="1" dirty="0">
                <a:solidFill>
                  <a:srgbClr val="1B2733"/>
                </a:solidFill>
                <a:latin typeface="Calibri" pitchFamily="34" charset="0"/>
                <a:ea typeface="Calibri" pitchFamily="34" charset="-122"/>
                <a:cs typeface="Calibri" pitchFamily="34" charset="-120"/>
              </a:rPr>
              <a:t>Lab validation</a:t>
            </a:r>
            <a:endParaRPr lang="en-US" sz="1300" dirty="0"/>
          </a:p>
        </p:txBody>
      </p:sp>
      <p:sp>
        <p:nvSpPr>
          <p:cNvPr id="21" name="Text 19"/>
          <p:cNvSpPr txBox="1"/>
          <p:nvPr/>
        </p:nvSpPr>
        <p:spPr>
          <a:xfrm>
            <a:off x="6565392" y="3291840"/>
            <a:ext cx="2286000" cy="914400"/>
          </a:xfrm>
          <a:prstGeom prst="rect">
            <a:avLst/>
          </a:prstGeom>
          <a:noFill/>
          <a:ln/>
        </p:spPr>
        <p:txBody>
          <a:bodyPr wrap="square" lIns="0" tIns="0" rIns="0" bIns="0" rtlCol="0" anchor="ctr"/>
          <a:lstStyle/>
          <a:p>
            <a:pPr marL="0" indent="0">
              <a:buNone/>
            </a:pPr>
            <a:r>
              <a:rPr lang="en-US" sz="1000" dirty="0">
                <a:solidFill>
                  <a:srgbClr val="1B2733"/>
                </a:solidFill>
                <a:latin typeface="Calibri" pitchFamily="34" charset="0"/>
                <a:ea typeface="Calibri" pitchFamily="34" charset="-122"/>
                <a:cs typeface="Calibri" pitchFamily="34" charset="-120"/>
              </a:rPr>
              <a:t>Scaled hardware testbed validates energy-management scenarios</a:t>
            </a:r>
            <a:endParaRPr lang="en-US" sz="1000" dirty="0"/>
          </a:p>
        </p:txBody>
      </p:sp>
      <p:sp>
        <p:nvSpPr>
          <p:cNvPr id="22" name="Shape 20"/>
          <p:cNvSpPr/>
          <p:nvPr/>
        </p:nvSpPr>
        <p:spPr>
          <a:xfrm>
            <a:off x="9052560" y="3401568"/>
            <a:ext cx="201168" cy="237744"/>
          </a:xfrm>
          <a:prstGeom prst="chevron">
            <a:avLst/>
          </a:prstGeom>
          <a:solidFill>
            <a:srgbClr val="5F6B76"/>
          </a:solidFill>
          <a:ln/>
        </p:spPr>
        <p:txBody>
          <a:bodyPr/>
          <a:lstStyle/>
          <a:p>
            <a:endParaRPr lang="ar-SA"/>
          </a:p>
        </p:txBody>
      </p:sp>
      <p:sp>
        <p:nvSpPr>
          <p:cNvPr id="23" name="Shape 21"/>
          <p:cNvSpPr/>
          <p:nvPr/>
        </p:nvSpPr>
        <p:spPr>
          <a:xfrm>
            <a:off x="9281160" y="2743200"/>
            <a:ext cx="2606040" cy="1554480"/>
          </a:xfrm>
          <a:prstGeom prst="roundRect">
            <a:avLst>
              <a:gd name="adj" fmla="val 4118"/>
            </a:avLst>
          </a:prstGeom>
          <a:solidFill>
            <a:srgbClr val="FFFFFF"/>
          </a:solidFill>
          <a:ln w="12700">
            <a:solidFill>
              <a:srgbClr val="5F6B76"/>
            </a:solidFill>
            <a:prstDash val="solid"/>
          </a:ln>
        </p:spPr>
        <p:txBody>
          <a:bodyPr/>
          <a:lstStyle/>
          <a:p>
            <a:endParaRPr lang="ar-SA"/>
          </a:p>
        </p:txBody>
      </p:sp>
      <p:sp>
        <p:nvSpPr>
          <p:cNvPr id="24" name="Text 22"/>
          <p:cNvSpPr txBox="1"/>
          <p:nvPr/>
        </p:nvSpPr>
        <p:spPr>
          <a:xfrm>
            <a:off x="9418320" y="2852928"/>
            <a:ext cx="457200" cy="365760"/>
          </a:xfrm>
          <a:prstGeom prst="rect">
            <a:avLst/>
          </a:prstGeom>
          <a:noFill/>
          <a:ln/>
        </p:spPr>
        <p:txBody>
          <a:bodyPr wrap="square" lIns="0" tIns="0" rIns="0" bIns="0" rtlCol="0" anchor="ctr"/>
          <a:lstStyle/>
          <a:p>
            <a:pPr marL="0" indent="0">
              <a:buNone/>
            </a:pPr>
            <a:r>
              <a:rPr lang="en-US" sz="1600" b="1" dirty="0">
                <a:solidFill>
                  <a:srgbClr val="5F6B76"/>
                </a:solidFill>
                <a:latin typeface="Cambria" pitchFamily="34" charset="0"/>
                <a:ea typeface="Cambria" pitchFamily="34" charset="-122"/>
                <a:cs typeface="Cambria" pitchFamily="34" charset="-120"/>
              </a:rPr>
              <a:t>4</a:t>
            </a:r>
            <a:endParaRPr lang="en-US" sz="1600" dirty="0"/>
          </a:p>
        </p:txBody>
      </p:sp>
      <p:sp>
        <p:nvSpPr>
          <p:cNvPr id="25" name="Text 23"/>
          <p:cNvSpPr txBox="1"/>
          <p:nvPr/>
        </p:nvSpPr>
        <p:spPr>
          <a:xfrm>
            <a:off x="9848088" y="2852928"/>
            <a:ext cx="1920240" cy="365760"/>
          </a:xfrm>
          <a:prstGeom prst="rect">
            <a:avLst/>
          </a:prstGeom>
          <a:noFill/>
          <a:ln/>
        </p:spPr>
        <p:txBody>
          <a:bodyPr wrap="square" lIns="0" tIns="0" rIns="0" bIns="0" rtlCol="0" anchor="ctr"/>
          <a:lstStyle/>
          <a:p>
            <a:pPr marL="0" indent="0">
              <a:buNone/>
            </a:pPr>
            <a:r>
              <a:rPr lang="en-US" sz="1300" b="1" dirty="0">
                <a:solidFill>
                  <a:srgbClr val="1B2733"/>
                </a:solidFill>
                <a:latin typeface="Calibri" pitchFamily="34" charset="0"/>
                <a:ea typeface="Calibri" pitchFamily="34" charset="-122"/>
                <a:cs typeface="Calibri" pitchFamily="34" charset="-120"/>
              </a:rPr>
              <a:t>Deployment</a:t>
            </a:r>
            <a:endParaRPr lang="en-US" sz="1300" dirty="0"/>
          </a:p>
        </p:txBody>
      </p:sp>
      <p:sp>
        <p:nvSpPr>
          <p:cNvPr id="26" name="Text 24"/>
          <p:cNvSpPr txBox="1"/>
          <p:nvPr/>
        </p:nvSpPr>
        <p:spPr>
          <a:xfrm>
            <a:off x="9445752" y="3291840"/>
            <a:ext cx="2286000" cy="914400"/>
          </a:xfrm>
          <a:prstGeom prst="rect">
            <a:avLst/>
          </a:prstGeom>
          <a:noFill/>
          <a:ln/>
        </p:spPr>
        <p:txBody>
          <a:bodyPr wrap="square" lIns="0" tIns="0" rIns="0" bIns="0" rtlCol="0" anchor="ctr"/>
          <a:lstStyle/>
          <a:p>
            <a:pPr marL="0" indent="0">
              <a:buNone/>
            </a:pPr>
            <a:r>
              <a:rPr lang="en-US" sz="1000" dirty="0">
                <a:solidFill>
                  <a:srgbClr val="1B2733"/>
                </a:solidFill>
                <a:latin typeface="Calibri" pitchFamily="34" charset="0"/>
                <a:ea typeface="Calibri" pitchFamily="34" charset="-122"/>
                <a:cs typeface="Calibri" pitchFamily="34" charset="-120"/>
              </a:rPr>
              <a:t>Field system — not in scope; no partner, approval or deployment</a:t>
            </a:r>
            <a:endParaRPr lang="en-US" sz="1000" dirty="0"/>
          </a:p>
        </p:txBody>
      </p:sp>
      <p:sp>
        <p:nvSpPr>
          <p:cNvPr id="27" name="Text 25"/>
          <p:cNvSpPr txBox="1"/>
          <p:nvPr/>
        </p:nvSpPr>
        <p:spPr>
          <a:xfrm>
            <a:off x="640080" y="4526280"/>
            <a:ext cx="10972800" cy="365760"/>
          </a:xfrm>
          <a:prstGeom prst="rect">
            <a:avLst/>
          </a:prstGeom>
          <a:noFill/>
          <a:ln/>
        </p:spPr>
        <p:txBody>
          <a:bodyPr wrap="square" lIns="0" tIns="0" rIns="0" bIns="0" rtlCol="0" anchor="ctr"/>
          <a:lstStyle/>
          <a:p>
            <a:pPr marL="0" indent="0">
              <a:buNone/>
            </a:pPr>
            <a:r>
              <a:rPr lang="en-US" sz="1200" b="1" i="1" dirty="0">
                <a:solidFill>
                  <a:srgbClr val="065A82"/>
                </a:solidFill>
                <a:latin typeface="Calibri" pitchFamily="34" charset="0"/>
                <a:ea typeface="Calibri" pitchFamily="34" charset="-122"/>
                <a:cs typeface="Calibri" pitchFamily="34" charset="-120"/>
              </a:rPr>
              <a:t>Current position:  Simulation  -&gt;  Lab validation</a:t>
            </a:r>
            <a:endParaRPr lang="en-US" sz="1200" dirty="0"/>
          </a:p>
        </p:txBody>
      </p:sp>
      <p:sp>
        <p:nvSpPr>
          <p:cNvPr id="29" name="Text 27"/>
          <p:cNvSpPr txBox="1"/>
          <p:nvPr/>
        </p:nvSpPr>
        <p:spPr>
          <a:xfrm>
            <a:off x="548640" y="6455664"/>
            <a:ext cx="9144000" cy="274320"/>
          </a:xfrm>
          <a:prstGeom prst="rect">
            <a:avLst/>
          </a:prstGeom>
          <a:noFill/>
          <a:ln/>
        </p:spPr>
        <p:txBody>
          <a:bodyPr wrap="square" lIns="0" tIns="0" rIns="0" bIns="0" rtlCol="0" anchor="ctr"/>
          <a:lstStyle/>
          <a:p>
            <a:pPr marL="0" indent="0">
              <a:buNone/>
            </a:pPr>
            <a:r>
              <a:rPr lang="en-US" sz="900" dirty="0">
                <a:solidFill>
                  <a:srgbClr val="5F6B76"/>
                </a:solidFill>
                <a:latin typeface="Calibri" pitchFamily="34" charset="0"/>
                <a:ea typeface="Calibri" pitchFamily="34" charset="-122"/>
                <a:cs typeface="Calibri" pitchFamily="34" charset="-120"/>
              </a:rPr>
              <a:t>Future Energy Lab  ·  PSAU College of Engineering  ·  Electrical Engineering</a:t>
            </a:r>
            <a:endParaRPr lang="en-US" sz="900" dirty="0"/>
          </a:p>
        </p:txBody>
      </p:sp>
      <p:sp>
        <p:nvSpPr>
          <p:cNvPr id="30" name="Text 28"/>
          <p:cNvSpPr txBox="1"/>
          <p:nvPr/>
        </p:nvSpPr>
        <p:spPr>
          <a:xfrm>
            <a:off x="11430000" y="6455664"/>
            <a:ext cx="457200" cy="274320"/>
          </a:xfrm>
          <a:prstGeom prst="rect">
            <a:avLst/>
          </a:prstGeom>
          <a:noFill/>
          <a:ln/>
        </p:spPr>
        <p:txBody>
          <a:bodyPr wrap="square" lIns="0" tIns="0" rIns="0" bIns="0" rtlCol="0" anchor="ctr"/>
          <a:lstStyle/>
          <a:p>
            <a:pPr marL="0" indent="0" algn="r">
              <a:buNone/>
            </a:pPr>
            <a:r>
              <a:rPr lang="en-US" sz="900" dirty="0">
                <a:solidFill>
                  <a:srgbClr val="5F6B76"/>
                </a:solidFill>
                <a:latin typeface="Calibri" pitchFamily="34" charset="0"/>
                <a:ea typeface="Calibri" pitchFamily="34" charset="-122"/>
                <a:cs typeface="Calibri" pitchFamily="34" charset="-120"/>
              </a:rPr>
              <a:t>5</a:t>
            </a:r>
            <a:endParaRPr lang="en-US" sz="900" dirty="0"/>
          </a:p>
        </p:txBody>
      </p:sp>
      <p:sp>
        <p:nvSpPr>
          <p:cNvPr id="31" name="Shape 0">
            <a:extLst>
              <a:ext uri="{FF2B5EF4-FFF2-40B4-BE49-F238E27FC236}">
                <a16:creationId xmlns:a16="http://schemas.microsoft.com/office/drawing/2014/main" id="{087FA581-3E04-2BA8-5660-CC3A87E09218}"/>
              </a:ext>
            </a:extLst>
          </p:cNvPr>
          <p:cNvSpPr/>
          <p:nvPr/>
        </p:nvSpPr>
        <p:spPr>
          <a:xfrm>
            <a:off x="548640" y="457200"/>
            <a:ext cx="256032" cy="256032"/>
          </a:xfrm>
          <a:prstGeom prst="ellipse">
            <a:avLst/>
          </a:prstGeom>
          <a:solidFill>
            <a:srgbClr val="2E7D32"/>
          </a:solidFill>
          <a:ln/>
        </p:spPr>
        <p:txBody>
          <a:bodyPr/>
          <a:lstStyle/>
          <a:p>
            <a:endParaRPr lang="ar-SA"/>
          </a:p>
        </p:txBody>
      </p:sp>
      <p:sp>
        <p:nvSpPr>
          <p:cNvPr id="32" name="Text 1">
            <a:extLst>
              <a:ext uri="{FF2B5EF4-FFF2-40B4-BE49-F238E27FC236}">
                <a16:creationId xmlns:a16="http://schemas.microsoft.com/office/drawing/2014/main" id="{BA44E961-737F-5F3B-260F-B36A32C18D14}"/>
              </a:ext>
            </a:extLst>
          </p:cNvPr>
          <p:cNvSpPr txBox="1"/>
          <p:nvPr/>
        </p:nvSpPr>
        <p:spPr>
          <a:xfrm>
            <a:off x="896112" y="411480"/>
            <a:ext cx="7315200" cy="320040"/>
          </a:xfrm>
          <a:prstGeom prst="rect">
            <a:avLst/>
          </a:prstGeom>
          <a:noFill/>
          <a:ln/>
        </p:spPr>
        <p:txBody>
          <a:bodyPr wrap="square" lIns="0" tIns="0" rIns="0" bIns="0" rtlCol="0" anchor="ctr"/>
          <a:lstStyle/>
          <a:p>
            <a:pPr marL="0" indent="0">
              <a:buNone/>
            </a:pPr>
            <a:r>
              <a:rPr lang="en-US" sz="1200" b="1" kern="0" spc="200" dirty="0">
                <a:solidFill>
                  <a:srgbClr val="2E7D32"/>
                </a:solidFill>
                <a:latin typeface="Calibri" pitchFamily="34" charset="0"/>
                <a:ea typeface="Calibri" pitchFamily="34" charset="-122"/>
                <a:cs typeface="Calibri" pitchFamily="34" charset="-120"/>
              </a:rPr>
              <a:t>MICROGRID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256032" cy="256032"/>
          </a:xfrm>
          <a:prstGeom prst="ellipse">
            <a:avLst/>
          </a:prstGeom>
          <a:solidFill>
            <a:srgbClr val="C62828"/>
          </a:solidFill>
          <a:ln/>
        </p:spPr>
        <p:txBody>
          <a:bodyPr/>
          <a:lstStyle/>
          <a:p>
            <a:endParaRPr lang="ar-SA"/>
          </a:p>
        </p:txBody>
      </p:sp>
      <p:sp>
        <p:nvSpPr>
          <p:cNvPr id="3" name="Text 1"/>
          <p:cNvSpPr txBox="1"/>
          <p:nvPr/>
        </p:nvSpPr>
        <p:spPr>
          <a:xfrm>
            <a:off x="896112" y="411480"/>
            <a:ext cx="7315200" cy="320040"/>
          </a:xfrm>
          <a:prstGeom prst="rect">
            <a:avLst/>
          </a:prstGeom>
          <a:noFill/>
          <a:ln/>
        </p:spPr>
        <p:txBody>
          <a:bodyPr wrap="square" lIns="0" tIns="0" rIns="0" bIns="0" rtlCol="0" anchor="ctr"/>
          <a:lstStyle/>
          <a:p>
            <a:pPr marL="0" indent="0">
              <a:buNone/>
            </a:pPr>
            <a:r>
              <a:rPr lang="en-US" sz="1200" b="1" kern="0" spc="200" dirty="0">
                <a:solidFill>
                  <a:srgbClr val="C62828"/>
                </a:solidFill>
                <a:latin typeface="Calibri" pitchFamily="34" charset="0"/>
                <a:ea typeface="Calibri" pitchFamily="34" charset="-122"/>
                <a:cs typeface="Calibri" pitchFamily="34" charset="-120"/>
              </a:rPr>
              <a:t>ARC-FAULT</a:t>
            </a:r>
            <a:endParaRPr lang="en-US" sz="1200" dirty="0"/>
          </a:p>
        </p:txBody>
      </p:sp>
      <p:sp>
        <p:nvSpPr>
          <p:cNvPr id="4" name="Text 2"/>
          <p:cNvSpPr txBox="1"/>
          <p:nvPr/>
        </p:nvSpPr>
        <p:spPr>
          <a:xfrm>
            <a:off x="548640" y="749808"/>
            <a:ext cx="8503920" cy="822960"/>
          </a:xfrm>
          <a:prstGeom prst="rect">
            <a:avLst/>
          </a:prstGeom>
          <a:noFill/>
          <a:ln/>
        </p:spPr>
        <p:txBody>
          <a:bodyPr wrap="square" lIns="0" tIns="0" rIns="0" bIns="0" rtlCol="0" anchor="ctr"/>
          <a:lstStyle/>
          <a:p>
            <a:pPr marL="0" indent="0">
              <a:buNone/>
            </a:pPr>
            <a:r>
              <a:rPr lang="en-US" sz="2800" b="1" dirty="0">
                <a:solidFill>
                  <a:srgbClr val="1B2733"/>
                </a:solidFill>
                <a:latin typeface="Cambria" pitchFamily="34" charset="0"/>
                <a:ea typeface="Cambria" pitchFamily="34" charset="-122"/>
                <a:cs typeface="Cambria" pitchFamily="34" charset="-120"/>
              </a:rPr>
              <a:t>Arc-Fault Dataset &amp; Signal Analysis</a:t>
            </a:r>
            <a:endParaRPr lang="en-US" sz="2800" dirty="0"/>
          </a:p>
        </p:txBody>
      </p:sp>
      <p:sp>
        <p:nvSpPr>
          <p:cNvPr id="7" name="Text 5"/>
          <p:cNvSpPr txBox="1"/>
          <p:nvPr/>
        </p:nvSpPr>
        <p:spPr>
          <a:xfrm>
            <a:off x="548640" y="1572768"/>
            <a:ext cx="11155680" cy="603504"/>
          </a:xfrm>
          <a:prstGeom prst="rect">
            <a:avLst/>
          </a:prstGeom>
          <a:noFill/>
          <a:ln/>
        </p:spPr>
        <p:txBody>
          <a:bodyPr wrap="square" lIns="0" tIns="0" rIns="0" bIns="0" rtlCol="0" anchor="ctr"/>
          <a:lstStyle/>
          <a:p>
            <a:pPr marL="0" indent="0">
              <a:buNone/>
            </a:pPr>
            <a:r>
              <a:rPr lang="en-US" sz="1250" i="1" dirty="0">
                <a:solidFill>
                  <a:srgbClr val="065A82"/>
                </a:solidFill>
                <a:latin typeface="Calibri" pitchFamily="34" charset="0"/>
                <a:ea typeface="Calibri" pitchFamily="34" charset="-122"/>
                <a:cs typeface="Calibri" pitchFamily="34" charset="-120"/>
              </a:rPr>
              <a:t>A curated experimental arc-fault dataset across 10+ residential load types — each recording split into a no-arc and an arc segment and analysed in the time domain, frequency domain, and time-frequency (spectrogram) representations.</a:t>
            </a:r>
            <a:endParaRPr lang="en-US" sz="1250" dirty="0"/>
          </a:p>
        </p:txBody>
      </p:sp>
      <p:sp>
        <p:nvSpPr>
          <p:cNvPr id="8" name="Shape 6"/>
          <p:cNvSpPr/>
          <p:nvPr/>
        </p:nvSpPr>
        <p:spPr>
          <a:xfrm>
            <a:off x="548640" y="2212848"/>
            <a:ext cx="5532120" cy="1783080"/>
          </a:xfrm>
          <a:prstGeom prst="roundRect">
            <a:avLst>
              <a:gd name="adj" fmla="val 2564"/>
            </a:avLst>
          </a:prstGeom>
          <a:solidFill>
            <a:srgbClr val="EEF3F6"/>
          </a:solidFill>
          <a:ln w="12700">
            <a:solidFill>
              <a:srgbClr val="C9D6DE"/>
            </a:solidFill>
            <a:prstDash val="solid"/>
          </a:ln>
        </p:spPr>
        <p:txBody>
          <a:bodyPr/>
          <a:lstStyle/>
          <a:p>
            <a:endParaRPr lang="ar-SA"/>
          </a:p>
        </p:txBody>
      </p:sp>
      <p:sp>
        <p:nvSpPr>
          <p:cNvPr id="9" name="Text 7"/>
          <p:cNvSpPr txBox="1"/>
          <p:nvPr/>
        </p:nvSpPr>
        <p:spPr>
          <a:xfrm>
            <a:off x="731520" y="2304288"/>
            <a:ext cx="5120640" cy="274320"/>
          </a:xfrm>
          <a:prstGeom prst="rect">
            <a:avLst/>
          </a:prstGeom>
          <a:noFill/>
          <a:ln/>
        </p:spPr>
        <p:txBody>
          <a:bodyPr wrap="square" lIns="0" tIns="0" rIns="0" bIns="0"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DATASET</a:t>
            </a:r>
            <a:endParaRPr lang="en-US" sz="1100" dirty="0"/>
          </a:p>
        </p:txBody>
      </p:sp>
      <p:sp>
        <p:nvSpPr>
          <p:cNvPr id="10" name="Text 8"/>
          <p:cNvSpPr txBox="1"/>
          <p:nvPr/>
        </p:nvSpPr>
        <p:spPr>
          <a:xfrm>
            <a:off x="731520" y="2615184"/>
            <a:ext cx="5166360" cy="1371600"/>
          </a:xfrm>
          <a:prstGeom prst="rect">
            <a:avLst/>
          </a:prstGeom>
          <a:noFill/>
          <a:ln/>
        </p:spPr>
        <p:txBody>
          <a:bodyPr wrap="square" lIns="0" tIns="0" rIns="0" bIns="0" rtlCol="0" anchor="t"/>
          <a:lstStyle/>
          <a:p>
            <a:pPr marL="152400" indent="-152400">
              <a:spcAft>
                <a:spcPts val="600"/>
              </a:spcAft>
              <a:buSzPct val="100000"/>
              <a:buChar char="•"/>
            </a:pPr>
            <a:r>
              <a:rPr lang="en-US" sz="950" dirty="0">
                <a:solidFill>
                  <a:srgbClr val="1B2733"/>
                </a:solidFill>
                <a:latin typeface="Calibri" pitchFamily="34" charset="0"/>
                <a:ea typeface="Calibri" pitchFamily="34" charset="-122"/>
                <a:cs typeface="Calibri" pitchFamily="34" charset="-120"/>
              </a:rPr>
              <a:t>CHINT AFCI dataset: 258 labelled trials · 4 AFDD device models (A-D) · series + parallel arc faults.</a:t>
            </a:r>
            <a:endParaRPr lang="en-US" sz="950" dirty="0"/>
          </a:p>
          <a:p>
            <a:pPr marL="152400" indent="-152400">
              <a:spcAft>
                <a:spcPts val="600"/>
              </a:spcAft>
              <a:buSzPct val="100000"/>
              <a:buChar char="•"/>
            </a:pPr>
            <a:r>
              <a:rPr lang="en-US" sz="950" dirty="0">
                <a:solidFill>
                  <a:srgbClr val="1B2733"/>
                </a:solidFill>
                <a:latin typeface="Calibri" pitchFamily="34" charset="0"/>
                <a:ea typeface="Calibri" pitchFamily="34" charset="-122"/>
                <a:cs typeface="Calibri" pitchFamily="34" charset="-120"/>
              </a:rPr>
              <a:t>Loads: halogen &amp; fluorescent lamps, power tool, vacuum cleaner, SMPS, dimmers (60/90/120 deg), air compressor, resistive baseline, household mixes.</a:t>
            </a:r>
            <a:endParaRPr lang="en-US" sz="950" dirty="0"/>
          </a:p>
          <a:p>
            <a:pPr marL="152400" indent="-152400">
              <a:spcAft>
                <a:spcPts val="600"/>
              </a:spcAft>
              <a:buSzPct val="100000"/>
              <a:buChar char="•"/>
            </a:pPr>
            <a:r>
              <a:rPr lang="en-US" sz="950" dirty="0">
                <a:solidFill>
                  <a:srgbClr val="1B2733"/>
                </a:solidFill>
                <a:latin typeface="Calibri" pitchFamily="34" charset="0"/>
                <a:ea typeface="Calibri" pitchFamily="34" charset="-122"/>
                <a:cs typeface="Calibri" pitchFamily="34" charset="-120"/>
              </a:rPr>
              <a:t>Signal: AC current only, 6.4 kHz, 230 V / 50 Hz; each trial = labelled no-arc segment + arc segment.</a:t>
            </a:r>
            <a:endParaRPr lang="en-US" sz="950" dirty="0"/>
          </a:p>
        </p:txBody>
      </p:sp>
      <p:sp>
        <p:nvSpPr>
          <p:cNvPr id="11" name="Shape 9"/>
          <p:cNvSpPr/>
          <p:nvPr/>
        </p:nvSpPr>
        <p:spPr>
          <a:xfrm>
            <a:off x="6263640" y="2212848"/>
            <a:ext cx="5394960" cy="1783080"/>
          </a:xfrm>
          <a:prstGeom prst="roundRect">
            <a:avLst>
              <a:gd name="adj" fmla="val 2564"/>
            </a:avLst>
          </a:prstGeom>
          <a:solidFill>
            <a:srgbClr val="EEF3F6"/>
          </a:solidFill>
          <a:ln w="12700">
            <a:solidFill>
              <a:srgbClr val="C9D6DE"/>
            </a:solidFill>
            <a:prstDash val="solid"/>
          </a:ln>
        </p:spPr>
        <p:txBody>
          <a:bodyPr/>
          <a:lstStyle/>
          <a:p>
            <a:endParaRPr lang="ar-SA"/>
          </a:p>
        </p:txBody>
      </p:sp>
      <p:sp>
        <p:nvSpPr>
          <p:cNvPr id="12" name="Text 10"/>
          <p:cNvSpPr txBox="1"/>
          <p:nvPr/>
        </p:nvSpPr>
        <p:spPr>
          <a:xfrm>
            <a:off x="6446520" y="2304288"/>
            <a:ext cx="5029200" cy="274320"/>
          </a:xfrm>
          <a:prstGeom prst="rect">
            <a:avLst/>
          </a:prstGeom>
          <a:noFill/>
          <a:ln/>
        </p:spPr>
        <p:txBody>
          <a:bodyPr wrap="square" lIns="0" tIns="0" rIns="0" bIns="0"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SIGNAL ANALYSIS  (per load type)</a:t>
            </a:r>
            <a:endParaRPr lang="en-US" sz="1100" dirty="0"/>
          </a:p>
        </p:txBody>
      </p:sp>
      <p:sp>
        <p:nvSpPr>
          <p:cNvPr id="13" name="Text 11"/>
          <p:cNvSpPr txBox="1"/>
          <p:nvPr/>
        </p:nvSpPr>
        <p:spPr>
          <a:xfrm>
            <a:off x="6446520" y="2615184"/>
            <a:ext cx="5029200" cy="1371600"/>
          </a:xfrm>
          <a:prstGeom prst="rect">
            <a:avLst/>
          </a:prstGeom>
          <a:noFill/>
          <a:ln/>
        </p:spPr>
        <p:txBody>
          <a:bodyPr wrap="square" lIns="0" tIns="0" rIns="0" bIns="0" rtlCol="0" anchor="t"/>
          <a:lstStyle/>
          <a:p>
            <a:pPr marL="152400" indent="-152400">
              <a:spcAft>
                <a:spcPts val="600"/>
              </a:spcAft>
              <a:buSzPct val="100000"/>
              <a:buChar char="•"/>
            </a:pPr>
            <a:r>
              <a:rPr lang="en-US" sz="950" dirty="0">
                <a:solidFill>
                  <a:srgbClr val="1B2733"/>
                </a:solidFill>
                <a:latin typeface="Calibri" pitchFamily="34" charset="0"/>
                <a:ea typeface="Calibri" pitchFamily="34" charset="-122"/>
                <a:cs typeface="Calibri" pitchFamily="34" charset="-120"/>
              </a:rPr>
              <a:t>Time domain: zero-crossing 'shoulders', conduction collapse, di/dt transients.</a:t>
            </a:r>
            <a:endParaRPr lang="en-US" sz="950" dirty="0"/>
          </a:p>
          <a:p>
            <a:pPr marL="152400" indent="-152400">
              <a:spcAft>
                <a:spcPts val="600"/>
              </a:spcAft>
              <a:buSzPct val="100000"/>
              <a:buChar char="•"/>
            </a:pPr>
            <a:r>
              <a:rPr lang="en-US" sz="950" dirty="0">
                <a:solidFill>
                  <a:srgbClr val="1B2733"/>
                </a:solidFill>
                <a:latin typeface="Calibri" pitchFamily="34" charset="0"/>
                <a:ea typeface="Calibri" pitchFamily="34" charset="-122"/>
                <a:cs typeface="Calibri" pitchFamily="34" charset="-120"/>
              </a:rPr>
              <a:t>Frequency domain: FFT - arc adds broadband + low-order harmonic content vs a clean single-tone spectrum.</a:t>
            </a:r>
            <a:endParaRPr lang="en-US" sz="950" dirty="0"/>
          </a:p>
          <a:p>
            <a:pPr marL="152400" indent="-152400">
              <a:spcAft>
                <a:spcPts val="600"/>
              </a:spcAft>
              <a:buSzPct val="100000"/>
              <a:buChar char="•"/>
            </a:pPr>
            <a:r>
              <a:rPr lang="en-US" sz="950" dirty="0">
                <a:solidFill>
                  <a:srgbClr val="1B2733"/>
                </a:solidFill>
                <a:latin typeface="Calibri" pitchFamily="34" charset="0"/>
                <a:ea typeface="Calibri" pitchFamily="34" charset="-122"/>
                <a:cs typeface="Calibri" pitchFamily="34" charset="-120"/>
              </a:rPr>
              <a:t>Time-frequency: spectrogram / moving-RMS energy envelope tracks the no-arc -&gt; arc transition; features feed a ResNet-1D classifier (~90%+ lab).</a:t>
            </a:r>
            <a:endParaRPr lang="en-US" sz="950" dirty="0"/>
          </a:p>
        </p:txBody>
      </p:sp>
      <p:sp>
        <p:nvSpPr>
          <p:cNvPr id="14" name="Shape 12"/>
          <p:cNvSpPr/>
          <p:nvPr/>
        </p:nvSpPr>
        <p:spPr>
          <a:xfrm>
            <a:off x="548640" y="4297680"/>
            <a:ext cx="4846320" cy="1874520"/>
          </a:xfrm>
          <a:prstGeom prst="roundRect">
            <a:avLst>
              <a:gd name="adj" fmla="val 1951"/>
            </a:avLst>
          </a:prstGeom>
          <a:solidFill>
            <a:srgbClr val="FFFFFF"/>
          </a:solidFill>
          <a:ln w="12700">
            <a:solidFill>
              <a:srgbClr val="C9D6DE"/>
            </a:solidFill>
            <a:prstDash val="solid"/>
          </a:ln>
        </p:spPr>
        <p:txBody>
          <a:bodyPr/>
          <a:lstStyle/>
          <a:p>
            <a:endParaRPr lang="ar-SA"/>
          </a:p>
        </p:txBody>
      </p:sp>
      <p:pic>
        <p:nvPicPr>
          <p:cNvPr id="15" name="Image 0" descr="C:/Users/psaum/AppData/Local/Temp/claude/C--Users-psaum-Desktop-Future-Energy-Lab/aada0020-65e6-465d-b4c6-ce9ed2f60953/scratchpad/img/dd_p17_1_1546x952.png"/>
          <p:cNvPicPr>
            <a:picLocks noChangeAspect="1"/>
          </p:cNvPicPr>
          <p:nvPr/>
        </p:nvPicPr>
        <p:blipFill>
          <a:blip r:embed="rId3"/>
          <a:srcRect/>
          <a:stretch/>
        </p:blipFill>
        <p:spPr>
          <a:xfrm>
            <a:off x="621792" y="4370832"/>
            <a:ext cx="4700016" cy="1728216"/>
          </a:xfrm>
          <a:prstGeom prst="rect">
            <a:avLst/>
          </a:prstGeom>
        </p:spPr>
      </p:pic>
      <p:sp>
        <p:nvSpPr>
          <p:cNvPr id="16" name="Text 13"/>
          <p:cNvSpPr txBox="1"/>
          <p:nvPr/>
        </p:nvSpPr>
        <p:spPr>
          <a:xfrm>
            <a:off x="548640" y="6199632"/>
            <a:ext cx="4846320" cy="274320"/>
          </a:xfrm>
          <a:prstGeom prst="rect">
            <a:avLst/>
          </a:prstGeom>
          <a:noFill/>
          <a:ln/>
        </p:spPr>
        <p:txBody>
          <a:bodyPr wrap="square" lIns="0" tIns="0" rIns="0" bIns="0" rtlCol="0" anchor="ctr"/>
          <a:lstStyle/>
          <a:p>
            <a:pPr marL="0" indent="0" algn="ctr">
              <a:buNone/>
            </a:pPr>
            <a:r>
              <a:rPr lang="en-US" sz="850" dirty="0">
                <a:solidFill>
                  <a:srgbClr val="5F6B76"/>
                </a:solidFill>
                <a:latin typeface="Calibri" pitchFamily="34" charset="0"/>
                <a:ea typeface="Calibri" pitchFamily="34" charset="-122"/>
                <a:cs typeface="Calibri" pitchFamily="34" charset="-120"/>
              </a:rPr>
              <a:t>Time domain - ideal vs arc current ('shoulders')</a:t>
            </a:r>
            <a:endParaRPr lang="en-US" sz="850" dirty="0"/>
          </a:p>
        </p:txBody>
      </p:sp>
      <p:sp>
        <p:nvSpPr>
          <p:cNvPr id="17" name="Shape 14"/>
          <p:cNvSpPr/>
          <p:nvPr/>
        </p:nvSpPr>
        <p:spPr>
          <a:xfrm>
            <a:off x="5623560" y="4297680"/>
            <a:ext cx="2926080" cy="1874520"/>
          </a:xfrm>
          <a:prstGeom prst="roundRect">
            <a:avLst>
              <a:gd name="adj" fmla="val 1951"/>
            </a:avLst>
          </a:prstGeom>
          <a:solidFill>
            <a:srgbClr val="FFFFFF"/>
          </a:solidFill>
          <a:ln w="12700">
            <a:solidFill>
              <a:srgbClr val="C9D6DE"/>
            </a:solidFill>
            <a:prstDash val="solid"/>
          </a:ln>
        </p:spPr>
        <p:txBody>
          <a:bodyPr/>
          <a:lstStyle/>
          <a:p>
            <a:endParaRPr lang="ar-SA"/>
          </a:p>
        </p:txBody>
      </p:sp>
      <p:pic>
        <p:nvPicPr>
          <p:cNvPr id="18" name="Image 1" descr="C:/Users/psaum/AppData/Local/Temp/claude/C--Users-psaum-Desktop-Future-Energy-Lab/aada0020-65e6-465d-b4c6-ce9ed2f60953/scratchpad/crop/fft_pair.png"/>
          <p:cNvPicPr>
            <a:picLocks noChangeAspect="1"/>
          </p:cNvPicPr>
          <p:nvPr/>
        </p:nvPicPr>
        <p:blipFill>
          <a:blip r:embed="rId4"/>
          <a:srcRect/>
          <a:stretch/>
        </p:blipFill>
        <p:spPr>
          <a:xfrm>
            <a:off x="5696712" y="4370832"/>
            <a:ext cx="2779776" cy="1728216"/>
          </a:xfrm>
          <a:prstGeom prst="rect">
            <a:avLst/>
          </a:prstGeom>
        </p:spPr>
      </p:pic>
      <p:sp>
        <p:nvSpPr>
          <p:cNvPr id="19" name="Text 15"/>
          <p:cNvSpPr txBox="1"/>
          <p:nvPr/>
        </p:nvSpPr>
        <p:spPr>
          <a:xfrm>
            <a:off x="5623560" y="6199632"/>
            <a:ext cx="2926080" cy="274320"/>
          </a:xfrm>
          <a:prstGeom prst="rect">
            <a:avLst/>
          </a:prstGeom>
          <a:noFill/>
          <a:ln/>
        </p:spPr>
        <p:txBody>
          <a:bodyPr wrap="square" lIns="0" tIns="0" rIns="0" bIns="0" rtlCol="0" anchor="ctr"/>
          <a:lstStyle/>
          <a:p>
            <a:pPr marL="0" indent="0" algn="ctr">
              <a:buNone/>
            </a:pPr>
            <a:r>
              <a:rPr lang="en-US" sz="850" dirty="0">
                <a:solidFill>
                  <a:srgbClr val="5F6B76"/>
                </a:solidFill>
                <a:latin typeface="Calibri" pitchFamily="34" charset="0"/>
                <a:ea typeface="Calibri" pitchFamily="34" charset="-122"/>
                <a:cs typeface="Calibri" pitchFamily="34" charset="-120"/>
              </a:rPr>
              <a:t>Frequency domain - normal FFT vs arc FFT</a:t>
            </a:r>
            <a:endParaRPr lang="en-US" sz="850" dirty="0"/>
          </a:p>
        </p:txBody>
      </p:sp>
      <p:sp>
        <p:nvSpPr>
          <p:cNvPr id="20" name="Shape 16"/>
          <p:cNvSpPr/>
          <p:nvPr/>
        </p:nvSpPr>
        <p:spPr>
          <a:xfrm>
            <a:off x="8732520" y="4297680"/>
            <a:ext cx="2926080" cy="1874520"/>
          </a:xfrm>
          <a:prstGeom prst="roundRect">
            <a:avLst>
              <a:gd name="adj" fmla="val 1951"/>
            </a:avLst>
          </a:prstGeom>
          <a:solidFill>
            <a:srgbClr val="FFFFFF"/>
          </a:solidFill>
          <a:ln w="12700">
            <a:solidFill>
              <a:srgbClr val="C9D6DE"/>
            </a:solidFill>
            <a:prstDash val="solid"/>
          </a:ln>
        </p:spPr>
        <p:txBody>
          <a:bodyPr/>
          <a:lstStyle/>
          <a:p>
            <a:endParaRPr lang="ar-SA"/>
          </a:p>
        </p:txBody>
      </p:sp>
      <p:pic>
        <p:nvPicPr>
          <p:cNvPr id="21" name="Image 2" descr="C:/Users/psaum/AppData/Local/Temp/claude/C--Users-psaum-Desktop-Future-Energy-Lab/aada0020-65e6-465d-b4c6-ce9ed2f60953/scratchpad/img/dd_p19_1_870x452.png"/>
          <p:cNvPicPr>
            <a:picLocks noChangeAspect="1"/>
          </p:cNvPicPr>
          <p:nvPr/>
        </p:nvPicPr>
        <p:blipFill>
          <a:blip r:embed="rId5"/>
          <a:srcRect/>
          <a:stretch/>
        </p:blipFill>
        <p:spPr>
          <a:xfrm>
            <a:off x="8805672" y="4370832"/>
            <a:ext cx="2779776" cy="1728216"/>
          </a:xfrm>
          <a:prstGeom prst="rect">
            <a:avLst/>
          </a:prstGeom>
        </p:spPr>
      </p:pic>
      <p:sp>
        <p:nvSpPr>
          <p:cNvPr id="22" name="Text 17"/>
          <p:cNvSpPr txBox="1"/>
          <p:nvPr/>
        </p:nvSpPr>
        <p:spPr>
          <a:xfrm>
            <a:off x="8732520" y="6199632"/>
            <a:ext cx="2926080" cy="274320"/>
          </a:xfrm>
          <a:prstGeom prst="rect">
            <a:avLst/>
          </a:prstGeom>
          <a:noFill/>
          <a:ln/>
        </p:spPr>
        <p:txBody>
          <a:bodyPr wrap="square" lIns="0" tIns="0" rIns="0" bIns="0" rtlCol="0" anchor="ctr"/>
          <a:lstStyle/>
          <a:p>
            <a:pPr marL="0" indent="0" algn="ctr">
              <a:buNone/>
            </a:pPr>
            <a:r>
              <a:rPr lang="en-US" sz="850" dirty="0">
                <a:solidFill>
                  <a:srgbClr val="5F6B76"/>
                </a:solidFill>
                <a:latin typeface="Calibri" pitchFamily="34" charset="0"/>
                <a:ea typeface="Calibri" pitchFamily="34" charset="-122"/>
                <a:cs typeface="Calibri" pitchFamily="34" charset="-120"/>
              </a:rPr>
              <a:t>Moving-RMS / envelope analysis</a:t>
            </a:r>
            <a:endParaRPr lang="en-US" sz="850" dirty="0"/>
          </a:p>
        </p:txBody>
      </p:sp>
      <p:sp>
        <p:nvSpPr>
          <p:cNvPr id="24" name="Text 19"/>
          <p:cNvSpPr txBox="1"/>
          <p:nvPr/>
        </p:nvSpPr>
        <p:spPr>
          <a:xfrm>
            <a:off x="11430000" y="6473952"/>
            <a:ext cx="457200" cy="274320"/>
          </a:xfrm>
          <a:prstGeom prst="rect">
            <a:avLst/>
          </a:prstGeom>
          <a:noFill/>
          <a:ln/>
        </p:spPr>
        <p:txBody>
          <a:bodyPr wrap="square" lIns="0" tIns="0" rIns="0" bIns="0" rtlCol="0" anchor="ctr"/>
          <a:lstStyle/>
          <a:p>
            <a:pPr marL="0" indent="0" algn="r">
              <a:buNone/>
            </a:pPr>
            <a:r>
              <a:rPr lang="en-US" sz="850" dirty="0">
                <a:solidFill>
                  <a:srgbClr val="5F6B76"/>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256032" cy="256032"/>
          </a:xfrm>
          <a:prstGeom prst="ellipse">
            <a:avLst/>
          </a:prstGeom>
          <a:solidFill>
            <a:srgbClr val="C62828"/>
          </a:solidFill>
          <a:ln/>
        </p:spPr>
        <p:txBody>
          <a:bodyPr/>
          <a:lstStyle/>
          <a:p>
            <a:endParaRPr lang="ar-SA"/>
          </a:p>
        </p:txBody>
      </p:sp>
      <p:sp>
        <p:nvSpPr>
          <p:cNvPr id="3" name="Text 1"/>
          <p:cNvSpPr txBox="1"/>
          <p:nvPr/>
        </p:nvSpPr>
        <p:spPr>
          <a:xfrm>
            <a:off x="896112" y="411480"/>
            <a:ext cx="7315200" cy="320040"/>
          </a:xfrm>
          <a:prstGeom prst="rect">
            <a:avLst/>
          </a:prstGeom>
          <a:noFill/>
          <a:ln/>
        </p:spPr>
        <p:txBody>
          <a:bodyPr wrap="square" lIns="0" tIns="0" rIns="0" bIns="0" rtlCol="0" anchor="ctr"/>
          <a:lstStyle/>
          <a:p>
            <a:pPr marL="0" indent="0">
              <a:buNone/>
            </a:pPr>
            <a:r>
              <a:rPr lang="en-US" sz="1200" b="1" kern="0" spc="200" dirty="0">
                <a:solidFill>
                  <a:srgbClr val="C62828"/>
                </a:solidFill>
                <a:latin typeface="Calibri" pitchFamily="34" charset="0"/>
                <a:ea typeface="Calibri" pitchFamily="34" charset="-122"/>
                <a:cs typeface="Calibri" pitchFamily="34" charset="-120"/>
              </a:rPr>
              <a:t>ARC-FAULT</a:t>
            </a:r>
            <a:endParaRPr lang="en-US" sz="1200" dirty="0"/>
          </a:p>
        </p:txBody>
      </p:sp>
      <p:sp>
        <p:nvSpPr>
          <p:cNvPr id="4" name="Text 2"/>
          <p:cNvSpPr txBox="1"/>
          <p:nvPr/>
        </p:nvSpPr>
        <p:spPr>
          <a:xfrm>
            <a:off x="548640" y="749808"/>
            <a:ext cx="8503920" cy="822960"/>
          </a:xfrm>
          <a:prstGeom prst="rect">
            <a:avLst/>
          </a:prstGeom>
          <a:noFill/>
          <a:ln/>
        </p:spPr>
        <p:txBody>
          <a:bodyPr wrap="square" lIns="0" tIns="0" rIns="0" bIns="0" rtlCol="0" anchor="ctr"/>
          <a:lstStyle/>
          <a:p>
            <a:pPr marL="0" indent="0">
              <a:buNone/>
            </a:pPr>
            <a:r>
              <a:rPr lang="en-US" sz="2800" b="1" dirty="0">
                <a:solidFill>
                  <a:srgbClr val="1B2733"/>
                </a:solidFill>
                <a:latin typeface="Cambria" pitchFamily="34" charset="0"/>
                <a:ea typeface="Cambria" pitchFamily="34" charset="-122"/>
                <a:cs typeface="Cambria" pitchFamily="34" charset="-120"/>
              </a:rPr>
              <a:t>PINN Contribution &amp; Results</a:t>
            </a:r>
            <a:endParaRPr lang="en-US" sz="2800" dirty="0"/>
          </a:p>
        </p:txBody>
      </p:sp>
      <p:sp>
        <p:nvSpPr>
          <p:cNvPr id="7" name="Text 5"/>
          <p:cNvSpPr txBox="1"/>
          <p:nvPr/>
        </p:nvSpPr>
        <p:spPr>
          <a:xfrm>
            <a:off x="548640" y="1572768"/>
            <a:ext cx="11155680" cy="603504"/>
          </a:xfrm>
          <a:prstGeom prst="rect">
            <a:avLst/>
          </a:prstGeom>
          <a:noFill/>
          <a:ln/>
        </p:spPr>
        <p:txBody>
          <a:bodyPr wrap="square" lIns="0" tIns="0" rIns="0" bIns="0" rtlCol="0" anchor="ctr"/>
          <a:lstStyle/>
          <a:p>
            <a:pPr marL="0" indent="0">
              <a:buNone/>
            </a:pPr>
            <a:r>
              <a:rPr lang="en-US" sz="1250" i="1" dirty="0">
                <a:solidFill>
                  <a:srgbClr val="065A82"/>
                </a:solidFill>
                <a:latin typeface="Calibri" pitchFamily="34" charset="0"/>
                <a:ea typeface="Calibri" pitchFamily="34" charset="-122"/>
                <a:cs typeface="Calibri" pitchFamily="34" charset="-120"/>
              </a:rPr>
              <a:t>A sampling-rate-independent, current-only physics-informed neural network (PINN) for series arc-fault detection in switching power supplies - the device dynamics are discovered from data (SINDy), independently verified, then embedded in the detector.</a:t>
            </a:r>
            <a:endParaRPr lang="en-US" sz="1250" dirty="0"/>
          </a:p>
        </p:txBody>
      </p:sp>
      <p:sp>
        <p:nvSpPr>
          <p:cNvPr id="8" name="Shape 6"/>
          <p:cNvSpPr/>
          <p:nvPr/>
        </p:nvSpPr>
        <p:spPr>
          <a:xfrm>
            <a:off x="548640" y="2212848"/>
            <a:ext cx="5532120" cy="1828800"/>
          </a:xfrm>
          <a:prstGeom prst="roundRect">
            <a:avLst>
              <a:gd name="adj" fmla="val 2500"/>
            </a:avLst>
          </a:prstGeom>
          <a:solidFill>
            <a:srgbClr val="EEF3F6"/>
          </a:solidFill>
          <a:ln w="12700">
            <a:solidFill>
              <a:srgbClr val="C9D6DE"/>
            </a:solidFill>
            <a:prstDash val="solid"/>
          </a:ln>
        </p:spPr>
        <p:txBody>
          <a:bodyPr/>
          <a:lstStyle/>
          <a:p>
            <a:endParaRPr lang="ar-SA"/>
          </a:p>
        </p:txBody>
      </p:sp>
      <p:sp>
        <p:nvSpPr>
          <p:cNvPr id="9" name="Text 7"/>
          <p:cNvSpPr txBox="1"/>
          <p:nvPr/>
        </p:nvSpPr>
        <p:spPr>
          <a:xfrm>
            <a:off x="731520" y="2304288"/>
            <a:ext cx="5120640" cy="274320"/>
          </a:xfrm>
          <a:prstGeom prst="rect">
            <a:avLst/>
          </a:prstGeom>
          <a:noFill/>
          <a:ln/>
        </p:spPr>
        <p:txBody>
          <a:bodyPr wrap="square" lIns="0" tIns="0" rIns="0" bIns="0"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CONTRIBUTION</a:t>
            </a:r>
            <a:endParaRPr lang="en-US" sz="1100" dirty="0"/>
          </a:p>
        </p:txBody>
      </p:sp>
      <p:sp>
        <p:nvSpPr>
          <p:cNvPr id="10" name="Text 8"/>
          <p:cNvSpPr txBox="1"/>
          <p:nvPr/>
        </p:nvSpPr>
        <p:spPr>
          <a:xfrm>
            <a:off x="731520" y="2615184"/>
            <a:ext cx="5166360" cy="1417320"/>
          </a:xfrm>
          <a:prstGeom prst="rect">
            <a:avLst/>
          </a:prstGeom>
          <a:noFill/>
          <a:ln/>
        </p:spPr>
        <p:txBody>
          <a:bodyPr wrap="square" lIns="0" tIns="0" rIns="0" bIns="0" rtlCol="0" anchor="t"/>
          <a:lstStyle/>
          <a:p>
            <a:pPr marL="152400" indent="-152400">
              <a:spcAft>
                <a:spcPts val="600"/>
              </a:spcAft>
              <a:buSzPct val="100000"/>
              <a:buChar char="•"/>
            </a:pPr>
            <a:r>
              <a:rPr lang="en-US" sz="900" dirty="0">
                <a:solidFill>
                  <a:srgbClr val="1B2733"/>
                </a:solidFill>
                <a:latin typeface="Calibri" pitchFamily="34" charset="0"/>
                <a:ea typeface="Calibri" pitchFamily="34" charset="-122"/>
                <a:cs typeface="Calibri" pitchFamily="34" charset="-120"/>
              </a:rPr>
              <a:t>Current-only, voltage-free detection - no branch-voltage sensor required.</a:t>
            </a:r>
            <a:endParaRPr lang="en-US" sz="900" dirty="0"/>
          </a:p>
          <a:p>
            <a:pPr marL="152400" indent="-152400">
              <a:spcAft>
                <a:spcPts val="600"/>
              </a:spcAft>
              <a:buSzPct val="100000"/>
              <a:buChar char="•"/>
            </a:pPr>
            <a:r>
              <a:rPr lang="en-US" sz="900" dirty="0">
                <a:solidFill>
                  <a:srgbClr val="1B2733"/>
                </a:solidFill>
                <a:latin typeface="Calibri" pitchFamily="34" charset="0"/>
                <a:ea typeface="Calibri" pitchFamily="34" charset="-122"/>
                <a:cs typeface="Calibri" pitchFamily="34" charset="-120"/>
              </a:rPr>
              <a:t>Nominal SMPS dynamics discovered from data with SINDy (a stable linear charge-balance contraction map), independently verified - not an assumed arc equation.</a:t>
            </a:r>
            <a:endParaRPr lang="en-US" sz="900" dirty="0"/>
          </a:p>
          <a:p>
            <a:pPr marL="152400" indent="-152400">
              <a:spcAft>
                <a:spcPts val="600"/>
              </a:spcAft>
              <a:buSzPct val="100000"/>
              <a:buChar char="•"/>
            </a:pPr>
            <a:r>
              <a:rPr lang="en-US" sz="900" dirty="0">
                <a:solidFill>
                  <a:srgbClr val="1B2733"/>
                </a:solidFill>
                <a:latin typeface="Calibri" pitchFamily="34" charset="0"/>
                <a:ea typeface="Calibri" pitchFamily="34" charset="-122"/>
                <a:cs typeface="Calibri" pitchFamily="34" charset="-120"/>
              </a:rPr>
              <a:t>Causal period estimator removes all dependence on the sampling rate.</a:t>
            </a:r>
            <a:endParaRPr lang="en-US" sz="900" dirty="0"/>
          </a:p>
          <a:p>
            <a:pPr marL="152400" indent="-152400">
              <a:spcAft>
                <a:spcPts val="600"/>
              </a:spcAft>
              <a:buSzPct val="100000"/>
              <a:buChar char="•"/>
            </a:pPr>
            <a:r>
              <a:rPr lang="en-US" sz="900" dirty="0">
                <a:solidFill>
                  <a:srgbClr val="1B2733"/>
                </a:solidFill>
                <a:latin typeface="Calibri" pitchFamily="34" charset="0"/>
                <a:ea typeface="Calibri" pitchFamily="34" charset="-122"/>
                <a:cs typeface="Calibri" pitchFamily="34" charset="-120"/>
              </a:rPr>
              <a:t>Mayr / Cassie arc-plasma equations shown unidentifiable from current-only data - documented and rejected.</a:t>
            </a:r>
            <a:endParaRPr lang="en-US" sz="900" dirty="0"/>
          </a:p>
        </p:txBody>
      </p:sp>
      <p:sp>
        <p:nvSpPr>
          <p:cNvPr id="11" name="Shape 9"/>
          <p:cNvSpPr/>
          <p:nvPr/>
        </p:nvSpPr>
        <p:spPr>
          <a:xfrm>
            <a:off x="6263640" y="2212848"/>
            <a:ext cx="5394960" cy="1828800"/>
          </a:xfrm>
          <a:prstGeom prst="roundRect">
            <a:avLst>
              <a:gd name="adj" fmla="val 2500"/>
            </a:avLst>
          </a:prstGeom>
          <a:solidFill>
            <a:srgbClr val="EEF3F6"/>
          </a:solidFill>
          <a:ln w="12700">
            <a:solidFill>
              <a:srgbClr val="C9D6DE"/>
            </a:solidFill>
            <a:prstDash val="solid"/>
          </a:ln>
        </p:spPr>
        <p:txBody>
          <a:bodyPr/>
          <a:lstStyle/>
          <a:p>
            <a:endParaRPr lang="ar-SA"/>
          </a:p>
        </p:txBody>
      </p:sp>
      <p:sp>
        <p:nvSpPr>
          <p:cNvPr id="12" name="Text 10"/>
          <p:cNvSpPr txBox="1"/>
          <p:nvPr/>
        </p:nvSpPr>
        <p:spPr>
          <a:xfrm>
            <a:off x="6446520" y="2304288"/>
            <a:ext cx="5029200" cy="274320"/>
          </a:xfrm>
          <a:prstGeom prst="rect">
            <a:avLst/>
          </a:prstGeom>
          <a:noFill/>
          <a:ln/>
        </p:spPr>
        <p:txBody>
          <a:bodyPr wrap="square" lIns="0" tIns="0" rIns="0" bIns="0" rtlCol="0" anchor="ctr"/>
          <a:lstStyle/>
          <a:p>
            <a:pPr marL="0" indent="0">
              <a:buNone/>
            </a:pPr>
            <a:r>
              <a:rPr lang="en-US" sz="1100" b="1" dirty="0">
                <a:solidFill>
                  <a:srgbClr val="C62828"/>
                </a:solidFill>
                <a:latin typeface="Calibri" pitchFamily="34" charset="0"/>
                <a:ea typeface="Calibri" pitchFamily="34" charset="-122"/>
                <a:cs typeface="Calibri" pitchFamily="34" charset="-120"/>
              </a:rPr>
              <a:t>RESULTS  (one-shot leave-one-SMPS-model-out test)</a:t>
            </a:r>
            <a:endParaRPr lang="en-US" sz="1100" dirty="0"/>
          </a:p>
        </p:txBody>
      </p:sp>
      <p:sp>
        <p:nvSpPr>
          <p:cNvPr id="13" name="Text 11"/>
          <p:cNvSpPr txBox="1"/>
          <p:nvPr/>
        </p:nvSpPr>
        <p:spPr>
          <a:xfrm>
            <a:off x="6446520" y="2615184"/>
            <a:ext cx="5029200" cy="1417320"/>
          </a:xfrm>
          <a:prstGeom prst="rect">
            <a:avLst/>
          </a:prstGeom>
          <a:noFill/>
          <a:ln/>
        </p:spPr>
        <p:txBody>
          <a:bodyPr wrap="square" lIns="0" tIns="0" rIns="0" bIns="0" rtlCol="0" anchor="t"/>
          <a:lstStyle/>
          <a:p>
            <a:pPr marL="152400" indent="-152400">
              <a:spcAft>
                <a:spcPts val="600"/>
              </a:spcAft>
              <a:buSzPct val="100000"/>
              <a:buChar char="•"/>
            </a:pPr>
            <a:r>
              <a:rPr lang="en-US" sz="900" dirty="0">
                <a:solidFill>
                  <a:srgbClr val="1B2733"/>
                </a:solidFill>
                <a:latin typeface="Calibri" pitchFamily="34" charset="0"/>
                <a:ea typeface="Calibri" pitchFamily="34" charset="-122"/>
                <a:cs typeface="Calibri" pitchFamily="34" charset="-120"/>
              </a:rPr>
              <a:t>Average precision 0.9924 with no sampling-rate knowledge (0.9954 with it); 105/105 arc events detected, median delay 0 half-cycles.</a:t>
            </a:r>
            <a:endParaRPr lang="en-US" sz="900" dirty="0"/>
          </a:p>
          <a:p>
            <a:pPr marL="152400" indent="-152400">
              <a:spcAft>
                <a:spcPts val="600"/>
              </a:spcAft>
              <a:buSzPct val="100000"/>
              <a:buChar char="•"/>
            </a:pPr>
            <a:r>
              <a:rPr lang="en-US" sz="900" dirty="0">
                <a:solidFill>
                  <a:srgbClr val="1B2733"/>
                </a:solidFill>
                <a:latin typeface="Calibri" pitchFamily="34" charset="0"/>
                <a:ea typeface="Calibri" pitchFamily="34" charset="-122"/>
                <a:cs typeface="Calibri" pitchFamily="34" charset="-120"/>
              </a:rPr>
              <a:t>0.59 false alarms / 100 cycles - 3-10x better than the accuracy-leading benchmarks (GBM 2.0-5.6, FFT+LR 4.7-5.4).</a:t>
            </a:r>
            <a:endParaRPr lang="en-US" sz="900" dirty="0"/>
          </a:p>
          <a:p>
            <a:pPr marL="152400" indent="-152400">
              <a:spcAft>
                <a:spcPts val="600"/>
              </a:spcAft>
              <a:buSzPct val="100000"/>
              <a:buChar char="•"/>
            </a:pPr>
            <a:r>
              <a:rPr lang="en-US" sz="900" dirty="0">
                <a:solidFill>
                  <a:srgbClr val="1B2733"/>
                </a:solidFill>
                <a:latin typeface="Calibri" pitchFamily="34" charset="0"/>
                <a:ea typeface="Calibri" pitchFamily="34" charset="-122"/>
                <a:cs typeface="Calibri" pitchFamily="34" charset="-120"/>
              </a:rPr>
              <a:t>Rate-robust: AP 0.984-0.985 after resampling to 4.8 / 3.2 kHz with no rate info; a -20% assumed-rate error collapses a rate-aware detector to MCC 0.20.</a:t>
            </a:r>
            <a:endParaRPr lang="en-US" sz="900" dirty="0"/>
          </a:p>
          <a:p>
            <a:pPr marL="152400" indent="-152400">
              <a:spcAft>
                <a:spcPts val="600"/>
              </a:spcAft>
              <a:buSzPct val="100000"/>
              <a:buChar char="•"/>
            </a:pPr>
            <a:r>
              <a:rPr lang="en-US" sz="900" dirty="0">
                <a:solidFill>
                  <a:srgbClr val="1B2733"/>
                </a:solidFill>
                <a:latin typeface="Calibri" pitchFamily="34" charset="0"/>
                <a:ea typeface="Calibri" pitchFamily="34" charset="-122"/>
                <a:cs typeface="Calibri" pitchFamily="34" charset="-120"/>
              </a:rPr>
              <a:t>Physics helps most when the encoder is weak (+0.05 to +0.07 AP); performance-neutral at the accuracy ceiling - reported honestly.</a:t>
            </a:r>
            <a:endParaRPr lang="en-US" sz="900" dirty="0"/>
          </a:p>
        </p:txBody>
      </p:sp>
      <p:sp>
        <p:nvSpPr>
          <p:cNvPr id="14" name="Shape 12"/>
          <p:cNvSpPr/>
          <p:nvPr/>
        </p:nvSpPr>
        <p:spPr>
          <a:xfrm>
            <a:off x="548640" y="4343400"/>
            <a:ext cx="3063240" cy="1783080"/>
          </a:xfrm>
          <a:prstGeom prst="roundRect">
            <a:avLst>
              <a:gd name="adj" fmla="val 2051"/>
            </a:avLst>
          </a:prstGeom>
          <a:solidFill>
            <a:srgbClr val="FFFFFF"/>
          </a:solidFill>
          <a:ln w="12700">
            <a:solidFill>
              <a:srgbClr val="C9D6DE"/>
            </a:solidFill>
            <a:prstDash val="solid"/>
          </a:ln>
        </p:spPr>
        <p:txBody>
          <a:bodyPr/>
          <a:lstStyle/>
          <a:p>
            <a:endParaRPr lang="ar-SA"/>
          </a:p>
        </p:txBody>
      </p:sp>
      <p:pic>
        <p:nvPicPr>
          <p:cNvPr id="15" name="Image 0" descr="C:/Users/psaum/AppData/Local/Temp/claude/C--Users-psaum-Desktop-Future-Energy-Lab/aada0020-65e6-465d-b4c6-ce9ed2f60953/scratchpad/crop/fig1_recording.png"/>
          <p:cNvPicPr>
            <a:picLocks noChangeAspect="1"/>
          </p:cNvPicPr>
          <p:nvPr/>
        </p:nvPicPr>
        <p:blipFill>
          <a:blip r:embed="rId3"/>
          <a:srcRect/>
          <a:stretch/>
        </p:blipFill>
        <p:spPr>
          <a:xfrm>
            <a:off x="621792" y="4416552"/>
            <a:ext cx="2916936" cy="1636776"/>
          </a:xfrm>
          <a:prstGeom prst="rect">
            <a:avLst/>
          </a:prstGeom>
        </p:spPr>
      </p:pic>
      <p:sp>
        <p:nvSpPr>
          <p:cNvPr id="16" name="Text 13"/>
          <p:cNvSpPr txBox="1"/>
          <p:nvPr/>
        </p:nvSpPr>
        <p:spPr>
          <a:xfrm>
            <a:off x="548640" y="6153912"/>
            <a:ext cx="3063240" cy="274320"/>
          </a:xfrm>
          <a:prstGeom prst="rect">
            <a:avLst/>
          </a:prstGeom>
          <a:noFill/>
          <a:ln/>
        </p:spPr>
        <p:txBody>
          <a:bodyPr wrap="square" lIns="0" tIns="0" rIns="0" bIns="0" rtlCol="0" anchor="ctr"/>
          <a:lstStyle/>
          <a:p>
            <a:pPr marL="0" indent="0" algn="ctr">
              <a:buNone/>
            </a:pPr>
            <a:r>
              <a:rPr lang="en-US" sz="850" dirty="0">
                <a:solidFill>
                  <a:srgbClr val="5F6B76"/>
                </a:solidFill>
                <a:latin typeface="Calibri" pitchFamily="34" charset="0"/>
                <a:ea typeface="Calibri" pitchFamily="34" charset="-122"/>
                <a:cs typeface="Calibri" pitchFamily="34" charset="-120"/>
              </a:rPr>
              <a:t>Sample recording - no-arc (green) vs arc (red)</a:t>
            </a:r>
            <a:endParaRPr lang="en-US" sz="850" dirty="0"/>
          </a:p>
        </p:txBody>
      </p:sp>
      <p:sp>
        <p:nvSpPr>
          <p:cNvPr id="17" name="Shape 14"/>
          <p:cNvSpPr/>
          <p:nvPr/>
        </p:nvSpPr>
        <p:spPr>
          <a:xfrm>
            <a:off x="3840480" y="4343400"/>
            <a:ext cx="4160520" cy="1783080"/>
          </a:xfrm>
          <a:prstGeom prst="roundRect">
            <a:avLst>
              <a:gd name="adj" fmla="val 2051"/>
            </a:avLst>
          </a:prstGeom>
          <a:solidFill>
            <a:srgbClr val="FFFFFF"/>
          </a:solidFill>
          <a:ln w="12700">
            <a:solidFill>
              <a:srgbClr val="C9D6DE"/>
            </a:solidFill>
            <a:prstDash val="solid"/>
          </a:ln>
        </p:spPr>
        <p:txBody>
          <a:bodyPr/>
          <a:lstStyle/>
          <a:p>
            <a:endParaRPr lang="ar-SA"/>
          </a:p>
        </p:txBody>
      </p:sp>
      <p:pic>
        <p:nvPicPr>
          <p:cNvPr id="18" name="Image 1" descr="C:/Users/psaum/AppData/Local/Temp/claude/C--Users-psaum-Desktop-Future-Energy-Lab/aada0020-65e6-465d-b4c6-ce9ed2f60953/scratchpad/crop/fig3_verify.png"/>
          <p:cNvPicPr>
            <a:picLocks noChangeAspect="1"/>
          </p:cNvPicPr>
          <p:nvPr/>
        </p:nvPicPr>
        <p:blipFill>
          <a:blip r:embed="rId4"/>
          <a:srcRect/>
          <a:stretch/>
        </p:blipFill>
        <p:spPr>
          <a:xfrm>
            <a:off x="3913632" y="4416552"/>
            <a:ext cx="4014216" cy="1636776"/>
          </a:xfrm>
          <a:prstGeom prst="rect">
            <a:avLst/>
          </a:prstGeom>
        </p:spPr>
      </p:pic>
      <p:sp>
        <p:nvSpPr>
          <p:cNvPr id="19" name="Text 15"/>
          <p:cNvSpPr txBox="1"/>
          <p:nvPr/>
        </p:nvSpPr>
        <p:spPr>
          <a:xfrm>
            <a:off x="3840480" y="6153912"/>
            <a:ext cx="4160520" cy="274320"/>
          </a:xfrm>
          <a:prstGeom prst="rect">
            <a:avLst/>
          </a:prstGeom>
          <a:noFill/>
          <a:ln/>
        </p:spPr>
        <p:txBody>
          <a:bodyPr wrap="square" lIns="0" tIns="0" rIns="0" bIns="0" rtlCol="0" anchor="ctr"/>
          <a:lstStyle/>
          <a:p>
            <a:pPr marL="0" indent="0" algn="ctr">
              <a:buNone/>
            </a:pPr>
            <a:r>
              <a:rPr lang="en-US" sz="850" dirty="0">
                <a:solidFill>
                  <a:srgbClr val="5F6B76"/>
                </a:solidFill>
                <a:latin typeface="Calibri" pitchFamily="34" charset="0"/>
                <a:ea typeface="Calibri" pitchFamily="34" charset="-122"/>
                <a:cs typeface="Calibri" pitchFamily="34" charset="-120"/>
              </a:rPr>
              <a:t>Independent verification of the discovered device dynamics</a:t>
            </a:r>
            <a:endParaRPr lang="en-US" sz="850" dirty="0"/>
          </a:p>
        </p:txBody>
      </p:sp>
      <p:sp>
        <p:nvSpPr>
          <p:cNvPr id="20" name="Shape 16"/>
          <p:cNvSpPr/>
          <p:nvPr/>
        </p:nvSpPr>
        <p:spPr>
          <a:xfrm>
            <a:off x="8229600" y="4343400"/>
            <a:ext cx="3429000" cy="1783080"/>
          </a:xfrm>
          <a:prstGeom prst="roundRect">
            <a:avLst>
              <a:gd name="adj" fmla="val 2051"/>
            </a:avLst>
          </a:prstGeom>
          <a:solidFill>
            <a:srgbClr val="FFFFFF"/>
          </a:solidFill>
          <a:ln w="12700">
            <a:solidFill>
              <a:srgbClr val="C9D6DE"/>
            </a:solidFill>
            <a:prstDash val="solid"/>
          </a:ln>
        </p:spPr>
        <p:txBody>
          <a:bodyPr/>
          <a:lstStyle/>
          <a:p>
            <a:endParaRPr lang="ar-SA"/>
          </a:p>
        </p:txBody>
      </p:sp>
      <p:pic>
        <p:nvPicPr>
          <p:cNvPr id="21" name="Image 2" descr="C:/Users/psaum/AppData/Local/Temp/claude/C--Users-psaum-Desktop-Future-Energy-Lab/aada0020-65e6-465d-b4c6-ce9ed2f60953/scratchpad/crop/fig5_outer.png"/>
          <p:cNvPicPr>
            <a:picLocks noChangeAspect="1"/>
          </p:cNvPicPr>
          <p:nvPr/>
        </p:nvPicPr>
        <p:blipFill>
          <a:blip r:embed="rId5"/>
          <a:srcRect/>
          <a:stretch/>
        </p:blipFill>
        <p:spPr>
          <a:xfrm>
            <a:off x="8302752" y="4416552"/>
            <a:ext cx="3282696" cy="1636776"/>
          </a:xfrm>
          <a:prstGeom prst="rect">
            <a:avLst/>
          </a:prstGeom>
        </p:spPr>
      </p:pic>
      <p:sp>
        <p:nvSpPr>
          <p:cNvPr id="22" name="Text 17"/>
          <p:cNvSpPr txBox="1"/>
          <p:nvPr/>
        </p:nvSpPr>
        <p:spPr>
          <a:xfrm>
            <a:off x="8229600" y="6153912"/>
            <a:ext cx="3429000" cy="274320"/>
          </a:xfrm>
          <a:prstGeom prst="rect">
            <a:avLst/>
          </a:prstGeom>
          <a:noFill/>
          <a:ln/>
        </p:spPr>
        <p:txBody>
          <a:bodyPr wrap="square" lIns="0" tIns="0" rIns="0" bIns="0" rtlCol="0" anchor="ctr"/>
          <a:lstStyle/>
          <a:p>
            <a:pPr marL="0" indent="0" algn="ctr">
              <a:buNone/>
            </a:pPr>
            <a:r>
              <a:rPr lang="en-US" sz="850" dirty="0">
                <a:solidFill>
                  <a:srgbClr val="5F6B76"/>
                </a:solidFill>
                <a:latin typeface="Calibri" pitchFamily="34" charset="0"/>
                <a:ea typeface="Calibri" pitchFamily="34" charset="-122"/>
                <a:cs typeface="Calibri" pitchFamily="34" charset="-120"/>
              </a:rPr>
              <a:t>One-shot outer test + sampling-rate robustness</a:t>
            </a:r>
            <a:endParaRPr lang="en-US" sz="850" dirty="0"/>
          </a:p>
        </p:txBody>
      </p:sp>
      <p:sp>
        <p:nvSpPr>
          <p:cNvPr id="24" name="Text 19"/>
          <p:cNvSpPr txBox="1"/>
          <p:nvPr/>
        </p:nvSpPr>
        <p:spPr>
          <a:xfrm>
            <a:off x="11430000" y="6473952"/>
            <a:ext cx="457200" cy="274320"/>
          </a:xfrm>
          <a:prstGeom prst="rect">
            <a:avLst/>
          </a:prstGeom>
          <a:noFill/>
          <a:ln/>
        </p:spPr>
        <p:txBody>
          <a:bodyPr wrap="square" lIns="0" tIns="0" rIns="0" bIns="0" rtlCol="0" anchor="ctr"/>
          <a:lstStyle/>
          <a:p>
            <a:pPr marL="0" indent="0" algn="r">
              <a:buNone/>
            </a:pPr>
            <a:r>
              <a:rPr lang="en-US" sz="850" dirty="0">
                <a:solidFill>
                  <a:srgbClr val="5F6B76"/>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256032" cy="256032"/>
          </a:xfrm>
          <a:prstGeom prst="ellipse">
            <a:avLst/>
          </a:prstGeom>
          <a:solidFill>
            <a:srgbClr val="C62828"/>
          </a:solidFill>
          <a:ln/>
        </p:spPr>
        <p:txBody>
          <a:bodyPr/>
          <a:lstStyle/>
          <a:p>
            <a:endParaRPr lang="ar-SA"/>
          </a:p>
        </p:txBody>
      </p:sp>
      <p:sp>
        <p:nvSpPr>
          <p:cNvPr id="3" name="Text 1"/>
          <p:cNvSpPr txBox="1"/>
          <p:nvPr/>
        </p:nvSpPr>
        <p:spPr>
          <a:xfrm>
            <a:off x="896112" y="411480"/>
            <a:ext cx="7315200" cy="320040"/>
          </a:xfrm>
          <a:prstGeom prst="rect">
            <a:avLst/>
          </a:prstGeom>
          <a:noFill/>
          <a:ln/>
        </p:spPr>
        <p:txBody>
          <a:bodyPr wrap="square" lIns="0" tIns="0" rIns="0" bIns="0" rtlCol="0" anchor="ctr"/>
          <a:lstStyle/>
          <a:p>
            <a:pPr marL="0" indent="0">
              <a:buNone/>
            </a:pPr>
            <a:r>
              <a:rPr lang="en-US" sz="1200" b="1" kern="0" spc="200" dirty="0">
                <a:solidFill>
                  <a:srgbClr val="C62828"/>
                </a:solidFill>
                <a:latin typeface="Calibri" pitchFamily="34" charset="0"/>
                <a:ea typeface="Calibri" pitchFamily="34" charset="-122"/>
                <a:cs typeface="Calibri" pitchFamily="34" charset="-120"/>
              </a:rPr>
              <a:t>ARC-FAULT</a:t>
            </a:r>
            <a:endParaRPr lang="en-US" sz="1200" dirty="0"/>
          </a:p>
        </p:txBody>
      </p:sp>
      <p:sp>
        <p:nvSpPr>
          <p:cNvPr id="4" name="Text 2"/>
          <p:cNvSpPr txBox="1"/>
          <p:nvPr/>
        </p:nvSpPr>
        <p:spPr>
          <a:xfrm>
            <a:off x="548640" y="749808"/>
            <a:ext cx="8976360" cy="822960"/>
          </a:xfrm>
          <a:prstGeom prst="rect">
            <a:avLst/>
          </a:prstGeom>
          <a:noFill/>
          <a:ln/>
        </p:spPr>
        <p:txBody>
          <a:bodyPr wrap="square" lIns="0" tIns="0" rIns="0" bIns="0" rtlCol="0" anchor="ctr"/>
          <a:lstStyle/>
          <a:p>
            <a:pPr marL="0" indent="0">
              <a:buNone/>
            </a:pPr>
            <a:r>
              <a:rPr lang="en-US" sz="2800" b="1" dirty="0">
                <a:solidFill>
                  <a:srgbClr val="1B2733"/>
                </a:solidFill>
                <a:latin typeface="Cambria" pitchFamily="34" charset="0"/>
                <a:ea typeface="Cambria" pitchFamily="34" charset="-122"/>
                <a:cs typeface="Cambria" pitchFamily="34" charset="-120"/>
              </a:rPr>
              <a:t>Implementation Plan: Arc-Fault Data-Acquisition Setup</a:t>
            </a:r>
            <a:endParaRPr lang="en-US" sz="2800" dirty="0"/>
          </a:p>
        </p:txBody>
      </p:sp>
      <p:sp>
        <p:nvSpPr>
          <p:cNvPr id="7" name="Text 5"/>
          <p:cNvSpPr txBox="1"/>
          <p:nvPr/>
        </p:nvSpPr>
        <p:spPr>
          <a:xfrm>
            <a:off x="548640" y="1648460"/>
            <a:ext cx="11155680" cy="603504"/>
          </a:xfrm>
          <a:prstGeom prst="rect">
            <a:avLst/>
          </a:prstGeom>
          <a:noFill/>
          <a:ln/>
        </p:spPr>
        <p:txBody>
          <a:bodyPr wrap="square" lIns="0" tIns="0" rIns="0" bIns="0" rtlCol="0" anchor="ctr"/>
          <a:lstStyle/>
          <a:p>
            <a:pPr marL="0" indent="0">
              <a:buNone/>
            </a:pPr>
            <a:r>
              <a:rPr lang="en-US" sz="1250" i="1" dirty="0">
                <a:solidFill>
                  <a:srgbClr val="065A82"/>
                </a:solidFill>
                <a:latin typeface="Calibri" pitchFamily="34" charset="0"/>
                <a:ea typeface="Calibri" pitchFamily="34" charset="-122"/>
                <a:cs typeface="Calibri" pitchFamily="34" charset="-120"/>
              </a:rPr>
              <a:t>A locally engineered arc-fault test bench for the Future Energy Lab: a controlled arc generator on a dedicated line, downstream of the CHINT NB2 smart breaker, feeding a load - for safe, repeatable data collection and detection trials on Saudi 60-Hz systems.</a:t>
            </a:r>
            <a:endParaRPr lang="en-US" sz="1250" dirty="0"/>
          </a:p>
        </p:txBody>
      </p:sp>
      <p:sp>
        <p:nvSpPr>
          <p:cNvPr id="8" name="Shape 6"/>
          <p:cNvSpPr/>
          <p:nvPr/>
        </p:nvSpPr>
        <p:spPr>
          <a:xfrm>
            <a:off x="512064" y="2619756"/>
            <a:ext cx="2606040" cy="1234440"/>
          </a:xfrm>
          <a:prstGeom prst="roundRect">
            <a:avLst>
              <a:gd name="adj" fmla="val 4444"/>
            </a:avLst>
          </a:prstGeom>
          <a:solidFill>
            <a:srgbClr val="EEF3F6"/>
          </a:solidFill>
          <a:ln w="19050">
            <a:solidFill>
              <a:srgbClr val="065A82"/>
            </a:solidFill>
            <a:prstDash val="solid"/>
          </a:ln>
        </p:spPr>
        <p:txBody>
          <a:bodyPr/>
          <a:lstStyle/>
          <a:p>
            <a:endParaRPr lang="ar-SA"/>
          </a:p>
        </p:txBody>
      </p:sp>
      <p:sp>
        <p:nvSpPr>
          <p:cNvPr id="9" name="Shape 7"/>
          <p:cNvSpPr/>
          <p:nvPr/>
        </p:nvSpPr>
        <p:spPr>
          <a:xfrm>
            <a:off x="694944" y="2802636"/>
            <a:ext cx="219456" cy="219456"/>
          </a:xfrm>
          <a:prstGeom prst="ellipse">
            <a:avLst/>
          </a:prstGeom>
          <a:solidFill>
            <a:srgbClr val="065A82"/>
          </a:solidFill>
          <a:ln/>
        </p:spPr>
        <p:txBody>
          <a:bodyPr/>
          <a:lstStyle/>
          <a:p>
            <a:endParaRPr lang="ar-SA"/>
          </a:p>
        </p:txBody>
      </p:sp>
      <p:sp>
        <p:nvSpPr>
          <p:cNvPr id="10" name="Text 8"/>
          <p:cNvSpPr txBox="1"/>
          <p:nvPr/>
        </p:nvSpPr>
        <p:spPr>
          <a:xfrm>
            <a:off x="694944" y="2802636"/>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a:t>
            </a:r>
            <a:endParaRPr lang="en-US" sz="800" dirty="0"/>
          </a:p>
        </p:txBody>
      </p:sp>
      <p:sp>
        <p:nvSpPr>
          <p:cNvPr id="11" name="Text 9"/>
          <p:cNvSpPr txBox="1"/>
          <p:nvPr/>
        </p:nvSpPr>
        <p:spPr>
          <a:xfrm>
            <a:off x="694944" y="3113532"/>
            <a:ext cx="2286000" cy="365760"/>
          </a:xfrm>
          <a:prstGeom prst="rect">
            <a:avLst/>
          </a:prstGeom>
          <a:noFill/>
          <a:ln/>
        </p:spPr>
        <p:txBody>
          <a:bodyPr wrap="square" lIns="0" tIns="0" rIns="0" bIns="0" rtlCol="0" anchor="ctr"/>
          <a:lstStyle/>
          <a:p>
            <a:pPr marL="0" indent="0">
              <a:buNone/>
            </a:pPr>
            <a:r>
              <a:rPr lang="en-US" sz="1100" b="1" dirty="0">
                <a:solidFill>
                  <a:srgbClr val="1B2733"/>
                </a:solidFill>
                <a:latin typeface="Calibri" pitchFamily="34" charset="0"/>
                <a:ea typeface="Calibri" pitchFamily="34" charset="-122"/>
                <a:cs typeface="Calibri" pitchFamily="34" charset="-120"/>
              </a:rPr>
              <a:t>Main grid / LV supply</a:t>
            </a:r>
            <a:endParaRPr lang="en-US" sz="1100" dirty="0"/>
          </a:p>
        </p:txBody>
      </p:sp>
      <p:sp>
        <p:nvSpPr>
          <p:cNvPr id="12" name="Text 10"/>
          <p:cNvSpPr txBox="1"/>
          <p:nvPr/>
        </p:nvSpPr>
        <p:spPr>
          <a:xfrm>
            <a:off x="694944" y="3461004"/>
            <a:ext cx="2286000" cy="365760"/>
          </a:xfrm>
          <a:prstGeom prst="rect">
            <a:avLst/>
          </a:prstGeom>
          <a:noFill/>
          <a:ln/>
        </p:spPr>
        <p:txBody>
          <a:bodyPr wrap="square" lIns="0" tIns="0" rIns="0" bIns="0" rtlCol="0" anchor="ctr"/>
          <a:lstStyle/>
          <a:p>
            <a:pPr marL="0" indent="0">
              <a:buNone/>
            </a:pPr>
            <a:r>
              <a:rPr lang="en-US" sz="850" dirty="0">
                <a:solidFill>
                  <a:srgbClr val="5F6B76"/>
                </a:solidFill>
                <a:latin typeface="Calibri" pitchFamily="34" charset="0"/>
                <a:ea typeface="Calibri" pitchFamily="34" charset="-122"/>
                <a:cs typeface="Calibri" pitchFamily="34" charset="-120"/>
              </a:rPr>
              <a:t>230 V, 60 Hz</a:t>
            </a:r>
            <a:endParaRPr lang="en-US" sz="850" dirty="0"/>
          </a:p>
        </p:txBody>
      </p:sp>
      <p:sp>
        <p:nvSpPr>
          <p:cNvPr id="13" name="Shape 11"/>
          <p:cNvSpPr/>
          <p:nvPr/>
        </p:nvSpPr>
        <p:spPr>
          <a:xfrm>
            <a:off x="3145536" y="3113532"/>
            <a:ext cx="237744" cy="274320"/>
          </a:xfrm>
          <a:prstGeom prst="chevron">
            <a:avLst/>
          </a:prstGeom>
          <a:solidFill>
            <a:srgbClr val="5F6B76"/>
          </a:solidFill>
          <a:ln/>
        </p:spPr>
        <p:txBody>
          <a:bodyPr/>
          <a:lstStyle/>
          <a:p>
            <a:endParaRPr lang="ar-SA"/>
          </a:p>
        </p:txBody>
      </p:sp>
      <p:sp>
        <p:nvSpPr>
          <p:cNvPr id="14" name="Shape 12"/>
          <p:cNvSpPr/>
          <p:nvPr/>
        </p:nvSpPr>
        <p:spPr>
          <a:xfrm>
            <a:off x="3419856" y="2619756"/>
            <a:ext cx="2606040" cy="1234440"/>
          </a:xfrm>
          <a:prstGeom prst="roundRect">
            <a:avLst>
              <a:gd name="adj" fmla="val 4444"/>
            </a:avLst>
          </a:prstGeom>
          <a:solidFill>
            <a:srgbClr val="EEF3F6"/>
          </a:solidFill>
          <a:ln w="19050">
            <a:solidFill>
              <a:srgbClr val="1F3A5F"/>
            </a:solidFill>
            <a:prstDash val="solid"/>
          </a:ln>
        </p:spPr>
        <p:txBody>
          <a:bodyPr/>
          <a:lstStyle/>
          <a:p>
            <a:endParaRPr lang="ar-SA"/>
          </a:p>
        </p:txBody>
      </p:sp>
      <p:sp>
        <p:nvSpPr>
          <p:cNvPr id="15" name="Shape 13"/>
          <p:cNvSpPr/>
          <p:nvPr/>
        </p:nvSpPr>
        <p:spPr>
          <a:xfrm>
            <a:off x="3602736" y="2802636"/>
            <a:ext cx="219456" cy="219456"/>
          </a:xfrm>
          <a:prstGeom prst="ellipse">
            <a:avLst/>
          </a:prstGeom>
          <a:solidFill>
            <a:srgbClr val="1F3A5F"/>
          </a:solidFill>
          <a:ln/>
        </p:spPr>
        <p:txBody>
          <a:bodyPr/>
          <a:lstStyle/>
          <a:p>
            <a:endParaRPr lang="ar-SA"/>
          </a:p>
        </p:txBody>
      </p:sp>
      <p:sp>
        <p:nvSpPr>
          <p:cNvPr id="16" name="Text 14"/>
          <p:cNvSpPr txBox="1"/>
          <p:nvPr/>
        </p:nvSpPr>
        <p:spPr>
          <a:xfrm>
            <a:off x="3602736" y="2802636"/>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17" name="Text 15"/>
          <p:cNvSpPr txBox="1"/>
          <p:nvPr/>
        </p:nvSpPr>
        <p:spPr>
          <a:xfrm>
            <a:off x="3602736" y="3113532"/>
            <a:ext cx="2286000" cy="365760"/>
          </a:xfrm>
          <a:prstGeom prst="rect">
            <a:avLst/>
          </a:prstGeom>
          <a:noFill/>
          <a:ln/>
        </p:spPr>
        <p:txBody>
          <a:bodyPr wrap="square" lIns="0" tIns="0" rIns="0" bIns="0" rtlCol="0" anchor="ctr"/>
          <a:lstStyle/>
          <a:p>
            <a:pPr marL="0" indent="0">
              <a:buNone/>
            </a:pPr>
            <a:r>
              <a:rPr lang="en-US" sz="1100" b="1" dirty="0">
                <a:solidFill>
                  <a:srgbClr val="1B2733"/>
                </a:solidFill>
                <a:latin typeface="Calibri" pitchFamily="34" charset="0"/>
                <a:ea typeface="Calibri" pitchFamily="34" charset="-122"/>
                <a:cs typeface="Calibri" pitchFamily="34" charset="-120"/>
              </a:rPr>
              <a:t>CHINT NB2 smart breaker</a:t>
            </a:r>
            <a:endParaRPr lang="en-US" sz="1100" dirty="0"/>
          </a:p>
        </p:txBody>
      </p:sp>
      <p:sp>
        <p:nvSpPr>
          <p:cNvPr id="18" name="Text 16"/>
          <p:cNvSpPr txBox="1"/>
          <p:nvPr/>
        </p:nvSpPr>
        <p:spPr>
          <a:xfrm>
            <a:off x="3602736" y="3461004"/>
            <a:ext cx="2286000" cy="365760"/>
          </a:xfrm>
          <a:prstGeom prst="rect">
            <a:avLst/>
          </a:prstGeom>
          <a:noFill/>
          <a:ln/>
        </p:spPr>
        <p:txBody>
          <a:bodyPr wrap="square" lIns="0" tIns="0" rIns="0" bIns="0" rtlCol="0" anchor="ctr"/>
          <a:lstStyle/>
          <a:p>
            <a:pPr marL="0" indent="0">
              <a:buNone/>
            </a:pPr>
            <a:r>
              <a:rPr lang="en-US" sz="850" dirty="0">
                <a:solidFill>
                  <a:srgbClr val="5F6B76"/>
                </a:solidFill>
                <a:latin typeface="Calibri" pitchFamily="34" charset="0"/>
                <a:ea typeface="Calibri" pitchFamily="34" charset="-122"/>
                <a:cs typeface="Calibri" pitchFamily="34" charset="-120"/>
              </a:rPr>
              <a:t>metering V·I·P·PF + trip</a:t>
            </a:r>
            <a:endParaRPr lang="en-US" sz="850" dirty="0"/>
          </a:p>
        </p:txBody>
      </p:sp>
      <p:sp>
        <p:nvSpPr>
          <p:cNvPr id="19" name="Shape 17"/>
          <p:cNvSpPr/>
          <p:nvPr/>
        </p:nvSpPr>
        <p:spPr>
          <a:xfrm>
            <a:off x="6053328" y="3113532"/>
            <a:ext cx="237744" cy="274320"/>
          </a:xfrm>
          <a:prstGeom prst="chevron">
            <a:avLst/>
          </a:prstGeom>
          <a:solidFill>
            <a:srgbClr val="5F6B76"/>
          </a:solidFill>
          <a:ln/>
        </p:spPr>
        <p:txBody>
          <a:bodyPr/>
          <a:lstStyle/>
          <a:p>
            <a:endParaRPr lang="ar-SA"/>
          </a:p>
        </p:txBody>
      </p:sp>
      <p:sp>
        <p:nvSpPr>
          <p:cNvPr id="20" name="Shape 18"/>
          <p:cNvSpPr/>
          <p:nvPr/>
        </p:nvSpPr>
        <p:spPr>
          <a:xfrm>
            <a:off x="6327648" y="2619756"/>
            <a:ext cx="2606040" cy="1234440"/>
          </a:xfrm>
          <a:prstGeom prst="roundRect">
            <a:avLst>
              <a:gd name="adj" fmla="val 4444"/>
            </a:avLst>
          </a:prstGeom>
          <a:solidFill>
            <a:srgbClr val="EEF3F6"/>
          </a:solidFill>
          <a:ln w="19050">
            <a:solidFill>
              <a:srgbClr val="C62828"/>
            </a:solidFill>
            <a:prstDash val="solid"/>
          </a:ln>
        </p:spPr>
        <p:txBody>
          <a:bodyPr/>
          <a:lstStyle/>
          <a:p>
            <a:endParaRPr lang="ar-SA"/>
          </a:p>
        </p:txBody>
      </p:sp>
      <p:sp>
        <p:nvSpPr>
          <p:cNvPr id="21" name="Shape 19"/>
          <p:cNvSpPr/>
          <p:nvPr/>
        </p:nvSpPr>
        <p:spPr>
          <a:xfrm>
            <a:off x="6510528" y="2802636"/>
            <a:ext cx="219456" cy="219456"/>
          </a:xfrm>
          <a:prstGeom prst="ellipse">
            <a:avLst/>
          </a:prstGeom>
          <a:solidFill>
            <a:srgbClr val="C62828"/>
          </a:solidFill>
          <a:ln/>
        </p:spPr>
        <p:txBody>
          <a:bodyPr/>
          <a:lstStyle/>
          <a:p>
            <a:endParaRPr lang="ar-SA"/>
          </a:p>
        </p:txBody>
      </p:sp>
      <p:sp>
        <p:nvSpPr>
          <p:cNvPr id="22" name="Text 20"/>
          <p:cNvSpPr txBox="1"/>
          <p:nvPr/>
        </p:nvSpPr>
        <p:spPr>
          <a:xfrm>
            <a:off x="6510528" y="2802636"/>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23" name="Text 21"/>
          <p:cNvSpPr txBox="1"/>
          <p:nvPr/>
        </p:nvSpPr>
        <p:spPr>
          <a:xfrm>
            <a:off x="6510528" y="3113532"/>
            <a:ext cx="2286000" cy="365760"/>
          </a:xfrm>
          <a:prstGeom prst="rect">
            <a:avLst/>
          </a:prstGeom>
          <a:noFill/>
          <a:ln/>
        </p:spPr>
        <p:txBody>
          <a:bodyPr wrap="square" lIns="0" tIns="0" rIns="0" bIns="0" rtlCol="0" anchor="ctr"/>
          <a:lstStyle/>
          <a:p>
            <a:pPr marL="0" indent="0">
              <a:buNone/>
            </a:pPr>
            <a:r>
              <a:rPr lang="en-US" sz="1100" b="1" dirty="0">
                <a:solidFill>
                  <a:srgbClr val="1B2733"/>
                </a:solidFill>
                <a:latin typeface="Calibri" pitchFamily="34" charset="0"/>
                <a:ea typeface="Calibri" pitchFamily="34" charset="-122"/>
                <a:cs typeface="Calibri" pitchFamily="34" charset="-120"/>
              </a:rPr>
              <a:t>Arc generator line</a:t>
            </a:r>
            <a:endParaRPr lang="en-US" sz="1100" dirty="0"/>
          </a:p>
        </p:txBody>
      </p:sp>
      <p:sp>
        <p:nvSpPr>
          <p:cNvPr id="24" name="Text 22"/>
          <p:cNvSpPr txBox="1"/>
          <p:nvPr/>
        </p:nvSpPr>
        <p:spPr>
          <a:xfrm>
            <a:off x="6510528" y="3461004"/>
            <a:ext cx="2286000" cy="365760"/>
          </a:xfrm>
          <a:prstGeom prst="rect">
            <a:avLst/>
          </a:prstGeom>
          <a:noFill/>
          <a:ln/>
        </p:spPr>
        <p:txBody>
          <a:bodyPr wrap="square" lIns="0" tIns="0" rIns="0" bIns="0" rtlCol="0" anchor="ctr"/>
          <a:lstStyle/>
          <a:p>
            <a:pPr marL="0" indent="0">
              <a:buNone/>
            </a:pPr>
            <a:r>
              <a:rPr lang="en-US" sz="850" dirty="0">
                <a:solidFill>
                  <a:srgbClr val="5F6B76"/>
                </a:solidFill>
                <a:latin typeface="Calibri" pitchFamily="34" charset="0"/>
                <a:ea typeface="Calibri" pitchFamily="34" charset="-122"/>
                <a:cs typeface="Calibri" pitchFamily="34" charset="-120"/>
              </a:rPr>
              <a:t>series &amp; parallel arc rig,</a:t>
            </a:r>
            <a:endParaRPr lang="en-US" sz="850" dirty="0"/>
          </a:p>
          <a:p>
            <a:pPr marL="0" indent="0">
              <a:buNone/>
            </a:pPr>
            <a:r>
              <a:rPr lang="en-US" sz="850" dirty="0">
                <a:solidFill>
                  <a:srgbClr val="5F6B76"/>
                </a:solidFill>
                <a:latin typeface="Calibri" pitchFamily="34" charset="0"/>
                <a:ea typeface="Calibri" pitchFamily="34" charset="-122"/>
                <a:cs typeface="Calibri" pitchFamily="34" charset="-120"/>
              </a:rPr>
              <a:t>safety enclosure, supervised</a:t>
            </a:r>
            <a:endParaRPr lang="en-US" sz="850" dirty="0"/>
          </a:p>
        </p:txBody>
      </p:sp>
      <p:sp>
        <p:nvSpPr>
          <p:cNvPr id="25" name="Shape 23"/>
          <p:cNvSpPr/>
          <p:nvPr/>
        </p:nvSpPr>
        <p:spPr>
          <a:xfrm>
            <a:off x="8961120" y="3113532"/>
            <a:ext cx="237744" cy="274320"/>
          </a:xfrm>
          <a:prstGeom prst="chevron">
            <a:avLst/>
          </a:prstGeom>
          <a:solidFill>
            <a:srgbClr val="5F6B76"/>
          </a:solidFill>
          <a:ln/>
        </p:spPr>
        <p:txBody>
          <a:bodyPr/>
          <a:lstStyle/>
          <a:p>
            <a:endParaRPr lang="ar-SA"/>
          </a:p>
        </p:txBody>
      </p:sp>
      <p:sp>
        <p:nvSpPr>
          <p:cNvPr id="26" name="Shape 24"/>
          <p:cNvSpPr/>
          <p:nvPr/>
        </p:nvSpPr>
        <p:spPr>
          <a:xfrm>
            <a:off x="9235440" y="2619756"/>
            <a:ext cx="2606040" cy="1234440"/>
          </a:xfrm>
          <a:prstGeom prst="roundRect">
            <a:avLst>
              <a:gd name="adj" fmla="val 4444"/>
            </a:avLst>
          </a:prstGeom>
          <a:solidFill>
            <a:srgbClr val="EEF3F6"/>
          </a:solidFill>
          <a:ln w="19050">
            <a:solidFill>
              <a:srgbClr val="5F6B76"/>
            </a:solidFill>
            <a:prstDash val="solid"/>
          </a:ln>
        </p:spPr>
        <p:txBody>
          <a:bodyPr/>
          <a:lstStyle/>
          <a:p>
            <a:endParaRPr lang="ar-SA"/>
          </a:p>
        </p:txBody>
      </p:sp>
      <p:sp>
        <p:nvSpPr>
          <p:cNvPr id="27" name="Shape 25"/>
          <p:cNvSpPr/>
          <p:nvPr/>
        </p:nvSpPr>
        <p:spPr>
          <a:xfrm>
            <a:off x="9418320" y="2802636"/>
            <a:ext cx="219456" cy="219456"/>
          </a:xfrm>
          <a:prstGeom prst="ellipse">
            <a:avLst/>
          </a:prstGeom>
          <a:solidFill>
            <a:srgbClr val="5F6B76"/>
          </a:solidFill>
          <a:ln/>
        </p:spPr>
        <p:txBody>
          <a:bodyPr/>
          <a:lstStyle/>
          <a:p>
            <a:endParaRPr lang="ar-SA"/>
          </a:p>
        </p:txBody>
      </p:sp>
      <p:sp>
        <p:nvSpPr>
          <p:cNvPr id="28" name="Text 26"/>
          <p:cNvSpPr txBox="1"/>
          <p:nvPr/>
        </p:nvSpPr>
        <p:spPr>
          <a:xfrm>
            <a:off x="9418320" y="2802636"/>
            <a:ext cx="219456" cy="219456"/>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
        <p:nvSpPr>
          <p:cNvPr id="29" name="Text 27"/>
          <p:cNvSpPr txBox="1"/>
          <p:nvPr/>
        </p:nvSpPr>
        <p:spPr>
          <a:xfrm>
            <a:off x="9418320" y="3113532"/>
            <a:ext cx="2286000" cy="365760"/>
          </a:xfrm>
          <a:prstGeom prst="rect">
            <a:avLst/>
          </a:prstGeom>
          <a:noFill/>
          <a:ln/>
        </p:spPr>
        <p:txBody>
          <a:bodyPr wrap="square" lIns="0" tIns="0" rIns="0" bIns="0" rtlCol="0" anchor="ctr"/>
          <a:lstStyle/>
          <a:p>
            <a:pPr marL="0" indent="0">
              <a:buNone/>
            </a:pPr>
            <a:r>
              <a:rPr lang="en-US" sz="1100" b="1" dirty="0">
                <a:solidFill>
                  <a:srgbClr val="1B2733"/>
                </a:solidFill>
                <a:latin typeface="Calibri" pitchFamily="34" charset="0"/>
                <a:ea typeface="Calibri" pitchFamily="34" charset="-122"/>
                <a:cs typeface="Calibri" pitchFamily="34" charset="-120"/>
              </a:rPr>
              <a:t>Load bank</a:t>
            </a:r>
            <a:endParaRPr lang="en-US" sz="1100" dirty="0"/>
          </a:p>
        </p:txBody>
      </p:sp>
      <p:sp>
        <p:nvSpPr>
          <p:cNvPr id="30" name="Text 28"/>
          <p:cNvSpPr txBox="1"/>
          <p:nvPr/>
        </p:nvSpPr>
        <p:spPr>
          <a:xfrm>
            <a:off x="9418320" y="3461004"/>
            <a:ext cx="2286000" cy="365760"/>
          </a:xfrm>
          <a:prstGeom prst="rect">
            <a:avLst/>
          </a:prstGeom>
          <a:noFill/>
          <a:ln/>
        </p:spPr>
        <p:txBody>
          <a:bodyPr wrap="square" lIns="0" tIns="0" rIns="0" bIns="0" rtlCol="0" anchor="ctr"/>
          <a:lstStyle/>
          <a:p>
            <a:pPr marL="0" indent="0">
              <a:buNone/>
            </a:pPr>
            <a:r>
              <a:rPr lang="en-US" sz="850" dirty="0">
                <a:solidFill>
                  <a:srgbClr val="5F6B76"/>
                </a:solidFill>
                <a:latin typeface="Calibri" pitchFamily="34" charset="0"/>
                <a:ea typeface="Calibri" pitchFamily="34" charset="-122"/>
                <a:cs typeface="Calibri" pitchFamily="34" charset="-120"/>
              </a:rPr>
              <a:t>SMPS · motor · resistive · dimmer</a:t>
            </a:r>
            <a:endParaRPr lang="en-US" sz="850" dirty="0"/>
          </a:p>
        </p:txBody>
      </p:sp>
      <p:sp>
        <p:nvSpPr>
          <p:cNvPr id="32" name="Text 30"/>
          <p:cNvSpPr txBox="1"/>
          <p:nvPr/>
        </p:nvSpPr>
        <p:spPr>
          <a:xfrm>
            <a:off x="548640" y="4343400"/>
            <a:ext cx="11155680" cy="2011680"/>
          </a:xfrm>
          <a:prstGeom prst="rect">
            <a:avLst/>
          </a:prstGeom>
          <a:noFill/>
          <a:ln/>
        </p:spPr>
        <p:txBody>
          <a:bodyPr wrap="square" lIns="0" tIns="0" rIns="0" bIns="0" rtlCol="0" anchor="t"/>
          <a:lstStyle/>
          <a:p>
            <a:pPr marL="152400" indent="-152400" algn="just">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Localize the dataset: reproduce and extend the arc-fault dataset on Saudi 60-Hz / 230 V with local loads and ambient conditions.</a:t>
            </a:r>
            <a:endParaRPr lang="en-US" sz="1400" dirty="0"/>
          </a:p>
          <a:p>
            <a:pPr marL="152400" indent="-152400" algn="just">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Controlled arc generator: fixed-gap / carbonised-path series arc and line-to-neutral parallel arc, in a rated safety enclosure, under supervision.</a:t>
            </a:r>
            <a:endParaRPr lang="en-US" sz="1400" dirty="0"/>
          </a:p>
          <a:p>
            <a:pPr marL="152400" indent="-152400" algn="just">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Instrumentation: NB2 built-in metering + high-rate current acquisition (&gt;= 6.4 kHz) on the arc line; every event time-stamped and logged.</a:t>
            </a:r>
            <a:endParaRPr lang="en-US" sz="1400" dirty="0"/>
          </a:p>
          <a:p>
            <a:pPr marL="152400" indent="-152400" algn="just">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Integration: arc events stream into the digital twin as alarms; multi-feature and PINN detectors tested against live rig data.</a:t>
            </a:r>
            <a:endParaRPr lang="en-US" sz="1400" dirty="0"/>
          </a:p>
          <a:p>
            <a:pPr marL="152400" indent="-152400" algn="just">
              <a:spcAft>
                <a:spcPts val="600"/>
              </a:spcAft>
              <a:buSzPct val="100000"/>
              <a:buChar char="•"/>
            </a:pPr>
            <a:r>
              <a:rPr lang="en-US" sz="1400" dirty="0">
                <a:solidFill>
                  <a:srgbClr val="1B2733"/>
                </a:solidFill>
                <a:latin typeface="Calibri" pitchFamily="34" charset="0"/>
                <a:ea typeface="Calibri" pitchFamily="34" charset="-122"/>
                <a:cs typeface="Calibri" pitchFamily="34" charset="-120"/>
              </a:rPr>
              <a:t>Safety: controlled test rig only - safety enclosure, PPE, approved procedures, LV-lab compliance. No unsafe live-arc procedure is provided.</a:t>
            </a:r>
            <a:endParaRPr lang="en-US" sz="1400" dirty="0"/>
          </a:p>
        </p:txBody>
      </p:sp>
      <p:sp>
        <p:nvSpPr>
          <p:cNvPr id="33" name="Text 31"/>
          <p:cNvSpPr txBox="1"/>
          <p:nvPr/>
        </p:nvSpPr>
        <p:spPr>
          <a:xfrm>
            <a:off x="548640" y="6473952"/>
            <a:ext cx="10607040" cy="274320"/>
          </a:xfrm>
          <a:prstGeom prst="rect">
            <a:avLst/>
          </a:prstGeom>
          <a:noFill/>
          <a:ln/>
        </p:spPr>
        <p:txBody>
          <a:bodyPr wrap="square" lIns="0" tIns="0" rIns="0" bIns="0" rtlCol="0" anchor="ctr"/>
          <a:lstStyle/>
          <a:p>
            <a:pPr marL="0" indent="0">
              <a:buNone/>
            </a:pPr>
            <a:r>
              <a:rPr lang="en-US" sz="850" dirty="0">
                <a:solidFill>
                  <a:srgbClr val="5F6B76"/>
                </a:solidFill>
                <a:latin typeface="Calibri" pitchFamily="34" charset="0"/>
                <a:ea typeface="Calibri" pitchFamily="34" charset="-122"/>
                <a:cs typeface="Calibri" pitchFamily="34" charset="-120"/>
              </a:rPr>
              <a:t>Future Energy Lab · PSAU College of Engineering · Electrical Engineering</a:t>
            </a:r>
            <a:endParaRPr lang="en-US" sz="850" dirty="0"/>
          </a:p>
        </p:txBody>
      </p:sp>
      <p:sp>
        <p:nvSpPr>
          <p:cNvPr id="34" name="Text 32"/>
          <p:cNvSpPr txBox="1"/>
          <p:nvPr/>
        </p:nvSpPr>
        <p:spPr>
          <a:xfrm>
            <a:off x="11430000" y="6473952"/>
            <a:ext cx="457200" cy="274320"/>
          </a:xfrm>
          <a:prstGeom prst="rect">
            <a:avLst/>
          </a:prstGeom>
          <a:noFill/>
          <a:ln/>
        </p:spPr>
        <p:txBody>
          <a:bodyPr wrap="square" lIns="0" tIns="0" rIns="0" bIns="0" rtlCol="0" anchor="ctr"/>
          <a:lstStyle/>
          <a:p>
            <a:pPr marL="0" indent="0" algn="r">
              <a:buNone/>
            </a:pPr>
            <a:r>
              <a:rPr lang="en-US" sz="850" dirty="0">
                <a:solidFill>
                  <a:srgbClr val="5F6B76"/>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256032" cy="256032"/>
          </a:xfrm>
          <a:prstGeom prst="ellipse">
            <a:avLst/>
          </a:prstGeom>
          <a:solidFill>
            <a:srgbClr val="0097A7"/>
          </a:solidFill>
          <a:ln/>
        </p:spPr>
        <p:txBody>
          <a:bodyPr/>
          <a:lstStyle/>
          <a:p>
            <a:endParaRPr lang="ar-SA"/>
          </a:p>
        </p:txBody>
      </p:sp>
      <p:sp>
        <p:nvSpPr>
          <p:cNvPr id="3" name="Text 1"/>
          <p:cNvSpPr txBox="1"/>
          <p:nvPr/>
        </p:nvSpPr>
        <p:spPr>
          <a:xfrm>
            <a:off x="896112" y="411480"/>
            <a:ext cx="7315200" cy="320040"/>
          </a:xfrm>
          <a:prstGeom prst="rect">
            <a:avLst/>
          </a:prstGeom>
          <a:noFill/>
          <a:ln/>
        </p:spPr>
        <p:txBody>
          <a:bodyPr wrap="square" lIns="0" tIns="0" rIns="0" bIns="0" rtlCol="0" anchor="ctr"/>
          <a:lstStyle/>
          <a:p>
            <a:pPr marL="0" indent="0">
              <a:buNone/>
            </a:pPr>
            <a:r>
              <a:rPr lang="en-US" sz="1200" b="1" kern="0" spc="200" dirty="0">
                <a:solidFill>
                  <a:srgbClr val="0097A7"/>
                </a:solidFill>
                <a:latin typeface="Calibri" pitchFamily="34" charset="0"/>
                <a:ea typeface="Calibri" pitchFamily="34" charset="-122"/>
                <a:cs typeface="Calibri" pitchFamily="34" charset="-120"/>
              </a:rPr>
              <a:t>DIGITAL TWIN</a:t>
            </a:r>
            <a:endParaRPr lang="en-US" sz="1200" dirty="0"/>
          </a:p>
        </p:txBody>
      </p:sp>
      <p:sp>
        <p:nvSpPr>
          <p:cNvPr id="4" name="Text 2"/>
          <p:cNvSpPr txBox="1"/>
          <p:nvPr/>
        </p:nvSpPr>
        <p:spPr>
          <a:xfrm>
            <a:off x="548640" y="749808"/>
            <a:ext cx="8595360" cy="822960"/>
          </a:xfrm>
          <a:prstGeom prst="rect">
            <a:avLst/>
          </a:prstGeom>
          <a:noFill/>
          <a:ln/>
        </p:spPr>
        <p:txBody>
          <a:bodyPr wrap="square" lIns="0" tIns="0" rIns="0" bIns="0" rtlCol="0" anchor="ctr"/>
          <a:lstStyle/>
          <a:p>
            <a:pPr marL="0" indent="0">
              <a:buNone/>
            </a:pPr>
            <a:r>
              <a:rPr lang="en-US" sz="2900" b="1" dirty="0">
                <a:solidFill>
                  <a:srgbClr val="1B2733"/>
                </a:solidFill>
                <a:latin typeface="Cambria" pitchFamily="34" charset="0"/>
                <a:ea typeface="Cambria" pitchFamily="34" charset="-122"/>
                <a:cs typeface="Cambria" pitchFamily="34" charset="-120"/>
              </a:rPr>
              <a:t>Digital Twin — Concept and Layers</a:t>
            </a:r>
            <a:endParaRPr lang="en-US" sz="2900" dirty="0"/>
          </a:p>
        </p:txBody>
      </p:sp>
      <p:sp>
        <p:nvSpPr>
          <p:cNvPr id="7" name="Text 5"/>
          <p:cNvSpPr txBox="1"/>
          <p:nvPr/>
        </p:nvSpPr>
        <p:spPr>
          <a:xfrm>
            <a:off x="548640" y="1572768"/>
            <a:ext cx="11155680" cy="621792"/>
          </a:xfrm>
          <a:prstGeom prst="rect">
            <a:avLst/>
          </a:prstGeom>
          <a:noFill/>
          <a:ln/>
        </p:spPr>
        <p:txBody>
          <a:bodyPr wrap="square" lIns="0" tIns="0" rIns="0" bIns="0" rtlCol="0" anchor="ctr"/>
          <a:lstStyle/>
          <a:p>
            <a:pPr marL="0" indent="0">
              <a:buNone/>
            </a:pPr>
            <a:r>
              <a:rPr lang="en-US" sz="1250" i="1" dirty="0">
                <a:solidFill>
                  <a:srgbClr val="065A82"/>
                </a:solidFill>
                <a:latin typeface="Calibri" pitchFamily="34" charset="0"/>
                <a:ea typeface="Calibri" pitchFamily="34" charset="-122"/>
                <a:cs typeface="Calibri" pitchFamily="34" charset="-120"/>
              </a:rPr>
              <a:t>A digital twin is a dynamic software mirror of a physical asset, continuously synchronized with it through live IoT telemetry - not a static 3D model. It adds real-time monitoring, analytics, simulation and control on top of the physical system.</a:t>
            </a:r>
            <a:endParaRPr lang="en-US" sz="1250" dirty="0"/>
          </a:p>
        </p:txBody>
      </p:sp>
      <p:sp>
        <p:nvSpPr>
          <p:cNvPr id="8" name="Shape 6"/>
          <p:cNvSpPr/>
          <p:nvPr/>
        </p:nvSpPr>
        <p:spPr>
          <a:xfrm>
            <a:off x="640080" y="2331720"/>
            <a:ext cx="10972800" cy="621792"/>
          </a:xfrm>
          <a:prstGeom prst="roundRect">
            <a:avLst>
              <a:gd name="adj" fmla="val 7353"/>
            </a:avLst>
          </a:prstGeom>
          <a:solidFill>
            <a:srgbClr val="EEF3F6"/>
          </a:solidFill>
          <a:ln w="12700">
            <a:solidFill>
              <a:srgbClr val="C9D6DE"/>
            </a:solidFill>
            <a:prstDash val="solid"/>
          </a:ln>
        </p:spPr>
        <p:txBody>
          <a:bodyPr/>
          <a:lstStyle/>
          <a:p>
            <a:endParaRPr lang="ar-SA"/>
          </a:p>
        </p:txBody>
      </p:sp>
      <p:sp>
        <p:nvSpPr>
          <p:cNvPr id="9" name="Shape 7"/>
          <p:cNvSpPr/>
          <p:nvPr/>
        </p:nvSpPr>
        <p:spPr>
          <a:xfrm>
            <a:off x="640080" y="2331720"/>
            <a:ext cx="2377440" cy="621792"/>
          </a:xfrm>
          <a:prstGeom prst="roundRect">
            <a:avLst>
              <a:gd name="adj" fmla="val 7353"/>
            </a:avLst>
          </a:prstGeom>
          <a:solidFill>
            <a:srgbClr val="2E7D32"/>
          </a:solidFill>
          <a:ln/>
        </p:spPr>
        <p:txBody>
          <a:bodyPr/>
          <a:lstStyle/>
          <a:p>
            <a:endParaRPr lang="ar-SA"/>
          </a:p>
        </p:txBody>
      </p:sp>
      <p:sp>
        <p:nvSpPr>
          <p:cNvPr id="10" name="Text 8"/>
          <p:cNvSpPr txBox="1"/>
          <p:nvPr/>
        </p:nvSpPr>
        <p:spPr>
          <a:xfrm>
            <a:off x="640080" y="2331720"/>
            <a:ext cx="2377440" cy="62179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PHYSICAL / IoT</a:t>
            </a:r>
            <a:endParaRPr lang="en-US" sz="1050" dirty="0"/>
          </a:p>
        </p:txBody>
      </p:sp>
      <p:sp>
        <p:nvSpPr>
          <p:cNvPr id="11" name="Text 9"/>
          <p:cNvSpPr txBox="1"/>
          <p:nvPr/>
        </p:nvSpPr>
        <p:spPr>
          <a:xfrm>
            <a:off x="3200400" y="2331720"/>
            <a:ext cx="8229600" cy="621792"/>
          </a:xfrm>
          <a:prstGeom prst="rect">
            <a:avLst/>
          </a:prstGeom>
          <a:noFill/>
          <a:ln/>
        </p:spPr>
        <p:txBody>
          <a:bodyPr wrap="square" lIns="0" tIns="0" rIns="0" bIns="0" rtlCol="0" anchor="ctr"/>
          <a:lstStyle/>
          <a:p>
            <a:pPr marL="0" indent="0">
              <a:buNone/>
            </a:pPr>
            <a:r>
              <a:rPr lang="en-US" sz="1050" dirty="0">
                <a:solidFill>
                  <a:srgbClr val="1B2733"/>
                </a:solidFill>
                <a:latin typeface="Calibri" pitchFamily="34" charset="0"/>
                <a:ea typeface="Calibri" pitchFamily="34" charset="-122"/>
                <a:cs typeface="Calibri" pitchFamily="34" charset="-120"/>
              </a:rPr>
              <a:t>Physical asset  +  smart sensor / meter (V · I · P · PF)  +  automation hub</a:t>
            </a:r>
            <a:endParaRPr lang="en-US" sz="1050" dirty="0"/>
          </a:p>
        </p:txBody>
      </p:sp>
      <p:sp>
        <p:nvSpPr>
          <p:cNvPr id="12" name="Shape 10"/>
          <p:cNvSpPr/>
          <p:nvPr/>
        </p:nvSpPr>
        <p:spPr>
          <a:xfrm rot="5400000">
            <a:off x="6080760" y="2953512"/>
            <a:ext cx="384048" cy="109728"/>
          </a:xfrm>
          <a:prstGeom prst="chevron">
            <a:avLst/>
          </a:prstGeom>
          <a:solidFill>
            <a:srgbClr val="5F6B76"/>
          </a:solidFill>
          <a:ln/>
        </p:spPr>
        <p:txBody>
          <a:bodyPr/>
          <a:lstStyle/>
          <a:p>
            <a:endParaRPr lang="ar-SA"/>
          </a:p>
        </p:txBody>
      </p:sp>
      <p:sp>
        <p:nvSpPr>
          <p:cNvPr id="13" name="Shape 11"/>
          <p:cNvSpPr/>
          <p:nvPr/>
        </p:nvSpPr>
        <p:spPr>
          <a:xfrm>
            <a:off x="640080" y="3081528"/>
            <a:ext cx="10972800" cy="621792"/>
          </a:xfrm>
          <a:prstGeom prst="roundRect">
            <a:avLst>
              <a:gd name="adj" fmla="val 7353"/>
            </a:avLst>
          </a:prstGeom>
          <a:solidFill>
            <a:srgbClr val="EEF3F6"/>
          </a:solidFill>
          <a:ln w="12700">
            <a:solidFill>
              <a:srgbClr val="C9D6DE"/>
            </a:solidFill>
            <a:prstDash val="solid"/>
          </a:ln>
        </p:spPr>
        <p:txBody>
          <a:bodyPr/>
          <a:lstStyle/>
          <a:p>
            <a:endParaRPr lang="ar-SA"/>
          </a:p>
        </p:txBody>
      </p:sp>
      <p:sp>
        <p:nvSpPr>
          <p:cNvPr id="14" name="Shape 12"/>
          <p:cNvSpPr/>
          <p:nvPr/>
        </p:nvSpPr>
        <p:spPr>
          <a:xfrm>
            <a:off x="640080" y="3081528"/>
            <a:ext cx="2377440" cy="621792"/>
          </a:xfrm>
          <a:prstGeom prst="roundRect">
            <a:avLst>
              <a:gd name="adj" fmla="val 7353"/>
            </a:avLst>
          </a:prstGeom>
          <a:solidFill>
            <a:srgbClr val="0097A7"/>
          </a:solidFill>
          <a:ln/>
        </p:spPr>
        <p:txBody>
          <a:bodyPr/>
          <a:lstStyle/>
          <a:p>
            <a:endParaRPr lang="ar-SA"/>
          </a:p>
        </p:txBody>
      </p:sp>
      <p:sp>
        <p:nvSpPr>
          <p:cNvPr id="15" name="Text 13"/>
          <p:cNvSpPr txBox="1"/>
          <p:nvPr/>
        </p:nvSpPr>
        <p:spPr>
          <a:xfrm>
            <a:off x="640080" y="3081528"/>
            <a:ext cx="2377440" cy="62179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REAL-TIME CHANNEL</a:t>
            </a:r>
            <a:endParaRPr lang="en-US" sz="1050" dirty="0"/>
          </a:p>
        </p:txBody>
      </p:sp>
      <p:sp>
        <p:nvSpPr>
          <p:cNvPr id="16" name="Text 14"/>
          <p:cNvSpPr txBox="1"/>
          <p:nvPr/>
        </p:nvSpPr>
        <p:spPr>
          <a:xfrm>
            <a:off x="3200400" y="3081528"/>
            <a:ext cx="8229600" cy="621792"/>
          </a:xfrm>
          <a:prstGeom prst="rect">
            <a:avLst/>
          </a:prstGeom>
          <a:noFill/>
          <a:ln/>
        </p:spPr>
        <p:txBody>
          <a:bodyPr wrap="square" lIns="0" tIns="0" rIns="0" bIns="0" rtlCol="0" anchor="ctr"/>
          <a:lstStyle/>
          <a:p>
            <a:pPr marL="0" indent="0">
              <a:buNone/>
            </a:pPr>
            <a:r>
              <a:rPr lang="en-US" sz="1050" dirty="0">
                <a:solidFill>
                  <a:srgbClr val="1B2733"/>
                </a:solidFill>
                <a:latin typeface="Calibri" pitchFamily="34" charset="0"/>
                <a:ea typeface="Calibri" pitchFamily="34" charset="-122"/>
                <a:cs typeface="Calibri" pitchFamily="34" charset="-120"/>
              </a:rPr>
              <a:t>MQTT brokers - primary + failover - sub-second telemetry up, commands down</a:t>
            </a:r>
            <a:endParaRPr lang="en-US" sz="1050" dirty="0"/>
          </a:p>
        </p:txBody>
      </p:sp>
      <p:sp>
        <p:nvSpPr>
          <p:cNvPr id="17" name="Shape 15"/>
          <p:cNvSpPr/>
          <p:nvPr/>
        </p:nvSpPr>
        <p:spPr>
          <a:xfrm rot="5400000">
            <a:off x="6080760" y="3703320"/>
            <a:ext cx="384048" cy="109728"/>
          </a:xfrm>
          <a:prstGeom prst="chevron">
            <a:avLst/>
          </a:prstGeom>
          <a:solidFill>
            <a:srgbClr val="5F6B76"/>
          </a:solidFill>
          <a:ln/>
        </p:spPr>
        <p:txBody>
          <a:bodyPr/>
          <a:lstStyle/>
          <a:p>
            <a:endParaRPr lang="ar-SA"/>
          </a:p>
        </p:txBody>
      </p:sp>
      <p:sp>
        <p:nvSpPr>
          <p:cNvPr id="18" name="Shape 16"/>
          <p:cNvSpPr/>
          <p:nvPr/>
        </p:nvSpPr>
        <p:spPr>
          <a:xfrm>
            <a:off x="640080" y="3831336"/>
            <a:ext cx="10972800" cy="621792"/>
          </a:xfrm>
          <a:prstGeom prst="roundRect">
            <a:avLst>
              <a:gd name="adj" fmla="val 7353"/>
            </a:avLst>
          </a:prstGeom>
          <a:solidFill>
            <a:srgbClr val="EEF3F6"/>
          </a:solidFill>
          <a:ln w="12700">
            <a:solidFill>
              <a:srgbClr val="C9D6DE"/>
            </a:solidFill>
            <a:prstDash val="solid"/>
          </a:ln>
        </p:spPr>
        <p:txBody>
          <a:bodyPr/>
          <a:lstStyle/>
          <a:p>
            <a:endParaRPr lang="ar-SA"/>
          </a:p>
        </p:txBody>
      </p:sp>
      <p:sp>
        <p:nvSpPr>
          <p:cNvPr id="19" name="Shape 17"/>
          <p:cNvSpPr/>
          <p:nvPr/>
        </p:nvSpPr>
        <p:spPr>
          <a:xfrm>
            <a:off x="640080" y="3831336"/>
            <a:ext cx="2377440" cy="621792"/>
          </a:xfrm>
          <a:prstGeom prst="roundRect">
            <a:avLst>
              <a:gd name="adj" fmla="val 7353"/>
            </a:avLst>
          </a:prstGeom>
          <a:solidFill>
            <a:srgbClr val="1F3A5F"/>
          </a:solidFill>
          <a:ln/>
        </p:spPr>
        <p:txBody>
          <a:bodyPr/>
          <a:lstStyle/>
          <a:p>
            <a:endParaRPr lang="ar-SA"/>
          </a:p>
        </p:txBody>
      </p:sp>
      <p:sp>
        <p:nvSpPr>
          <p:cNvPr id="20" name="Text 18"/>
          <p:cNvSpPr txBox="1"/>
          <p:nvPr/>
        </p:nvSpPr>
        <p:spPr>
          <a:xfrm>
            <a:off x="640080" y="3831336"/>
            <a:ext cx="2377440" cy="62179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EDGE / CLOUD</a:t>
            </a:r>
            <a:endParaRPr lang="en-US" sz="1050" dirty="0"/>
          </a:p>
        </p:txBody>
      </p:sp>
      <p:sp>
        <p:nvSpPr>
          <p:cNvPr id="21" name="Text 19"/>
          <p:cNvSpPr txBox="1"/>
          <p:nvPr/>
        </p:nvSpPr>
        <p:spPr>
          <a:xfrm>
            <a:off x="3200400" y="3831336"/>
            <a:ext cx="8229600" cy="621792"/>
          </a:xfrm>
          <a:prstGeom prst="rect">
            <a:avLst/>
          </a:prstGeom>
          <a:noFill/>
          <a:ln/>
        </p:spPr>
        <p:txBody>
          <a:bodyPr wrap="square" lIns="0" tIns="0" rIns="0" bIns="0" rtlCol="0" anchor="ctr"/>
          <a:lstStyle/>
          <a:p>
            <a:pPr marL="0" indent="0">
              <a:buNone/>
            </a:pPr>
            <a:r>
              <a:rPr lang="en-US" sz="1050" dirty="0">
                <a:solidFill>
                  <a:srgbClr val="1B2733"/>
                </a:solidFill>
                <a:latin typeface="Calibri" pitchFamily="34" charset="0"/>
                <a:ea typeface="Calibri" pitchFamily="34" charset="-122"/>
                <a:cs typeface="Calibri" pitchFamily="34" charset="-120"/>
              </a:rPr>
              <a:t>Serverless functions: broker config · control proxy · history · analytics</a:t>
            </a:r>
            <a:endParaRPr lang="en-US" sz="1050" dirty="0"/>
          </a:p>
        </p:txBody>
      </p:sp>
      <p:sp>
        <p:nvSpPr>
          <p:cNvPr id="22" name="Shape 20"/>
          <p:cNvSpPr/>
          <p:nvPr/>
        </p:nvSpPr>
        <p:spPr>
          <a:xfrm rot="5400000">
            <a:off x="6080760" y="4453128"/>
            <a:ext cx="384048" cy="109728"/>
          </a:xfrm>
          <a:prstGeom prst="chevron">
            <a:avLst/>
          </a:prstGeom>
          <a:solidFill>
            <a:srgbClr val="5F6B76"/>
          </a:solidFill>
          <a:ln/>
        </p:spPr>
        <p:txBody>
          <a:bodyPr/>
          <a:lstStyle/>
          <a:p>
            <a:endParaRPr lang="ar-SA"/>
          </a:p>
        </p:txBody>
      </p:sp>
      <p:sp>
        <p:nvSpPr>
          <p:cNvPr id="23" name="Shape 21"/>
          <p:cNvSpPr/>
          <p:nvPr/>
        </p:nvSpPr>
        <p:spPr>
          <a:xfrm>
            <a:off x="640080" y="4581144"/>
            <a:ext cx="10972800" cy="621792"/>
          </a:xfrm>
          <a:prstGeom prst="roundRect">
            <a:avLst>
              <a:gd name="adj" fmla="val 7353"/>
            </a:avLst>
          </a:prstGeom>
          <a:solidFill>
            <a:srgbClr val="EEF3F6"/>
          </a:solidFill>
          <a:ln w="12700">
            <a:solidFill>
              <a:srgbClr val="C9D6DE"/>
            </a:solidFill>
            <a:prstDash val="solid"/>
          </a:ln>
        </p:spPr>
        <p:txBody>
          <a:bodyPr/>
          <a:lstStyle/>
          <a:p>
            <a:endParaRPr lang="ar-SA"/>
          </a:p>
        </p:txBody>
      </p:sp>
      <p:sp>
        <p:nvSpPr>
          <p:cNvPr id="24" name="Shape 22"/>
          <p:cNvSpPr/>
          <p:nvPr/>
        </p:nvSpPr>
        <p:spPr>
          <a:xfrm>
            <a:off x="640080" y="4581144"/>
            <a:ext cx="2377440" cy="621792"/>
          </a:xfrm>
          <a:prstGeom prst="roundRect">
            <a:avLst>
              <a:gd name="adj" fmla="val 7353"/>
            </a:avLst>
          </a:prstGeom>
          <a:solidFill>
            <a:srgbClr val="1C7293"/>
          </a:solidFill>
          <a:ln/>
        </p:spPr>
        <p:txBody>
          <a:bodyPr/>
          <a:lstStyle/>
          <a:p>
            <a:endParaRPr lang="ar-SA"/>
          </a:p>
        </p:txBody>
      </p:sp>
      <p:sp>
        <p:nvSpPr>
          <p:cNvPr id="25" name="Text 23"/>
          <p:cNvSpPr txBox="1"/>
          <p:nvPr/>
        </p:nvSpPr>
        <p:spPr>
          <a:xfrm>
            <a:off x="640080" y="4581144"/>
            <a:ext cx="2377440" cy="621792"/>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TWIN / PRESENTATION</a:t>
            </a:r>
            <a:endParaRPr lang="en-US" sz="1050" dirty="0"/>
          </a:p>
        </p:txBody>
      </p:sp>
      <p:sp>
        <p:nvSpPr>
          <p:cNvPr id="26" name="Text 24"/>
          <p:cNvSpPr txBox="1"/>
          <p:nvPr/>
        </p:nvSpPr>
        <p:spPr>
          <a:xfrm>
            <a:off x="3200400" y="4581144"/>
            <a:ext cx="8229600" cy="621792"/>
          </a:xfrm>
          <a:prstGeom prst="rect">
            <a:avLst/>
          </a:prstGeom>
          <a:noFill/>
          <a:ln/>
        </p:spPr>
        <p:txBody>
          <a:bodyPr wrap="square" lIns="0" tIns="0" rIns="0" bIns="0" rtlCol="0" anchor="ctr"/>
          <a:lstStyle/>
          <a:p>
            <a:pPr marL="0" indent="0">
              <a:buNone/>
            </a:pPr>
            <a:r>
              <a:rPr lang="en-US" sz="1050" dirty="0">
                <a:solidFill>
                  <a:srgbClr val="1B2733"/>
                </a:solidFill>
                <a:latin typeface="Calibri" pitchFamily="34" charset="0"/>
                <a:ea typeface="Calibri" pitchFamily="34" charset="-122"/>
                <a:cs typeface="Calibri" pitchFamily="34" charset="-120"/>
              </a:rPr>
              <a:t>Live KPIs &amp; charts · 3D model · SCADA alarms · physics simulation · remote control</a:t>
            </a:r>
            <a:endParaRPr lang="en-US" sz="1050" dirty="0"/>
          </a:p>
        </p:txBody>
      </p:sp>
      <p:sp>
        <p:nvSpPr>
          <p:cNvPr id="27" name="Text 25"/>
          <p:cNvSpPr txBox="1"/>
          <p:nvPr/>
        </p:nvSpPr>
        <p:spPr>
          <a:xfrm>
            <a:off x="675979" y="5267621"/>
            <a:ext cx="10972800" cy="320040"/>
          </a:xfrm>
          <a:prstGeom prst="rect">
            <a:avLst/>
          </a:prstGeom>
          <a:noFill/>
          <a:ln/>
        </p:spPr>
        <p:txBody>
          <a:bodyPr wrap="square" lIns="0" tIns="0" rIns="0" bIns="0" rtlCol="0" anchor="ctr"/>
          <a:lstStyle/>
          <a:p>
            <a:pPr marL="0" indent="0">
              <a:buNone/>
            </a:pPr>
            <a:r>
              <a:rPr lang="en-US" sz="1050" b="1" i="1" dirty="0">
                <a:solidFill>
                  <a:srgbClr val="065A82"/>
                </a:solidFill>
                <a:latin typeface="Calibri" pitchFamily="34" charset="0"/>
                <a:ea typeface="Calibri" pitchFamily="34" charset="-122"/>
                <a:cs typeface="Calibri" pitchFamily="34" charset="-120"/>
              </a:rPr>
              <a:t>Decision loop:  physical state  -&gt;  digital twin  -&gt;  analytics / alarm  -&gt;  operator decision or remote command  -&gt;  physical actuator</a:t>
            </a:r>
            <a:endParaRPr lang="en-US" sz="1050" dirty="0"/>
          </a:p>
        </p:txBody>
      </p:sp>
      <p:sp>
        <p:nvSpPr>
          <p:cNvPr id="28" name="Text 26"/>
          <p:cNvSpPr txBox="1"/>
          <p:nvPr/>
        </p:nvSpPr>
        <p:spPr>
          <a:xfrm>
            <a:off x="894757" y="5587661"/>
            <a:ext cx="10972800" cy="822960"/>
          </a:xfrm>
          <a:prstGeom prst="rect">
            <a:avLst/>
          </a:prstGeom>
          <a:noFill/>
          <a:ln/>
        </p:spPr>
        <p:txBody>
          <a:bodyPr wrap="square" lIns="0" tIns="0" rIns="0" bIns="0" rtlCol="0" anchor="t"/>
          <a:lstStyle/>
          <a:p>
            <a:pPr marL="152400" indent="-152400">
              <a:spcAft>
                <a:spcPts val="600"/>
              </a:spcAft>
              <a:buSzPct val="100000"/>
              <a:buChar char="•"/>
            </a:pPr>
            <a:r>
              <a:rPr lang="en-US" sz="950" dirty="0">
                <a:solidFill>
                  <a:srgbClr val="1B2733"/>
                </a:solidFill>
                <a:latin typeface="Calibri" pitchFamily="34" charset="0"/>
                <a:ea typeface="Calibri" pitchFamily="34" charset="-122"/>
                <a:cs typeface="Calibri" pitchFamily="34" charset="-120"/>
              </a:rPr>
              <a:t>Continuous synchronization (telemetry in, commands out) - a live mirror, not a one-off model.</a:t>
            </a:r>
            <a:endParaRPr lang="en-US" sz="950" dirty="0"/>
          </a:p>
          <a:p>
            <a:pPr marL="152400" indent="-152400">
              <a:spcAft>
                <a:spcPts val="600"/>
              </a:spcAft>
              <a:buSzPct val="100000"/>
              <a:buChar char="•"/>
            </a:pPr>
            <a:r>
              <a:rPr lang="en-US" sz="950" dirty="0">
                <a:solidFill>
                  <a:srgbClr val="1B2733"/>
                </a:solidFill>
                <a:latin typeface="Calibri" pitchFamily="34" charset="0"/>
                <a:ea typeface="Calibri" pitchFamily="34" charset="-122"/>
                <a:cs typeface="Calibri" pitchFamily="34" charset="-120"/>
              </a:rPr>
              <a:t>Analytics on history: energy, efficiency, cost, and trends over any date range.</a:t>
            </a:r>
            <a:endParaRPr lang="en-US" sz="950" dirty="0"/>
          </a:p>
          <a:p>
            <a:pPr marL="152400" indent="-152400">
              <a:spcAft>
                <a:spcPts val="600"/>
              </a:spcAft>
              <a:buSzPct val="100000"/>
              <a:buChar char="•"/>
            </a:pPr>
            <a:r>
              <a:rPr lang="en-US" sz="950" dirty="0">
                <a:solidFill>
                  <a:srgbClr val="1B2733"/>
                </a:solidFill>
                <a:latin typeface="Calibri" pitchFamily="34" charset="0"/>
                <a:ea typeface="Calibri" pitchFamily="34" charset="-122"/>
                <a:cs typeface="Calibri" pitchFamily="34" charset="-120"/>
              </a:rPr>
              <a:t>Physics simulation and what-if scenarios run against the twin, never the real asset.</a:t>
            </a:r>
            <a:endParaRPr lang="en-US" sz="950" dirty="0"/>
          </a:p>
          <a:p>
            <a:pPr marL="152400" indent="-152400">
              <a:spcAft>
                <a:spcPts val="600"/>
              </a:spcAft>
              <a:buSzPct val="100000"/>
              <a:buChar char="•"/>
            </a:pPr>
            <a:r>
              <a:rPr lang="en-US" sz="950" dirty="0">
                <a:solidFill>
                  <a:srgbClr val="1B2733"/>
                </a:solidFill>
                <a:latin typeface="Calibri" pitchFamily="34" charset="0"/>
                <a:ea typeface="Calibri" pitchFamily="34" charset="-122"/>
                <a:cs typeface="Calibri" pitchFamily="34" charset="-120"/>
              </a:rPr>
              <a:t>Fault / alarm management with an acknowledge-and-clear workflow.</a:t>
            </a:r>
            <a:endParaRPr lang="en-US" sz="950" dirty="0"/>
          </a:p>
        </p:txBody>
      </p:sp>
      <p:sp>
        <p:nvSpPr>
          <p:cNvPr id="29" name="Text 27"/>
          <p:cNvSpPr txBox="1"/>
          <p:nvPr/>
        </p:nvSpPr>
        <p:spPr>
          <a:xfrm>
            <a:off x="548640" y="6473952"/>
            <a:ext cx="10698480" cy="274320"/>
          </a:xfrm>
          <a:prstGeom prst="rect">
            <a:avLst/>
          </a:prstGeom>
          <a:noFill/>
          <a:ln/>
        </p:spPr>
        <p:txBody>
          <a:bodyPr wrap="square" lIns="0" tIns="0" rIns="0" bIns="0" rtlCol="0" anchor="ctr"/>
          <a:lstStyle/>
          <a:p>
            <a:pPr marL="0" indent="0">
              <a:buNone/>
            </a:pPr>
            <a:r>
              <a:rPr lang="en-US" sz="850" dirty="0">
                <a:solidFill>
                  <a:srgbClr val="5F6B76"/>
                </a:solidFill>
                <a:latin typeface="Calibri" pitchFamily="34" charset="0"/>
                <a:ea typeface="Calibri" pitchFamily="34" charset="-122"/>
                <a:cs typeface="Calibri" pitchFamily="34" charset="-120"/>
              </a:rPr>
              <a:t>Future Energy Lab · PSAU College of Engineering · Electrical Engineering</a:t>
            </a:r>
            <a:endParaRPr lang="en-US" sz="850" dirty="0"/>
          </a:p>
        </p:txBody>
      </p:sp>
      <p:sp>
        <p:nvSpPr>
          <p:cNvPr id="30" name="Text 28"/>
          <p:cNvSpPr txBox="1"/>
          <p:nvPr/>
        </p:nvSpPr>
        <p:spPr>
          <a:xfrm>
            <a:off x="11430000" y="6473952"/>
            <a:ext cx="457200" cy="274320"/>
          </a:xfrm>
          <a:prstGeom prst="rect">
            <a:avLst/>
          </a:prstGeom>
          <a:noFill/>
          <a:ln/>
        </p:spPr>
        <p:txBody>
          <a:bodyPr wrap="square" lIns="0" tIns="0" rIns="0" bIns="0" rtlCol="0" anchor="ctr"/>
          <a:lstStyle/>
          <a:p>
            <a:pPr marL="0" indent="0" algn="r">
              <a:buNone/>
            </a:pPr>
            <a:r>
              <a:rPr lang="en-US" sz="850" dirty="0">
                <a:solidFill>
                  <a:srgbClr val="5F6B76"/>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57200"/>
            <a:ext cx="256032" cy="256032"/>
          </a:xfrm>
          <a:prstGeom prst="ellipse">
            <a:avLst/>
          </a:prstGeom>
          <a:solidFill>
            <a:srgbClr val="0097A7"/>
          </a:solidFill>
          <a:ln/>
        </p:spPr>
        <p:txBody>
          <a:bodyPr/>
          <a:lstStyle/>
          <a:p>
            <a:endParaRPr lang="ar-SA"/>
          </a:p>
        </p:txBody>
      </p:sp>
      <p:sp>
        <p:nvSpPr>
          <p:cNvPr id="3" name="Text 1"/>
          <p:cNvSpPr txBox="1"/>
          <p:nvPr/>
        </p:nvSpPr>
        <p:spPr>
          <a:xfrm>
            <a:off x="896112" y="411480"/>
            <a:ext cx="7315200" cy="320040"/>
          </a:xfrm>
          <a:prstGeom prst="rect">
            <a:avLst/>
          </a:prstGeom>
          <a:noFill/>
          <a:ln/>
        </p:spPr>
        <p:txBody>
          <a:bodyPr wrap="square" lIns="0" tIns="0" rIns="0" bIns="0" rtlCol="0" anchor="ctr"/>
          <a:lstStyle/>
          <a:p>
            <a:pPr marL="0" indent="0">
              <a:buNone/>
            </a:pPr>
            <a:r>
              <a:rPr lang="en-US" sz="1200" b="1" kern="0" spc="200" dirty="0">
                <a:solidFill>
                  <a:srgbClr val="0097A7"/>
                </a:solidFill>
                <a:latin typeface="Calibri" pitchFamily="34" charset="0"/>
                <a:ea typeface="Calibri" pitchFamily="34" charset="-122"/>
                <a:cs typeface="Calibri" pitchFamily="34" charset="-120"/>
              </a:rPr>
              <a:t>DIGITAL TWIN</a:t>
            </a:r>
            <a:endParaRPr lang="en-US" sz="1200" dirty="0"/>
          </a:p>
        </p:txBody>
      </p:sp>
      <p:sp>
        <p:nvSpPr>
          <p:cNvPr id="4" name="Text 2"/>
          <p:cNvSpPr txBox="1"/>
          <p:nvPr/>
        </p:nvSpPr>
        <p:spPr>
          <a:xfrm>
            <a:off x="548640" y="749808"/>
            <a:ext cx="8595360" cy="822960"/>
          </a:xfrm>
          <a:prstGeom prst="rect">
            <a:avLst/>
          </a:prstGeom>
          <a:noFill/>
          <a:ln/>
        </p:spPr>
        <p:txBody>
          <a:bodyPr wrap="square" lIns="0" tIns="0" rIns="0" bIns="0" rtlCol="0" anchor="ctr"/>
          <a:lstStyle/>
          <a:p>
            <a:pPr marL="0" indent="0">
              <a:buNone/>
            </a:pPr>
            <a:r>
              <a:rPr lang="en-US" sz="2900" b="1" dirty="0">
                <a:solidFill>
                  <a:srgbClr val="1B2733"/>
                </a:solidFill>
                <a:latin typeface="Cambria" pitchFamily="34" charset="0"/>
                <a:ea typeface="Cambria" pitchFamily="34" charset="-122"/>
                <a:cs typeface="Cambria" pitchFamily="34" charset="-120"/>
              </a:rPr>
              <a:t>Case Study: LAMPS_PANEL Pilot</a:t>
            </a:r>
            <a:endParaRPr lang="en-US" sz="2900" dirty="0"/>
          </a:p>
        </p:txBody>
      </p:sp>
      <p:sp>
        <p:nvSpPr>
          <p:cNvPr id="5" name="Shape 3"/>
          <p:cNvSpPr/>
          <p:nvPr/>
        </p:nvSpPr>
        <p:spPr>
          <a:xfrm>
            <a:off x="9144000" y="457200"/>
            <a:ext cx="2468880" cy="329184"/>
          </a:xfrm>
          <a:prstGeom prst="roundRect">
            <a:avLst>
              <a:gd name="adj" fmla="val 50000"/>
            </a:avLst>
          </a:prstGeom>
          <a:solidFill>
            <a:srgbClr val="2E7D32"/>
          </a:solidFill>
          <a:ln/>
        </p:spPr>
        <p:txBody>
          <a:bodyPr/>
          <a:lstStyle/>
          <a:p>
            <a:endParaRPr lang="ar-SA"/>
          </a:p>
        </p:txBody>
      </p:sp>
      <p:sp>
        <p:nvSpPr>
          <p:cNvPr id="6" name="Text 4"/>
          <p:cNvSpPr txBox="1"/>
          <p:nvPr/>
        </p:nvSpPr>
        <p:spPr>
          <a:xfrm>
            <a:off x="9144000" y="457200"/>
            <a:ext cx="2468880" cy="329184"/>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Running · live demo</a:t>
            </a:r>
            <a:endParaRPr lang="en-US" sz="950" dirty="0"/>
          </a:p>
        </p:txBody>
      </p:sp>
      <p:sp>
        <p:nvSpPr>
          <p:cNvPr id="7" name="Text 5"/>
          <p:cNvSpPr txBox="1"/>
          <p:nvPr/>
        </p:nvSpPr>
        <p:spPr>
          <a:xfrm>
            <a:off x="548640" y="1572768"/>
            <a:ext cx="11155680" cy="621792"/>
          </a:xfrm>
          <a:prstGeom prst="rect">
            <a:avLst/>
          </a:prstGeom>
          <a:noFill/>
          <a:ln/>
        </p:spPr>
        <p:txBody>
          <a:bodyPr wrap="square" lIns="0" tIns="0" rIns="0" bIns="0" rtlCol="0" anchor="ctr"/>
          <a:lstStyle/>
          <a:p>
            <a:pPr marL="0" indent="0">
              <a:buNone/>
            </a:pPr>
            <a:r>
              <a:rPr lang="en-US" sz="1250" i="1" dirty="0">
                <a:solidFill>
                  <a:srgbClr val="065A82"/>
                </a:solidFill>
                <a:latin typeface="Calibri" pitchFamily="34" charset="0"/>
                <a:ea typeface="Calibri" pitchFamily="34" charset="-122"/>
                <a:cs typeface="Calibri" pitchFamily="34" charset="-120"/>
              </a:rPr>
              <a:t>The Future Energy Lab pilot: a digital twin of a 40-lamp LV lighting distribution panel behind a CHINT NB2 smart breaker - live metering, 3D visualization, SCADA alarms, historical analytics and remote control.</a:t>
            </a:r>
            <a:endParaRPr lang="en-US" sz="1250" dirty="0"/>
          </a:p>
        </p:txBody>
      </p:sp>
      <p:sp>
        <p:nvSpPr>
          <p:cNvPr id="8" name="Shape 6"/>
          <p:cNvSpPr/>
          <p:nvPr/>
        </p:nvSpPr>
        <p:spPr>
          <a:xfrm>
            <a:off x="548640" y="2240280"/>
            <a:ext cx="11109960" cy="868680"/>
          </a:xfrm>
          <a:prstGeom prst="roundRect">
            <a:avLst>
              <a:gd name="adj" fmla="val 6316"/>
            </a:avLst>
          </a:prstGeom>
          <a:solidFill>
            <a:srgbClr val="E4F3F5"/>
          </a:solidFill>
          <a:ln w="19050">
            <a:solidFill>
              <a:srgbClr val="0097A7"/>
            </a:solidFill>
            <a:prstDash val="solid"/>
          </a:ln>
        </p:spPr>
        <p:txBody>
          <a:bodyPr/>
          <a:lstStyle/>
          <a:p>
            <a:endParaRPr lang="ar-SA"/>
          </a:p>
        </p:txBody>
      </p:sp>
      <p:sp>
        <p:nvSpPr>
          <p:cNvPr id="9" name="Text 7"/>
          <p:cNvSpPr txBox="1"/>
          <p:nvPr/>
        </p:nvSpPr>
        <p:spPr>
          <a:xfrm>
            <a:off x="777240" y="2240280"/>
            <a:ext cx="10698480" cy="868680"/>
          </a:xfrm>
          <a:prstGeom prst="rect">
            <a:avLst/>
          </a:prstGeom>
          <a:noFill/>
          <a:ln/>
        </p:spPr>
        <p:txBody>
          <a:bodyPr wrap="square" lIns="0" tIns="0" rIns="0" bIns="0" rtlCol="0" anchor="ctr"/>
          <a:lstStyle/>
          <a:p>
            <a:pPr marL="0" indent="0">
              <a:buNone/>
            </a:pPr>
            <a:r>
              <a:rPr lang="en-US" sz="1300" b="1" dirty="0">
                <a:solidFill>
                  <a:srgbClr val="0097A7"/>
                </a:solidFill>
                <a:latin typeface="Calibri" pitchFamily="34" charset="0"/>
                <a:ea typeface="Calibri" pitchFamily="34" charset="-122"/>
                <a:cs typeface="Calibri" pitchFamily="34" charset="-120"/>
              </a:rPr>
              <a:t>LIVE DEMO : https://digital-twin-lamps-panel.pages.dev/</a:t>
            </a:r>
            <a:endParaRPr lang="en-US" sz="1300" dirty="0"/>
          </a:p>
        </p:txBody>
      </p:sp>
      <p:sp>
        <p:nvSpPr>
          <p:cNvPr id="10" name="Shape 8"/>
          <p:cNvSpPr/>
          <p:nvPr/>
        </p:nvSpPr>
        <p:spPr>
          <a:xfrm>
            <a:off x="548640" y="3310128"/>
            <a:ext cx="5212080" cy="2788920"/>
          </a:xfrm>
          <a:prstGeom prst="roundRect">
            <a:avLst>
              <a:gd name="adj" fmla="val 1639"/>
            </a:avLst>
          </a:prstGeom>
          <a:solidFill>
            <a:srgbClr val="EEF3F6"/>
          </a:solidFill>
          <a:ln w="12700">
            <a:solidFill>
              <a:srgbClr val="C9D6DE"/>
            </a:solidFill>
            <a:prstDash val="solid"/>
          </a:ln>
        </p:spPr>
        <p:txBody>
          <a:bodyPr/>
          <a:lstStyle/>
          <a:p>
            <a:endParaRPr lang="ar-SA"/>
          </a:p>
        </p:txBody>
      </p:sp>
      <p:sp>
        <p:nvSpPr>
          <p:cNvPr id="11" name="Text 9"/>
          <p:cNvSpPr txBox="1"/>
          <p:nvPr/>
        </p:nvSpPr>
        <p:spPr>
          <a:xfrm>
            <a:off x="731520" y="3401568"/>
            <a:ext cx="4846320" cy="274320"/>
          </a:xfrm>
          <a:prstGeom prst="rect">
            <a:avLst/>
          </a:prstGeom>
          <a:noFill/>
          <a:ln/>
        </p:spPr>
        <p:txBody>
          <a:bodyPr wrap="square" lIns="0" tIns="0" rIns="0" bIns="0" rtlCol="0" anchor="ctr"/>
          <a:lstStyle/>
          <a:p>
            <a:pPr marL="0" indent="0">
              <a:buNone/>
            </a:pPr>
            <a:r>
              <a:rPr lang="en-US" sz="1100" b="1" dirty="0">
                <a:solidFill>
                  <a:srgbClr val="0097A7"/>
                </a:solidFill>
                <a:latin typeface="Calibri" pitchFamily="34" charset="0"/>
                <a:ea typeface="Calibri" pitchFamily="34" charset="-122"/>
                <a:cs typeface="Calibri" pitchFamily="34" charset="-120"/>
              </a:rPr>
              <a:t>PHYSICAL  &lt;-&gt;  DIGITAL TWIN</a:t>
            </a:r>
            <a:endParaRPr lang="en-US" sz="1100" dirty="0"/>
          </a:p>
        </p:txBody>
      </p:sp>
      <p:sp>
        <p:nvSpPr>
          <p:cNvPr id="12" name="Text 10"/>
          <p:cNvSpPr txBox="1"/>
          <p:nvPr/>
        </p:nvSpPr>
        <p:spPr>
          <a:xfrm>
            <a:off x="731520" y="3712464"/>
            <a:ext cx="4846320" cy="2286000"/>
          </a:xfrm>
          <a:prstGeom prst="rect">
            <a:avLst/>
          </a:prstGeom>
          <a:noFill/>
          <a:ln/>
        </p:spPr>
        <p:txBody>
          <a:bodyPr wrap="square" lIns="0" tIns="0" rIns="0" bIns="0" rtlCol="0" anchor="t"/>
          <a:lstStyle/>
          <a:p>
            <a:pPr marL="152400" indent="-152400">
              <a:spcAft>
                <a:spcPts val="600"/>
              </a:spcAft>
              <a:buSzPct val="100000"/>
              <a:buChar char="•"/>
            </a:pPr>
            <a:r>
              <a:rPr lang="en-US" sz="950" dirty="0">
                <a:solidFill>
                  <a:srgbClr val="1B2733"/>
                </a:solidFill>
                <a:latin typeface="Calibri" pitchFamily="34" charset="0"/>
                <a:ea typeface="Calibri" pitchFamily="34" charset="-122"/>
                <a:cs typeface="Calibri" pitchFamily="34" charset="-120"/>
              </a:rPr>
              <a:t>Physical: 40 x Philips 11 W E27 4000K LED (8 x 5) · CHINT NB2 smart breaker (V·I·P·PF, WiFi) · Home Assistant hub.</a:t>
            </a:r>
            <a:endParaRPr lang="en-US" sz="950" dirty="0"/>
          </a:p>
          <a:p>
            <a:pPr marL="152400" indent="-152400">
              <a:spcAft>
                <a:spcPts val="600"/>
              </a:spcAft>
              <a:buSzPct val="100000"/>
              <a:buChar char="•"/>
            </a:pPr>
            <a:r>
              <a:rPr lang="en-US" sz="950" dirty="0">
                <a:solidFill>
                  <a:srgbClr val="1B2733"/>
                </a:solidFill>
                <a:latin typeface="Calibri" pitchFamily="34" charset="0"/>
                <a:ea typeface="Calibri" pitchFamily="34" charset="-122"/>
                <a:cs typeface="Calibri" pitchFamily="34" charset="-120"/>
              </a:rPr>
              <a:t>Measured operating point: 402 W · 229.7 V · 2.93 A · PF 0.60 · 1,200 lm at 109 lm/W · L70 12,000 h.</a:t>
            </a:r>
            <a:endParaRPr lang="en-US" sz="950" dirty="0"/>
          </a:p>
          <a:p>
            <a:pPr marL="152400" indent="-152400">
              <a:spcAft>
                <a:spcPts val="600"/>
              </a:spcAft>
              <a:buSzPct val="100000"/>
              <a:buChar char="•"/>
            </a:pPr>
            <a:r>
              <a:rPr lang="en-US" sz="950" dirty="0">
                <a:solidFill>
                  <a:srgbClr val="1B2733"/>
                </a:solidFill>
                <a:latin typeface="Calibri" pitchFamily="34" charset="0"/>
                <a:ea typeface="Calibri" pitchFamily="34" charset="-122"/>
                <a:cs typeface="Calibri" pitchFamily="34" charset="-120"/>
              </a:rPr>
              <a:t>Link: NB2 -&gt; MQTT (HiveMQ + EMQX) -&gt; Cloudflare Pages Functions -&gt; browser, ~1 s telemetry.</a:t>
            </a:r>
            <a:endParaRPr lang="en-US" sz="950" dirty="0"/>
          </a:p>
        </p:txBody>
      </p:sp>
      <p:sp>
        <p:nvSpPr>
          <p:cNvPr id="13" name="Shape 11"/>
          <p:cNvSpPr/>
          <p:nvPr/>
        </p:nvSpPr>
        <p:spPr>
          <a:xfrm>
            <a:off x="5943600" y="3310128"/>
            <a:ext cx="5715000" cy="2788920"/>
          </a:xfrm>
          <a:prstGeom prst="roundRect">
            <a:avLst>
              <a:gd name="adj" fmla="val 1639"/>
            </a:avLst>
          </a:prstGeom>
          <a:solidFill>
            <a:srgbClr val="EEF3F6"/>
          </a:solidFill>
          <a:ln w="12700">
            <a:solidFill>
              <a:srgbClr val="C9D6DE"/>
            </a:solidFill>
            <a:prstDash val="solid"/>
          </a:ln>
        </p:spPr>
        <p:txBody>
          <a:bodyPr/>
          <a:lstStyle/>
          <a:p>
            <a:endParaRPr lang="ar-SA"/>
          </a:p>
        </p:txBody>
      </p:sp>
      <p:sp>
        <p:nvSpPr>
          <p:cNvPr id="14" name="Text 12"/>
          <p:cNvSpPr txBox="1"/>
          <p:nvPr/>
        </p:nvSpPr>
        <p:spPr>
          <a:xfrm>
            <a:off x="6126480" y="3401568"/>
            <a:ext cx="5303520" cy="274320"/>
          </a:xfrm>
          <a:prstGeom prst="rect">
            <a:avLst/>
          </a:prstGeom>
          <a:noFill/>
          <a:ln/>
        </p:spPr>
        <p:txBody>
          <a:bodyPr wrap="square" lIns="0" tIns="0" rIns="0" bIns="0" rtlCol="0" anchor="ctr"/>
          <a:lstStyle/>
          <a:p>
            <a:pPr marL="0" indent="0">
              <a:buNone/>
            </a:pPr>
            <a:r>
              <a:rPr lang="en-US" sz="1100" b="1" dirty="0">
                <a:solidFill>
                  <a:srgbClr val="0097A7"/>
                </a:solidFill>
                <a:latin typeface="Calibri" pitchFamily="34" charset="0"/>
                <a:ea typeface="Calibri" pitchFamily="34" charset="-122"/>
                <a:cs typeface="Calibri" pitchFamily="34" charset="-120"/>
              </a:rPr>
              <a:t>TWIN FUNCTIONS  (what the demo shows)</a:t>
            </a:r>
            <a:endParaRPr lang="en-US" sz="1100" dirty="0"/>
          </a:p>
        </p:txBody>
      </p:sp>
      <p:sp>
        <p:nvSpPr>
          <p:cNvPr id="15" name="Text 13"/>
          <p:cNvSpPr txBox="1"/>
          <p:nvPr/>
        </p:nvSpPr>
        <p:spPr>
          <a:xfrm>
            <a:off x="6126480" y="3712464"/>
            <a:ext cx="5349240" cy="2286000"/>
          </a:xfrm>
          <a:prstGeom prst="rect">
            <a:avLst/>
          </a:prstGeom>
          <a:noFill/>
          <a:ln/>
        </p:spPr>
        <p:txBody>
          <a:bodyPr wrap="square" lIns="0" tIns="0" rIns="0" bIns="0" rtlCol="0" anchor="t"/>
          <a:lstStyle/>
          <a:p>
            <a:pPr marL="152400" indent="-152400">
              <a:spcAft>
                <a:spcPts val="600"/>
              </a:spcAft>
              <a:buSzPct val="100000"/>
              <a:buChar char="•"/>
            </a:pPr>
            <a:r>
              <a:rPr lang="en-US" sz="900" dirty="0">
                <a:solidFill>
                  <a:srgbClr val="1B2733"/>
                </a:solidFill>
                <a:latin typeface="Calibri" pitchFamily="34" charset="0"/>
                <a:ea typeface="Calibri" pitchFamily="34" charset="-122"/>
                <a:cs typeface="Calibri" pitchFamily="34" charset="-120"/>
              </a:rPr>
              <a:t>Data Overview: live KPIs (Power / Voltage / Current / PF / Energy ), charts, historical analytics with date range, per-circuit breaker status.</a:t>
            </a:r>
            <a:endParaRPr lang="en-US" sz="900" dirty="0"/>
          </a:p>
          <a:p>
            <a:pPr marL="152400" indent="-152400">
              <a:spcAft>
                <a:spcPts val="600"/>
              </a:spcAft>
              <a:buSzPct val="100000"/>
              <a:buChar char="•"/>
            </a:pPr>
            <a:r>
              <a:rPr lang="en-US" sz="900" dirty="0">
                <a:solidFill>
                  <a:srgbClr val="1B2733"/>
                </a:solidFill>
                <a:latin typeface="Calibri" pitchFamily="34" charset="0"/>
                <a:ea typeface="Calibri" pitchFamily="34" charset="-122"/>
                <a:cs typeface="Calibri" pitchFamily="34" charset="-120"/>
              </a:rPr>
              <a:t>3D Model &amp; Control: interactive 3D panel model; remote Unlock / Open / Close via Cloudflare -&gt; Home Assistant.</a:t>
            </a:r>
            <a:endParaRPr lang="en-US" sz="900" dirty="0"/>
          </a:p>
          <a:p>
            <a:pPr marL="152400" indent="-152400">
              <a:spcAft>
                <a:spcPts val="600"/>
              </a:spcAft>
              <a:buSzPct val="100000"/>
              <a:buChar char="•"/>
            </a:pPr>
            <a:r>
              <a:rPr lang="en-US" sz="900" dirty="0">
                <a:solidFill>
                  <a:srgbClr val="1B2733"/>
                </a:solidFill>
                <a:latin typeface="Calibri" pitchFamily="34" charset="0"/>
                <a:ea typeface="Calibri" pitchFamily="34" charset="-122"/>
                <a:cs typeface="Calibri" pitchFamily="34" charset="-120"/>
              </a:rPr>
              <a:t>Simulation &amp; Scenarios: thermal model (Tj = Tamb + P x Rth), TM-21 lumen-maintenance projection, scenario engine (aging, dimming, ambient, partial failures), SCADA alarm panel , CSV export.</a:t>
            </a:r>
            <a:endParaRPr lang="en-US" sz="900" dirty="0"/>
          </a:p>
        </p:txBody>
      </p:sp>
      <p:sp>
        <p:nvSpPr>
          <p:cNvPr id="17" name="Text 15"/>
          <p:cNvSpPr txBox="1"/>
          <p:nvPr/>
        </p:nvSpPr>
        <p:spPr>
          <a:xfrm>
            <a:off x="548640" y="6336792"/>
            <a:ext cx="10698480" cy="274320"/>
          </a:xfrm>
          <a:prstGeom prst="rect">
            <a:avLst/>
          </a:prstGeom>
          <a:noFill/>
          <a:ln/>
        </p:spPr>
        <p:txBody>
          <a:bodyPr wrap="square" lIns="0" tIns="0" rIns="0" bIns="0" rtlCol="0" anchor="ctr"/>
          <a:lstStyle/>
          <a:p>
            <a:pPr marL="0" indent="0">
              <a:buNone/>
            </a:pPr>
            <a:r>
              <a:rPr lang="en-US" sz="850" dirty="0">
                <a:solidFill>
                  <a:srgbClr val="5F6B76"/>
                </a:solidFill>
                <a:latin typeface="Calibri" pitchFamily="34" charset="0"/>
                <a:ea typeface="Calibri" pitchFamily="34" charset="-122"/>
                <a:cs typeface="Calibri" pitchFamily="34" charset="-120"/>
              </a:rPr>
              <a:t>Future Energy Lab · PSAU College of Engineering · Electrical Engineering</a:t>
            </a:r>
            <a:endParaRPr lang="en-US" sz="850" dirty="0"/>
          </a:p>
        </p:txBody>
      </p:sp>
      <p:sp>
        <p:nvSpPr>
          <p:cNvPr id="18" name="Text 16"/>
          <p:cNvSpPr txBox="1"/>
          <p:nvPr/>
        </p:nvSpPr>
        <p:spPr>
          <a:xfrm>
            <a:off x="11430000" y="6473952"/>
            <a:ext cx="457200" cy="274320"/>
          </a:xfrm>
          <a:prstGeom prst="rect">
            <a:avLst/>
          </a:prstGeom>
          <a:noFill/>
          <a:ln/>
        </p:spPr>
        <p:txBody>
          <a:bodyPr wrap="square" lIns="0" tIns="0" rIns="0" bIns="0" rtlCol="0" anchor="ctr"/>
          <a:lstStyle/>
          <a:p>
            <a:pPr marL="0" indent="0" algn="r">
              <a:buNone/>
            </a:pPr>
            <a:r>
              <a:rPr lang="en-US" sz="850" dirty="0">
                <a:solidFill>
                  <a:srgbClr val="5F6B76"/>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F8CF4EA3-027E-39AC-B812-AC47D0C7EC5E}"/>
              </a:ext>
            </a:extLst>
          </p:cNvPr>
          <p:cNvSpPr/>
          <p:nvPr/>
        </p:nvSpPr>
        <p:spPr>
          <a:xfrm>
            <a:off x="548640" y="457200"/>
            <a:ext cx="256032" cy="256032"/>
          </a:xfrm>
          <a:prstGeom prst="ellipse">
            <a:avLst/>
          </a:prstGeom>
          <a:solidFill>
            <a:srgbClr val="1F3A5F"/>
          </a:solidFill>
          <a:ln/>
        </p:spPr>
        <p:txBody>
          <a:bodyPr/>
          <a:lstStyle/>
          <a:p>
            <a:endParaRPr lang="ar-SA"/>
          </a:p>
        </p:txBody>
      </p:sp>
      <p:sp>
        <p:nvSpPr>
          <p:cNvPr id="3" name="Text 1">
            <a:extLst>
              <a:ext uri="{FF2B5EF4-FFF2-40B4-BE49-F238E27FC236}">
                <a16:creationId xmlns:a16="http://schemas.microsoft.com/office/drawing/2014/main" id="{033C0F76-9A3B-083F-8662-A1186505483E}"/>
              </a:ext>
            </a:extLst>
          </p:cNvPr>
          <p:cNvSpPr txBox="1"/>
          <p:nvPr/>
        </p:nvSpPr>
        <p:spPr>
          <a:xfrm>
            <a:off x="896112" y="411480"/>
            <a:ext cx="7315200" cy="320040"/>
          </a:xfrm>
          <a:prstGeom prst="rect">
            <a:avLst/>
          </a:prstGeom>
          <a:noFill/>
          <a:ln/>
        </p:spPr>
        <p:txBody>
          <a:bodyPr wrap="square" lIns="0" tIns="0" rIns="0" bIns="0" rtlCol="0" anchor="ctr"/>
          <a:lstStyle/>
          <a:p>
            <a:pPr marL="0" indent="0">
              <a:buNone/>
            </a:pPr>
            <a:r>
              <a:rPr lang="en-US" sz="1200" b="1" kern="0" spc="200" dirty="0">
                <a:solidFill>
                  <a:srgbClr val="1F3A5F"/>
                </a:solidFill>
                <a:latin typeface="Calibri" pitchFamily="34" charset="0"/>
                <a:ea typeface="Calibri" pitchFamily="34" charset="-122"/>
                <a:cs typeface="Calibri" pitchFamily="34" charset="-120"/>
              </a:rPr>
              <a:t>CHINT + LOCALIZATION</a:t>
            </a:r>
            <a:endParaRPr lang="en-US" sz="1200" dirty="0"/>
          </a:p>
        </p:txBody>
      </p:sp>
      <p:sp>
        <p:nvSpPr>
          <p:cNvPr id="4" name="Text 2">
            <a:extLst>
              <a:ext uri="{FF2B5EF4-FFF2-40B4-BE49-F238E27FC236}">
                <a16:creationId xmlns:a16="http://schemas.microsoft.com/office/drawing/2014/main" id="{18AF7645-C56D-3B44-ED49-0686487802BD}"/>
              </a:ext>
            </a:extLst>
          </p:cNvPr>
          <p:cNvSpPr txBox="1"/>
          <p:nvPr/>
        </p:nvSpPr>
        <p:spPr>
          <a:xfrm>
            <a:off x="548640" y="749808"/>
            <a:ext cx="8412480" cy="822960"/>
          </a:xfrm>
          <a:prstGeom prst="rect">
            <a:avLst/>
          </a:prstGeom>
          <a:noFill/>
          <a:ln/>
        </p:spPr>
        <p:txBody>
          <a:bodyPr wrap="square" lIns="0" tIns="0" rIns="0" bIns="0" rtlCol="0" anchor="ctr"/>
          <a:lstStyle/>
          <a:p>
            <a:pPr marL="0" indent="0">
              <a:buNone/>
            </a:pPr>
            <a:r>
              <a:rPr lang="en-US" sz="3000" b="1" dirty="0">
                <a:solidFill>
                  <a:srgbClr val="1B2733"/>
                </a:solidFill>
                <a:latin typeface="Cambria" pitchFamily="34" charset="0"/>
                <a:ea typeface="Cambria" pitchFamily="34" charset="-122"/>
                <a:cs typeface="Cambria" pitchFamily="34" charset="-120"/>
              </a:rPr>
              <a:t>Strategic Technology Pillars</a:t>
            </a:r>
            <a:endParaRPr lang="en-US" sz="3000" dirty="0"/>
          </a:p>
        </p:txBody>
      </p:sp>
      <p:sp>
        <p:nvSpPr>
          <p:cNvPr id="7" name="Text 5">
            <a:extLst>
              <a:ext uri="{FF2B5EF4-FFF2-40B4-BE49-F238E27FC236}">
                <a16:creationId xmlns:a16="http://schemas.microsoft.com/office/drawing/2014/main" id="{593EE5BE-702B-FD31-56EA-4F446E1B3000}"/>
              </a:ext>
            </a:extLst>
          </p:cNvPr>
          <p:cNvSpPr txBox="1"/>
          <p:nvPr/>
        </p:nvSpPr>
        <p:spPr>
          <a:xfrm>
            <a:off x="548640" y="1572768"/>
            <a:ext cx="11155680" cy="548640"/>
          </a:xfrm>
          <a:prstGeom prst="rect">
            <a:avLst/>
          </a:prstGeom>
          <a:noFill/>
          <a:ln/>
        </p:spPr>
        <p:txBody>
          <a:bodyPr wrap="square" lIns="0" tIns="0" rIns="0" bIns="0" rtlCol="0" anchor="ctr"/>
          <a:lstStyle/>
          <a:p>
            <a:pPr marL="0" indent="0">
              <a:buNone/>
            </a:pPr>
            <a:r>
              <a:rPr lang="en-US" sz="1250" i="1" dirty="0">
                <a:solidFill>
                  <a:srgbClr val="065A82"/>
                </a:solidFill>
                <a:latin typeface="Calibri" pitchFamily="34" charset="0"/>
                <a:ea typeface="Calibri" pitchFamily="34" charset="-122"/>
                <a:cs typeface="Calibri" pitchFamily="34" charset="-120"/>
              </a:rPr>
              <a:t>Four CHINT technology tracks the Future Energy Lab will integrate and verify for Saudi nominal 60-Hz systems - each moving from an existing CHINT capability to a defined lab activity.</a:t>
            </a:r>
            <a:endParaRPr lang="en-US" sz="1250" dirty="0"/>
          </a:p>
        </p:txBody>
      </p:sp>
      <p:sp>
        <p:nvSpPr>
          <p:cNvPr id="8" name="Shape 6">
            <a:extLst>
              <a:ext uri="{FF2B5EF4-FFF2-40B4-BE49-F238E27FC236}">
                <a16:creationId xmlns:a16="http://schemas.microsoft.com/office/drawing/2014/main" id="{B10D0683-1261-8505-BA1C-2D6052E27AA0}"/>
              </a:ext>
            </a:extLst>
          </p:cNvPr>
          <p:cNvSpPr/>
          <p:nvPr/>
        </p:nvSpPr>
        <p:spPr>
          <a:xfrm>
            <a:off x="548640" y="2286000"/>
            <a:ext cx="2670048" cy="3703320"/>
          </a:xfrm>
          <a:prstGeom prst="roundRect">
            <a:avLst>
              <a:gd name="adj" fmla="val 1712"/>
            </a:avLst>
          </a:prstGeom>
          <a:solidFill>
            <a:srgbClr val="E9ECF4"/>
          </a:solidFill>
          <a:ln w="15875">
            <a:solidFill>
              <a:srgbClr val="1F3A5F"/>
            </a:solidFill>
            <a:prstDash val="solid"/>
          </a:ln>
        </p:spPr>
        <p:txBody>
          <a:bodyPr/>
          <a:lstStyle/>
          <a:p>
            <a:endParaRPr lang="ar-SA"/>
          </a:p>
        </p:txBody>
      </p:sp>
      <p:sp>
        <p:nvSpPr>
          <p:cNvPr id="9" name="Shape 7">
            <a:extLst>
              <a:ext uri="{FF2B5EF4-FFF2-40B4-BE49-F238E27FC236}">
                <a16:creationId xmlns:a16="http://schemas.microsoft.com/office/drawing/2014/main" id="{ADD281CF-9A96-281E-1EEB-394C04A9F7E4}"/>
              </a:ext>
            </a:extLst>
          </p:cNvPr>
          <p:cNvSpPr/>
          <p:nvPr/>
        </p:nvSpPr>
        <p:spPr>
          <a:xfrm>
            <a:off x="768096" y="2542032"/>
            <a:ext cx="566928" cy="566928"/>
          </a:xfrm>
          <a:prstGeom prst="roundRect">
            <a:avLst>
              <a:gd name="adj" fmla="val 19355"/>
            </a:avLst>
          </a:prstGeom>
          <a:solidFill>
            <a:srgbClr val="1F3A5F"/>
          </a:solidFill>
          <a:ln/>
        </p:spPr>
        <p:txBody>
          <a:bodyPr/>
          <a:lstStyle/>
          <a:p>
            <a:endParaRPr lang="ar-SA"/>
          </a:p>
        </p:txBody>
      </p:sp>
      <p:sp>
        <p:nvSpPr>
          <p:cNvPr id="10" name="Text 8">
            <a:extLst>
              <a:ext uri="{FF2B5EF4-FFF2-40B4-BE49-F238E27FC236}">
                <a16:creationId xmlns:a16="http://schemas.microsoft.com/office/drawing/2014/main" id="{14F12326-9480-1220-8914-A7CF9E9E1C24}"/>
              </a:ext>
            </a:extLst>
          </p:cNvPr>
          <p:cNvSpPr txBox="1"/>
          <p:nvPr/>
        </p:nvSpPr>
        <p:spPr>
          <a:xfrm>
            <a:off x="768096" y="2542032"/>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MV</a:t>
            </a:r>
            <a:endParaRPr lang="en-US" sz="1200" dirty="0"/>
          </a:p>
        </p:txBody>
      </p:sp>
      <p:sp>
        <p:nvSpPr>
          <p:cNvPr id="11" name="Text 9">
            <a:extLst>
              <a:ext uri="{FF2B5EF4-FFF2-40B4-BE49-F238E27FC236}">
                <a16:creationId xmlns:a16="http://schemas.microsoft.com/office/drawing/2014/main" id="{E5CE1B14-7884-2DC4-4533-702E25887A34}"/>
              </a:ext>
            </a:extLst>
          </p:cNvPr>
          <p:cNvSpPr txBox="1"/>
          <p:nvPr/>
        </p:nvSpPr>
        <p:spPr>
          <a:xfrm>
            <a:off x="768096" y="3246120"/>
            <a:ext cx="2286000" cy="640080"/>
          </a:xfrm>
          <a:prstGeom prst="rect">
            <a:avLst/>
          </a:prstGeom>
          <a:noFill/>
          <a:ln/>
        </p:spPr>
        <p:txBody>
          <a:bodyPr wrap="square" lIns="0" tIns="0" rIns="0" bIns="0" rtlCol="0" anchor="ctr"/>
          <a:lstStyle/>
          <a:p>
            <a:pPr marL="0" indent="0">
              <a:buNone/>
            </a:pPr>
            <a:r>
              <a:rPr lang="en-US" sz="1300" b="1" dirty="0">
                <a:solidFill>
                  <a:srgbClr val="1B2733"/>
                </a:solidFill>
                <a:latin typeface="Calibri" pitchFamily="34" charset="0"/>
                <a:ea typeface="Calibri" pitchFamily="34" charset="-122"/>
                <a:cs typeface="Calibri" pitchFamily="34" charset="-120"/>
              </a:rPr>
              <a:t>MV Circuit Breakers</a:t>
            </a:r>
            <a:endParaRPr lang="en-US" sz="1300" dirty="0"/>
          </a:p>
        </p:txBody>
      </p:sp>
      <p:sp>
        <p:nvSpPr>
          <p:cNvPr id="12" name="Text 10">
            <a:extLst>
              <a:ext uri="{FF2B5EF4-FFF2-40B4-BE49-F238E27FC236}">
                <a16:creationId xmlns:a16="http://schemas.microsoft.com/office/drawing/2014/main" id="{9DC524CD-365B-45AE-77F2-A47A1E79ECBB}"/>
              </a:ext>
            </a:extLst>
          </p:cNvPr>
          <p:cNvSpPr txBox="1"/>
          <p:nvPr/>
        </p:nvSpPr>
        <p:spPr>
          <a:xfrm>
            <a:off x="768096" y="3886200"/>
            <a:ext cx="2286000" cy="1417320"/>
          </a:xfrm>
          <a:prstGeom prst="rect">
            <a:avLst/>
          </a:prstGeom>
          <a:noFill/>
          <a:ln/>
        </p:spPr>
        <p:txBody>
          <a:bodyPr wrap="square" lIns="0" tIns="0" rIns="0" bIns="0" rtlCol="0" anchor="ctr"/>
          <a:lstStyle/>
          <a:p>
            <a:pPr marL="0" indent="0">
              <a:buNone/>
            </a:pPr>
            <a:r>
              <a:rPr lang="en-US" sz="900" dirty="0">
                <a:solidFill>
                  <a:srgbClr val="1B2733"/>
                </a:solidFill>
                <a:latin typeface="Calibri" pitchFamily="34" charset="0"/>
                <a:ea typeface="Calibri" pitchFamily="34" charset="-122"/>
                <a:cs typeface="Calibri" pitchFamily="34" charset="-120"/>
              </a:rPr>
              <a:t>CHINT NG7 gas-insulated switchgear and intelligent MV MCCB / ACB for industrial, commercial and utility distribution - product families already supplied to SEC.</a:t>
            </a:r>
            <a:endParaRPr lang="en-US" sz="900" dirty="0"/>
          </a:p>
        </p:txBody>
      </p:sp>
      <p:sp>
        <p:nvSpPr>
          <p:cNvPr id="13" name="Text 11">
            <a:extLst>
              <a:ext uri="{FF2B5EF4-FFF2-40B4-BE49-F238E27FC236}">
                <a16:creationId xmlns:a16="http://schemas.microsoft.com/office/drawing/2014/main" id="{42863CD5-D36B-C772-30EF-A01517753616}"/>
              </a:ext>
            </a:extLst>
          </p:cNvPr>
          <p:cNvSpPr txBox="1"/>
          <p:nvPr/>
        </p:nvSpPr>
        <p:spPr>
          <a:xfrm>
            <a:off x="768096" y="5303520"/>
            <a:ext cx="2286000" cy="594360"/>
          </a:xfrm>
          <a:prstGeom prst="rect">
            <a:avLst/>
          </a:prstGeom>
          <a:noFill/>
          <a:ln/>
        </p:spPr>
        <p:txBody>
          <a:bodyPr wrap="square" lIns="0" tIns="0" rIns="0" bIns="0" rtlCol="0" anchor="ctr"/>
          <a:lstStyle/>
          <a:p>
            <a:pPr marL="0" indent="0">
              <a:buNone/>
            </a:pPr>
            <a:r>
              <a:rPr lang="en-US" sz="800" i="1" dirty="0">
                <a:solidFill>
                  <a:srgbClr val="1F3A5F"/>
                </a:solidFill>
                <a:latin typeface="Calibri" pitchFamily="34" charset="0"/>
                <a:ea typeface="Calibri" pitchFamily="34" charset="-122"/>
                <a:cs typeface="Calibri" pitchFamily="34" charset="-120"/>
              </a:rPr>
              <a:t>Lab: protection-coordination reference; verify 60-Hz ratings, +55 C, 37-SDMS.</a:t>
            </a:r>
            <a:endParaRPr lang="en-US" sz="800" dirty="0"/>
          </a:p>
        </p:txBody>
      </p:sp>
      <p:sp>
        <p:nvSpPr>
          <p:cNvPr id="14" name="Shape 12">
            <a:extLst>
              <a:ext uri="{FF2B5EF4-FFF2-40B4-BE49-F238E27FC236}">
                <a16:creationId xmlns:a16="http://schemas.microsoft.com/office/drawing/2014/main" id="{60D8CEA8-5E81-0C80-2CB3-A887F75E1BD3}"/>
              </a:ext>
            </a:extLst>
          </p:cNvPr>
          <p:cNvSpPr/>
          <p:nvPr/>
        </p:nvSpPr>
        <p:spPr>
          <a:xfrm>
            <a:off x="3401568" y="2286000"/>
            <a:ext cx="2670048" cy="3703320"/>
          </a:xfrm>
          <a:prstGeom prst="roundRect">
            <a:avLst>
              <a:gd name="adj" fmla="val 1712"/>
            </a:avLst>
          </a:prstGeom>
          <a:solidFill>
            <a:srgbClr val="E9F1E9"/>
          </a:solidFill>
          <a:ln w="15875">
            <a:solidFill>
              <a:srgbClr val="2E7D32"/>
            </a:solidFill>
            <a:prstDash val="solid"/>
          </a:ln>
        </p:spPr>
        <p:txBody>
          <a:bodyPr/>
          <a:lstStyle/>
          <a:p>
            <a:endParaRPr lang="ar-SA"/>
          </a:p>
        </p:txBody>
      </p:sp>
      <p:sp>
        <p:nvSpPr>
          <p:cNvPr id="15" name="Shape 13">
            <a:extLst>
              <a:ext uri="{FF2B5EF4-FFF2-40B4-BE49-F238E27FC236}">
                <a16:creationId xmlns:a16="http://schemas.microsoft.com/office/drawing/2014/main" id="{DD2BA353-5946-2BEB-9106-5B782B120E09}"/>
              </a:ext>
            </a:extLst>
          </p:cNvPr>
          <p:cNvSpPr/>
          <p:nvPr/>
        </p:nvSpPr>
        <p:spPr>
          <a:xfrm>
            <a:off x="3621024" y="2542032"/>
            <a:ext cx="566928" cy="566928"/>
          </a:xfrm>
          <a:prstGeom prst="roundRect">
            <a:avLst>
              <a:gd name="adj" fmla="val 19355"/>
            </a:avLst>
          </a:prstGeom>
          <a:solidFill>
            <a:srgbClr val="2E7D32"/>
          </a:solidFill>
          <a:ln/>
        </p:spPr>
        <p:txBody>
          <a:bodyPr/>
          <a:lstStyle/>
          <a:p>
            <a:endParaRPr lang="ar-SA"/>
          </a:p>
        </p:txBody>
      </p:sp>
      <p:sp>
        <p:nvSpPr>
          <p:cNvPr id="16" name="Text 14">
            <a:extLst>
              <a:ext uri="{FF2B5EF4-FFF2-40B4-BE49-F238E27FC236}">
                <a16:creationId xmlns:a16="http://schemas.microsoft.com/office/drawing/2014/main" id="{9F742370-1E61-E7C3-0AC3-CDBBB18F1BE7}"/>
              </a:ext>
            </a:extLst>
          </p:cNvPr>
          <p:cNvSpPr txBox="1"/>
          <p:nvPr/>
        </p:nvSpPr>
        <p:spPr>
          <a:xfrm>
            <a:off x="3621024" y="2542032"/>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ES</a:t>
            </a:r>
            <a:endParaRPr lang="en-US" sz="1200" dirty="0"/>
          </a:p>
        </p:txBody>
      </p:sp>
      <p:sp>
        <p:nvSpPr>
          <p:cNvPr id="17" name="Text 15">
            <a:extLst>
              <a:ext uri="{FF2B5EF4-FFF2-40B4-BE49-F238E27FC236}">
                <a16:creationId xmlns:a16="http://schemas.microsoft.com/office/drawing/2014/main" id="{1C9CCADF-211A-62CD-6D78-E769B89D12A3}"/>
              </a:ext>
            </a:extLst>
          </p:cNvPr>
          <p:cNvSpPr txBox="1"/>
          <p:nvPr/>
        </p:nvSpPr>
        <p:spPr>
          <a:xfrm>
            <a:off x="3621024" y="3246120"/>
            <a:ext cx="2286000" cy="640080"/>
          </a:xfrm>
          <a:prstGeom prst="rect">
            <a:avLst/>
          </a:prstGeom>
          <a:noFill/>
          <a:ln/>
        </p:spPr>
        <p:txBody>
          <a:bodyPr wrap="square" lIns="0" tIns="0" rIns="0" bIns="0" rtlCol="0" anchor="ctr"/>
          <a:lstStyle/>
          <a:p>
            <a:pPr marL="0" indent="0">
              <a:buNone/>
            </a:pPr>
            <a:r>
              <a:rPr lang="en-US" sz="1300" b="1" dirty="0">
                <a:solidFill>
                  <a:srgbClr val="1B2733"/>
                </a:solidFill>
                <a:latin typeface="Calibri" pitchFamily="34" charset="0"/>
                <a:ea typeface="Calibri" pitchFamily="34" charset="-122"/>
                <a:cs typeface="Calibri" pitchFamily="34" charset="-120"/>
              </a:rPr>
              <a:t>Emerging Energy-Sector Tech</a:t>
            </a:r>
            <a:endParaRPr lang="en-US" sz="1300" dirty="0"/>
          </a:p>
        </p:txBody>
      </p:sp>
      <p:sp>
        <p:nvSpPr>
          <p:cNvPr id="18" name="Text 16">
            <a:extLst>
              <a:ext uri="{FF2B5EF4-FFF2-40B4-BE49-F238E27FC236}">
                <a16:creationId xmlns:a16="http://schemas.microsoft.com/office/drawing/2014/main" id="{1499C89E-6E18-5EDC-B150-F40CD2CFED6B}"/>
              </a:ext>
            </a:extLst>
          </p:cNvPr>
          <p:cNvSpPr txBox="1"/>
          <p:nvPr/>
        </p:nvSpPr>
        <p:spPr>
          <a:xfrm>
            <a:off x="3621024" y="3886200"/>
            <a:ext cx="2286000" cy="1417320"/>
          </a:xfrm>
          <a:prstGeom prst="rect">
            <a:avLst/>
          </a:prstGeom>
          <a:noFill/>
          <a:ln/>
        </p:spPr>
        <p:txBody>
          <a:bodyPr wrap="square" lIns="0" tIns="0" rIns="0" bIns="0" rtlCol="0" anchor="ctr"/>
          <a:lstStyle/>
          <a:p>
            <a:pPr marL="0" indent="0">
              <a:buNone/>
            </a:pPr>
            <a:r>
              <a:rPr lang="en-US" sz="900" dirty="0">
                <a:solidFill>
                  <a:srgbClr val="1B2733"/>
                </a:solidFill>
                <a:latin typeface="Calibri" pitchFamily="34" charset="0"/>
                <a:ea typeface="Calibri" pitchFamily="34" charset="-122"/>
                <a:cs typeface="Calibri" pitchFamily="34" charset="-120"/>
              </a:rPr>
              <a:t>"One Cloud, Two Networks" direction: smart grids and EIoT, PV grid-connection and islanding protection, DC ACB / MCCB, topology identification and line-loss analysis.</a:t>
            </a:r>
            <a:endParaRPr lang="en-US" sz="900" dirty="0"/>
          </a:p>
        </p:txBody>
      </p:sp>
      <p:sp>
        <p:nvSpPr>
          <p:cNvPr id="19" name="Text 17">
            <a:extLst>
              <a:ext uri="{FF2B5EF4-FFF2-40B4-BE49-F238E27FC236}">
                <a16:creationId xmlns:a16="http://schemas.microsoft.com/office/drawing/2014/main" id="{9256CD6D-A7A5-918E-DE86-4C3572C153D1}"/>
              </a:ext>
            </a:extLst>
          </p:cNvPr>
          <p:cNvSpPr txBox="1"/>
          <p:nvPr/>
        </p:nvSpPr>
        <p:spPr>
          <a:xfrm>
            <a:off x="3621024" y="5303520"/>
            <a:ext cx="2286000" cy="594360"/>
          </a:xfrm>
          <a:prstGeom prst="rect">
            <a:avLst/>
          </a:prstGeom>
          <a:noFill/>
          <a:ln/>
        </p:spPr>
        <p:txBody>
          <a:bodyPr wrap="square" lIns="0" tIns="0" rIns="0" bIns="0" rtlCol="0" anchor="ctr"/>
          <a:lstStyle/>
          <a:p>
            <a:pPr marL="0" indent="0">
              <a:buNone/>
            </a:pPr>
            <a:r>
              <a:rPr lang="en-US" sz="800" i="1" dirty="0">
                <a:solidFill>
                  <a:srgbClr val="2E7D32"/>
                </a:solidFill>
                <a:latin typeface="Calibri" pitchFamily="34" charset="0"/>
                <a:ea typeface="Calibri" pitchFamily="34" charset="-122"/>
                <a:cs typeface="Calibri" pitchFamily="34" charset="-120"/>
              </a:rPr>
              <a:t>Lab: microgrid + data-centre resilience studies on the LV testbed.</a:t>
            </a:r>
            <a:endParaRPr lang="en-US" sz="800" dirty="0"/>
          </a:p>
        </p:txBody>
      </p:sp>
      <p:sp>
        <p:nvSpPr>
          <p:cNvPr id="20" name="Shape 18">
            <a:extLst>
              <a:ext uri="{FF2B5EF4-FFF2-40B4-BE49-F238E27FC236}">
                <a16:creationId xmlns:a16="http://schemas.microsoft.com/office/drawing/2014/main" id="{6ABFA113-1BA6-3C8C-66E6-DBC8F17EF543}"/>
              </a:ext>
            </a:extLst>
          </p:cNvPr>
          <p:cNvSpPr/>
          <p:nvPr/>
        </p:nvSpPr>
        <p:spPr>
          <a:xfrm>
            <a:off x="6254496" y="2286000"/>
            <a:ext cx="2670048" cy="3703320"/>
          </a:xfrm>
          <a:prstGeom prst="roundRect">
            <a:avLst>
              <a:gd name="adj" fmla="val 1712"/>
            </a:avLst>
          </a:prstGeom>
          <a:solidFill>
            <a:srgbClr val="E4EEF1"/>
          </a:solidFill>
          <a:ln w="15875">
            <a:solidFill>
              <a:srgbClr val="1C7293"/>
            </a:solidFill>
            <a:prstDash val="solid"/>
          </a:ln>
        </p:spPr>
        <p:txBody>
          <a:bodyPr/>
          <a:lstStyle/>
          <a:p>
            <a:endParaRPr lang="ar-SA"/>
          </a:p>
        </p:txBody>
      </p:sp>
      <p:sp>
        <p:nvSpPr>
          <p:cNvPr id="21" name="Shape 19">
            <a:extLst>
              <a:ext uri="{FF2B5EF4-FFF2-40B4-BE49-F238E27FC236}">
                <a16:creationId xmlns:a16="http://schemas.microsoft.com/office/drawing/2014/main" id="{7F9A823F-8A16-0CB9-CD4D-2EAD94251478}"/>
              </a:ext>
            </a:extLst>
          </p:cNvPr>
          <p:cNvSpPr/>
          <p:nvPr/>
        </p:nvSpPr>
        <p:spPr>
          <a:xfrm>
            <a:off x="6473952" y="2542032"/>
            <a:ext cx="566928" cy="566928"/>
          </a:xfrm>
          <a:prstGeom prst="roundRect">
            <a:avLst>
              <a:gd name="adj" fmla="val 19355"/>
            </a:avLst>
          </a:prstGeom>
          <a:solidFill>
            <a:srgbClr val="1C7293"/>
          </a:solidFill>
          <a:ln/>
        </p:spPr>
        <p:txBody>
          <a:bodyPr/>
          <a:lstStyle/>
          <a:p>
            <a:endParaRPr lang="ar-SA"/>
          </a:p>
        </p:txBody>
      </p:sp>
      <p:sp>
        <p:nvSpPr>
          <p:cNvPr id="22" name="Text 20">
            <a:extLst>
              <a:ext uri="{FF2B5EF4-FFF2-40B4-BE49-F238E27FC236}">
                <a16:creationId xmlns:a16="http://schemas.microsoft.com/office/drawing/2014/main" id="{7B620C42-C27C-EB36-EBB2-53BA853EE47D}"/>
              </a:ext>
            </a:extLst>
          </p:cNvPr>
          <p:cNvSpPr txBox="1"/>
          <p:nvPr/>
        </p:nvSpPr>
        <p:spPr>
          <a:xfrm>
            <a:off x="6473952" y="2542032"/>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EV</a:t>
            </a:r>
            <a:endParaRPr lang="en-US" sz="1200" dirty="0"/>
          </a:p>
        </p:txBody>
      </p:sp>
      <p:sp>
        <p:nvSpPr>
          <p:cNvPr id="23" name="Text 21">
            <a:extLst>
              <a:ext uri="{FF2B5EF4-FFF2-40B4-BE49-F238E27FC236}">
                <a16:creationId xmlns:a16="http://schemas.microsoft.com/office/drawing/2014/main" id="{AB45420D-4BF7-BB6C-64D3-56060336BA72}"/>
              </a:ext>
            </a:extLst>
          </p:cNvPr>
          <p:cNvSpPr txBox="1"/>
          <p:nvPr/>
        </p:nvSpPr>
        <p:spPr>
          <a:xfrm>
            <a:off x="6473952" y="3246120"/>
            <a:ext cx="2286000" cy="640080"/>
          </a:xfrm>
          <a:prstGeom prst="rect">
            <a:avLst/>
          </a:prstGeom>
          <a:noFill/>
          <a:ln/>
        </p:spPr>
        <p:txBody>
          <a:bodyPr wrap="square" lIns="0" tIns="0" rIns="0" bIns="0" rtlCol="0" anchor="ctr"/>
          <a:lstStyle/>
          <a:p>
            <a:pPr marL="0" indent="0">
              <a:buNone/>
            </a:pPr>
            <a:r>
              <a:rPr lang="en-US" sz="1300" b="1" dirty="0">
                <a:solidFill>
                  <a:srgbClr val="1B2733"/>
                </a:solidFill>
                <a:latin typeface="Calibri" pitchFamily="34" charset="0"/>
                <a:ea typeface="Calibri" pitchFamily="34" charset="-122"/>
                <a:cs typeface="Calibri" pitchFamily="34" charset="-120"/>
              </a:rPr>
              <a:t>EV Technology</a:t>
            </a:r>
            <a:endParaRPr lang="en-US" sz="1300" dirty="0"/>
          </a:p>
        </p:txBody>
      </p:sp>
      <p:sp>
        <p:nvSpPr>
          <p:cNvPr id="24" name="Text 22">
            <a:extLst>
              <a:ext uri="{FF2B5EF4-FFF2-40B4-BE49-F238E27FC236}">
                <a16:creationId xmlns:a16="http://schemas.microsoft.com/office/drawing/2014/main" id="{D3AF1401-0386-ED2A-09EF-2FE85095B634}"/>
              </a:ext>
            </a:extLst>
          </p:cNvPr>
          <p:cNvSpPr txBox="1"/>
          <p:nvPr/>
        </p:nvSpPr>
        <p:spPr>
          <a:xfrm>
            <a:off x="6473952" y="3886200"/>
            <a:ext cx="2286000" cy="1417320"/>
          </a:xfrm>
          <a:prstGeom prst="rect">
            <a:avLst/>
          </a:prstGeom>
          <a:noFill/>
          <a:ln/>
        </p:spPr>
        <p:txBody>
          <a:bodyPr wrap="square" lIns="0" tIns="0" rIns="0" bIns="0" rtlCol="0" anchor="ctr"/>
          <a:lstStyle/>
          <a:p>
            <a:pPr marL="0" indent="0">
              <a:buNone/>
            </a:pPr>
            <a:r>
              <a:rPr lang="en-US" sz="900" dirty="0">
                <a:solidFill>
                  <a:srgbClr val="1B2733"/>
                </a:solidFill>
                <a:latin typeface="Calibri" pitchFamily="34" charset="0"/>
                <a:ea typeface="Calibri" pitchFamily="34" charset="-122"/>
                <a:cs typeface="Calibri" pitchFamily="34" charset="-120"/>
              </a:rPr>
              <a:t>EV charging with sequence / orderly charging for substation peak-load management, plus high-accuracy metering, billing and encrypted data transfer.</a:t>
            </a:r>
            <a:endParaRPr lang="en-US" sz="900" dirty="0"/>
          </a:p>
        </p:txBody>
      </p:sp>
      <p:sp>
        <p:nvSpPr>
          <p:cNvPr id="25" name="Text 23">
            <a:extLst>
              <a:ext uri="{FF2B5EF4-FFF2-40B4-BE49-F238E27FC236}">
                <a16:creationId xmlns:a16="http://schemas.microsoft.com/office/drawing/2014/main" id="{65B09E71-92E7-81B8-937F-D79B7B1A60FB}"/>
              </a:ext>
            </a:extLst>
          </p:cNvPr>
          <p:cNvSpPr txBox="1"/>
          <p:nvPr/>
        </p:nvSpPr>
        <p:spPr>
          <a:xfrm>
            <a:off x="6473952" y="5303520"/>
            <a:ext cx="2286000" cy="594360"/>
          </a:xfrm>
          <a:prstGeom prst="rect">
            <a:avLst/>
          </a:prstGeom>
          <a:noFill/>
          <a:ln/>
        </p:spPr>
        <p:txBody>
          <a:bodyPr wrap="square" lIns="0" tIns="0" rIns="0" bIns="0" rtlCol="0" anchor="ctr"/>
          <a:lstStyle/>
          <a:p>
            <a:pPr marL="0" indent="0">
              <a:buNone/>
            </a:pPr>
            <a:r>
              <a:rPr lang="en-US" sz="800" i="1" dirty="0">
                <a:solidFill>
                  <a:srgbClr val="1C7293"/>
                </a:solidFill>
                <a:latin typeface="Calibri" pitchFamily="34" charset="0"/>
                <a:ea typeface="Calibri" pitchFamily="34" charset="-122"/>
                <a:cs typeface="Calibri" pitchFamily="34" charset="-120"/>
              </a:rPr>
              <a:t>Lab: EV peak-load scenario in the microgrid simulation and testbed.</a:t>
            </a:r>
            <a:endParaRPr lang="en-US" sz="800" dirty="0"/>
          </a:p>
        </p:txBody>
      </p:sp>
      <p:sp>
        <p:nvSpPr>
          <p:cNvPr id="26" name="Shape 24">
            <a:extLst>
              <a:ext uri="{FF2B5EF4-FFF2-40B4-BE49-F238E27FC236}">
                <a16:creationId xmlns:a16="http://schemas.microsoft.com/office/drawing/2014/main" id="{219EBAFF-7476-F332-14CB-BE464BADCEA1}"/>
              </a:ext>
            </a:extLst>
          </p:cNvPr>
          <p:cNvSpPr/>
          <p:nvPr/>
        </p:nvSpPr>
        <p:spPr>
          <a:xfrm>
            <a:off x="9107424" y="2286000"/>
            <a:ext cx="2670048" cy="3703320"/>
          </a:xfrm>
          <a:prstGeom prst="roundRect">
            <a:avLst>
              <a:gd name="adj" fmla="val 1712"/>
            </a:avLst>
          </a:prstGeom>
          <a:solidFill>
            <a:srgbClr val="E4F3F5"/>
          </a:solidFill>
          <a:ln w="15875">
            <a:solidFill>
              <a:srgbClr val="0097A7"/>
            </a:solidFill>
            <a:prstDash val="solid"/>
          </a:ln>
        </p:spPr>
        <p:txBody>
          <a:bodyPr/>
          <a:lstStyle/>
          <a:p>
            <a:endParaRPr lang="ar-SA"/>
          </a:p>
        </p:txBody>
      </p:sp>
      <p:sp>
        <p:nvSpPr>
          <p:cNvPr id="27" name="Shape 25">
            <a:extLst>
              <a:ext uri="{FF2B5EF4-FFF2-40B4-BE49-F238E27FC236}">
                <a16:creationId xmlns:a16="http://schemas.microsoft.com/office/drawing/2014/main" id="{E85679FC-C3FB-6335-86FA-DBB78CB595A6}"/>
              </a:ext>
            </a:extLst>
          </p:cNvPr>
          <p:cNvSpPr/>
          <p:nvPr/>
        </p:nvSpPr>
        <p:spPr>
          <a:xfrm>
            <a:off x="9326880" y="2542032"/>
            <a:ext cx="566928" cy="566928"/>
          </a:xfrm>
          <a:prstGeom prst="roundRect">
            <a:avLst>
              <a:gd name="adj" fmla="val 19355"/>
            </a:avLst>
          </a:prstGeom>
          <a:solidFill>
            <a:srgbClr val="0097A7"/>
          </a:solidFill>
          <a:ln/>
        </p:spPr>
        <p:txBody>
          <a:bodyPr/>
          <a:lstStyle/>
          <a:p>
            <a:endParaRPr lang="ar-SA"/>
          </a:p>
        </p:txBody>
      </p:sp>
      <p:sp>
        <p:nvSpPr>
          <p:cNvPr id="28" name="Text 26">
            <a:extLst>
              <a:ext uri="{FF2B5EF4-FFF2-40B4-BE49-F238E27FC236}">
                <a16:creationId xmlns:a16="http://schemas.microsoft.com/office/drawing/2014/main" id="{6684334A-AEA6-01B8-FD14-4B7A53F1D78E}"/>
              </a:ext>
            </a:extLst>
          </p:cNvPr>
          <p:cNvSpPr txBox="1"/>
          <p:nvPr/>
        </p:nvSpPr>
        <p:spPr>
          <a:xfrm>
            <a:off x="9326880" y="2542032"/>
            <a:ext cx="566928" cy="56692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CX</a:t>
            </a:r>
            <a:endParaRPr lang="en-US" sz="1200" dirty="0"/>
          </a:p>
        </p:txBody>
      </p:sp>
      <p:sp>
        <p:nvSpPr>
          <p:cNvPr id="29" name="Text 27">
            <a:extLst>
              <a:ext uri="{FF2B5EF4-FFF2-40B4-BE49-F238E27FC236}">
                <a16:creationId xmlns:a16="http://schemas.microsoft.com/office/drawing/2014/main" id="{4B8ADE4A-98F5-E1A0-8859-8EC2D4BDA910}"/>
              </a:ext>
            </a:extLst>
          </p:cNvPr>
          <p:cNvSpPr txBox="1"/>
          <p:nvPr/>
        </p:nvSpPr>
        <p:spPr>
          <a:xfrm>
            <a:off x="9326880" y="3246120"/>
            <a:ext cx="2286000" cy="640080"/>
          </a:xfrm>
          <a:prstGeom prst="rect">
            <a:avLst/>
          </a:prstGeom>
          <a:noFill/>
          <a:ln/>
        </p:spPr>
        <p:txBody>
          <a:bodyPr wrap="square" lIns="0" tIns="0" rIns="0" bIns="0" rtlCol="0" anchor="ctr"/>
          <a:lstStyle/>
          <a:p>
            <a:pPr marL="0" indent="0">
              <a:buNone/>
            </a:pPr>
            <a:r>
              <a:rPr lang="en-US" sz="1300" b="1" dirty="0">
                <a:solidFill>
                  <a:srgbClr val="1B2733"/>
                </a:solidFill>
                <a:latin typeface="Calibri" pitchFamily="34" charset="0"/>
                <a:ea typeface="Calibri" pitchFamily="34" charset="-122"/>
                <a:cs typeface="Calibri" pitchFamily="34" charset="-120"/>
              </a:rPr>
              <a:t>CloudX at PSAU</a:t>
            </a:r>
            <a:endParaRPr lang="en-US" sz="1300" dirty="0"/>
          </a:p>
        </p:txBody>
      </p:sp>
      <p:sp>
        <p:nvSpPr>
          <p:cNvPr id="30" name="Text 28">
            <a:extLst>
              <a:ext uri="{FF2B5EF4-FFF2-40B4-BE49-F238E27FC236}">
                <a16:creationId xmlns:a16="http://schemas.microsoft.com/office/drawing/2014/main" id="{B928624D-3545-1E93-3FB3-785331ADC958}"/>
              </a:ext>
            </a:extLst>
          </p:cNvPr>
          <p:cNvSpPr txBox="1"/>
          <p:nvPr/>
        </p:nvSpPr>
        <p:spPr>
          <a:xfrm>
            <a:off x="9326880" y="3886200"/>
            <a:ext cx="2286000" cy="1417320"/>
          </a:xfrm>
          <a:prstGeom prst="rect">
            <a:avLst/>
          </a:prstGeom>
          <a:noFill/>
          <a:ln/>
        </p:spPr>
        <p:txBody>
          <a:bodyPr wrap="square" lIns="0" tIns="0" rIns="0" bIns="0" rtlCol="0" anchor="ctr"/>
          <a:lstStyle/>
          <a:p>
            <a:pPr marL="0" indent="0">
              <a:buNone/>
            </a:pPr>
            <a:r>
              <a:rPr lang="en-US" sz="900" dirty="0">
                <a:solidFill>
                  <a:srgbClr val="1B2733"/>
                </a:solidFill>
                <a:latin typeface="Calibri" pitchFamily="34" charset="0"/>
                <a:ea typeface="Calibri" pitchFamily="34" charset="-122"/>
                <a:cs typeface="Calibri" pitchFamily="34" charset="-120"/>
              </a:rPr>
              <a:t>Proposed cloud-connected energy-monitoring and AIoT platform at PSAU (CHINT EmpowerX: EMS + Digital Twin + Edge) to advance smart-energy research, local talent and Vision 2030 goals.</a:t>
            </a:r>
            <a:endParaRPr lang="en-US" sz="900" dirty="0"/>
          </a:p>
        </p:txBody>
      </p:sp>
      <p:sp>
        <p:nvSpPr>
          <p:cNvPr id="31" name="Text 29">
            <a:extLst>
              <a:ext uri="{FF2B5EF4-FFF2-40B4-BE49-F238E27FC236}">
                <a16:creationId xmlns:a16="http://schemas.microsoft.com/office/drawing/2014/main" id="{43179AE9-72A6-64DC-9E55-5B2570BD3983}"/>
              </a:ext>
            </a:extLst>
          </p:cNvPr>
          <p:cNvSpPr txBox="1"/>
          <p:nvPr/>
        </p:nvSpPr>
        <p:spPr>
          <a:xfrm>
            <a:off x="9326880" y="5303520"/>
            <a:ext cx="2286000" cy="594360"/>
          </a:xfrm>
          <a:prstGeom prst="rect">
            <a:avLst/>
          </a:prstGeom>
          <a:noFill/>
          <a:ln/>
        </p:spPr>
        <p:txBody>
          <a:bodyPr wrap="square" lIns="0" tIns="0" rIns="0" bIns="0" rtlCol="0" anchor="ctr"/>
          <a:lstStyle/>
          <a:p>
            <a:pPr marL="0" indent="0">
              <a:buNone/>
            </a:pPr>
            <a:r>
              <a:rPr lang="en-US" sz="800" i="1" dirty="0">
                <a:solidFill>
                  <a:srgbClr val="0097A7"/>
                </a:solidFill>
                <a:latin typeface="Calibri" pitchFamily="34" charset="0"/>
                <a:ea typeface="Calibri" pitchFamily="34" charset="-122"/>
                <a:cs typeface="Calibri" pitchFamily="34" charset="-120"/>
              </a:rPr>
              <a:t>Status: conceptual architecture; engagement with PSAU stated, not yet documented.</a:t>
            </a:r>
            <a:endParaRPr lang="en-US" sz="800" dirty="0"/>
          </a:p>
        </p:txBody>
      </p:sp>
      <p:sp>
        <p:nvSpPr>
          <p:cNvPr id="32" name="Text 30">
            <a:extLst>
              <a:ext uri="{FF2B5EF4-FFF2-40B4-BE49-F238E27FC236}">
                <a16:creationId xmlns:a16="http://schemas.microsoft.com/office/drawing/2014/main" id="{ADD9F69A-D9A0-2E0D-53D2-0AFA86541655}"/>
              </a:ext>
            </a:extLst>
          </p:cNvPr>
          <p:cNvSpPr txBox="1"/>
          <p:nvPr/>
        </p:nvSpPr>
        <p:spPr>
          <a:xfrm>
            <a:off x="548640" y="6126480"/>
            <a:ext cx="11155680" cy="365760"/>
          </a:xfrm>
          <a:prstGeom prst="rect">
            <a:avLst/>
          </a:prstGeom>
          <a:noFill/>
          <a:ln/>
        </p:spPr>
        <p:txBody>
          <a:bodyPr wrap="square" lIns="0" tIns="0" rIns="0" bIns="0" rtlCol="0" anchor="ctr"/>
          <a:lstStyle/>
          <a:p>
            <a:pPr marL="0" indent="0">
              <a:buNone/>
            </a:pPr>
            <a:r>
              <a:rPr lang="en-US" sz="950" i="1" dirty="0">
                <a:solidFill>
                  <a:srgbClr val="065A82"/>
                </a:solidFill>
                <a:latin typeface="Calibri" pitchFamily="34" charset="0"/>
                <a:ea typeface="Calibri" pitchFamily="34" charset="-122"/>
                <a:cs typeface="Calibri" pitchFamily="34" charset="-120"/>
              </a:rPr>
              <a:t>Localization is not just purchasing equipment: it includes local integration, 60-Hz verification, commissioning, panel assembly, firmware, testing, calibration, maintenance, training and future manufacturing.</a:t>
            </a:r>
            <a:endParaRPr lang="en-US" sz="950" dirty="0"/>
          </a:p>
        </p:txBody>
      </p:sp>
    </p:spTree>
    <p:extLst>
      <p:ext uri="{BB962C8B-B14F-4D97-AF65-F5344CB8AC3E}">
        <p14:creationId xmlns:p14="http://schemas.microsoft.com/office/powerpoint/2010/main" val="37357280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57200"/>
            <a:ext cx="256032" cy="256032"/>
          </a:xfrm>
          <a:prstGeom prst="ellipse">
            <a:avLst/>
          </a:prstGeom>
          <a:solidFill>
            <a:srgbClr val="065A82"/>
          </a:solidFill>
          <a:ln/>
        </p:spPr>
        <p:txBody>
          <a:bodyPr/>
          <a:lstStyle/>
          <a:p>
            <a:endParaRPr lang="ar-SA"/>
          </a:p>
        </p:txBody>
      </p:sp>
      <p:sp>
        <p:nvSpPr>
          <p:cNvPr id="3" name="Text 1"/>
          <p:cNvSpPr txBox="1"/>
          <p:nvPr/>
        </p:nvSpPr>
        <p:spPr>
          <a:xfrm>
            <a:off x="896112" y="411480"/>
            <a:ext cx="7315200" cy="320040"/>
          </a:xfrm>
          <a:prstGeom prst="rect">
            <a:avLst/>
          </a:prstGeom>
          <a:noFill/>
          <a:ln/>
        </p:spPr>
        <p:txBody>
          <a:bodyPr wrap="square" lIns="0" tIns="0" rIns="0" bIns="0" rtlCol="0" anchor="ctr"/>
          <a:lstStyle/>
          <a:p>
            <a:pPr marL="0" indent="0">
              <a:buNone/>
            </a:pPr>
            <a:r>
              <a:rPr lang="en-US" sz="1200" b="1" kern="0" spc="200" dirty="0">
                <a:solidFill>
                  <a:srgbClr val="065A82"/>
                </a:solidFill>
                <a:latin typeface="Calibri" pitchFamily="34" charset="0"/>
                <a:ea typeface="Calibri" pitchFamily="34" charset="-122"/>
                <a:cs typeface="Calibri" pitchFamily="34" charset="-120"/>
              </a:rPr>
              <a:t>OUTCOMES</a:t>
            </a:r>
            <a:endParaRPr lang="en-US" sz="1200" dirty="0"/>
          </a:p>
        </p:txBody>
      </p:sp>
      <p:sp>
        <p:nvSpPr>
          <p:cNvPr id="4" name="Text 2"/>
          <p:cNvSpPr txBox="1"/>
          <p:nvPr/>
        </p:nvSpPr>
        <p:spPr>
          <a:xfrm>
            <a:off x="548640" y="749808"/>
            <a:ext cx="9052560" cy="868680"/>
          </a:xfrm>
          <a:prstGeom prst="rect">
            <a:avLst/>
          </a:prstGeom>
          <a:noFill/>
          <a:ln/>
        </p:spPr>
        <p:txBody>
          <a:bodyPr wrap="square" lIns="0" tIns="0" rIns="0" bIns="0" rtlCol="0" anchor="ctr"/>
          <a:lstStyle/>
          <a:p>
            <a:pPr marL="0" indent="0">
              <a:buNone/>
            </a:pPr>
            <a:r>
              <a:rPr lang="en-US" sz="3000" b="1" dirty="0">
                <a:solidFill>
                  <a:srgbClr val="1B2733"/>
                </a:solidFill>
                <a:latin typeface="Cambria" pitchFamily="34" charset="0"/>
                <a:ea typeface="Cambria" pitchFamily="34" charset="-122"/>
                <a:cs typeface="Cambria" pitchFamily="34" charset="-120"/>
              </a:rPr>
              <a:t>Future Energy Lab: Achievements Through 1-year</a:t>
            </a:r>
            <a:endParaRPr lang="en-US" sz="3000" dirty="0"/>
          </a:p>
        </p:txBody>
      </p:sp>
      <p:sp>
        <p:nvSpPr>
          <p:cNvPr id="7" name="Text 5"/>
          <p:cNvSpPr txBox="1"/>
          <p:nvPr/>
        </p:nvSpPr>
        <p:spPr>
          <a:xfrm>
            <a:off x="548640" y="1664208"/>
            <a:ext cx="11064240" cy="640080"/>
          </a:xfrm>
          <a:prstGeom prst="rect">
            <a:avLst/>
          </a:prstGeom>
          <a:noFill/>
          <a:ln/>
        </p:spPr>
        <p:txBody>
          <a:bodyPr wrap="square" lIns="0" tIns="0" rIns="0" bIns="0" rtlCol="0" anchor="ctr"/>
          <a:lstStyle/>
          <a:p>
            <a:pPr marL="0" indent="0">
              <a:buNone/>
            </a:pPr>
            <a:r>
              <a:rPr lang="en-US" sz="1350" i="1" dirty="0">
                <a:solidFill>
                  <a:srgbClr val="065A82"/>
                </a:solidFill>
                <a:latin typeface="Calibri" pitchFamily="34" charset="0"/>
                <a:ea typeface="Calibri" pitchFamily="34" charset="-122"/>
                <a:cs typeface="Calibri" pitchFamily="34" charset="-120"/>
              </a:rPr>
              <a:t>Stated at their evidence-supported level for a partner audience: what is running today, and what is a target or a direction.</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564707142"/>
              </p:ext>
            </p:extLst>
          </p:nvPr>
        </p:nvGraphicFramePr>
        <p:xfrm>
          <a:off x="640080" y="2468880"/>
          <a:ext cx="10972800" cy="2715768"/>
        </p:xfrm>
        <a:graphic>
          <a:graphicData uri="http://schemas.openxmlformats.org/drawingml/2006/table">
            <a:tbl>
              <a:tblPr/>
              <a:tblGrid>
                <a:gridCol w="2468880">
                  <a:extLst>
                    <a:ext uri="{9D8B030D-6E8A-4147-A177-3AD203B41FA5}">
                      <a16:colId xmlns:a16="http://schemas.microsoft.com/office/drawing/2014/main" val="20000"/>
                    </a:ext>
                  </a:extLst>
                </a:gridCol>
                <a:gridCol w="8503920">
                  <a:extLst>
                    <a:ext uri="{9D8B030D-6E8A-4147-A177-3AD203B41FA5}">
                      <a16:colId xmlns:a16="http://schemas.microsoft.com/office/drawing/2014/main" val="20001"/>
                    </a:ext>
                  </a:extLst>
                </a:gridCol>
              </a:tblGrid>
              <a:tr h="365760">
                <a:tc>
                  <a:txBody>
                    <a:bodyPr/>
                    <a:lstStyle/>
                    <a:p>
                      <a:pPr marL="0" indent="0">
                        <a:buNone/>
                      </a:pPr>
                      <a:r>
                        <a:rPr lang="en-US" sz="950" b="1" dirty="0">
                          <a:solidFill>
                            <a:srgbClr val="1B2733"/>
                          </a:solidFill>
                          <a:latin typeface="Calibri" pitchFamily="34" charset="0"/>
                          <a:ea typeface="Calibri" pitchFamily="34" charset="-122"/>
                          <a:cs typeface="Calibri" pitchFamily="34" charset="-120"/>
                        </a:rPr>
                        <a:t>Item</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50" b="1" dirty="0">
                          <a:solidFill>
                            <a:srgbClr val="1B2733"/>
                          </a:solidFill>
                          <a:latin typeface="Calibri" pitchFamily="34" charset="0"/>
                          <a:ea typeface="Calibri" pitchFamily="34" charset="-122"/>
                          <a:cs typeface="Calibri" pitchFamily="34" charset="-120"/>
                        </a:rPr>
                        <a:t>Status by evidence in the folder</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66928">
                <a:tc>
                  <a:txBody>
                    <a:bodyPr/>
                    <a:lstStyle/>
                    <a:p>
                      <a:pPr marL="0" indent="0">
                        <a:buNone/>
                      </a:pPr>
                      <a:r>
                        <a:rPr lang="en-US" sz="950" dirty="0">
                          <a:solidFill>
                            <a:srgbClr val="1B2733"/>
                          </a:solidFill>
                          <a:latin typeface="Calibri" pitchFamily="34" charset="0"/>
                          <a:ea typeface="Calibri" pitchFamily="34" charset="-122"/>
                          <a:cs typeface="Calibri" pitchFamily="34" charset="-120"/>
                        </a:rPr>
                        <a:t>Research output</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50" dirty="0">
                          <a:latin typeface="Calibri" charset="0"/>
                          <a:ea typeface="Calibri" charset="0"/>
                          <a:cs typeface="Calibri" charset="0"/>
                        </a:rPr>
                        <a:t> 2 arc faults papers , 1 published paper about PINN for arc fault detection , in progress (paper about </a:t>
                      </a:r>
                      <a:r>
                        <a:rPr lang="en-US" sz="950" dirty="0" err="1">
                          <a:latin typeface="Calibri" charset="0"/>
                          <a:ea typeface="Calibri" charset="0"/>
                          <a:cs typeface="Calibri" charset="0"/>
                        </a:rPr>
                        <a:t>sintific</a:t>
                      </a:r>
                      <a:r>
                        <a:rPr lang="en-US" sz="950" dirty="0">
                          <a:latin typeface="Calibri" charset="0"/>
                          <a:ea typeface="Calibri" charset="0"/>
                          <a:cs typeface="Calibri" charset="0"/>
                        </a:rPr>
                        <a:t> comparison between NN models in arc fault detection) </a:t>
                      </a: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950" dirty="0">
                          <a:solidFill>
                            <a:srgbClr val="1B2733"/>
                          </a:solidFill>
                          <a:latin typeface="Calibri" pitchFamily="34" charset="0"/>
                          <a:ea typeface="Calibri" pitchFamily="34" charset="-122"/>
                          <a:cs typeface="Calibri" pitchFamily="34" charset="-120"/>
                        </a:rPr>
                        <a:t>CHINT</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50" dirty="0">
                          <a:solidFill>
                            <a:srgbClr val="1B2733"/>
                          </a:solidFill>
                          <a:latin typeface="Calibri" pitchFamily="34" charset="0"/>
                          <a:ea typeface="Calibri" pitchFamily="34" charset="-122"/>
                          <a:cs typeface="Calibri" pitchFamily="34" charset="-120"/>
                        </a:rPr>
                        <a:t>Technical engagement via CHINT LV R&amp;D + CHINT AFCI dataset + NB2 hardware in use — no agreement; state as 'collaboration in progress'</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buNone/>
                      </a:pPr>
                      <a:r>
                        <a:rPr lang="en-US" sz="950" dirty="0">
                          <a:solidFill>
                            <a:srgbClr val="1B2733"/>
                          </a:solidFill>
                          <a:latin typeface="Calibri" pitchFamily="34" charset="0"/>
                          <a:ea typeface="Calibri" pitchFamily="34" charset="-122"/>
                          <a:cs typeface="Calibri" pitchFamily="34" charset="-120"/>
                        </a:rPr>
                        <a:t>Saudi Electricity / SEC</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50" dirty="0">
                          <a:solidFill>
                            <a:srgbClr val="1B2733"/>
                          </a:solidFill>
                          <a:latin typeface="Calibri" pitchFamily="34" charset="0"/>
                          <a:ea typeface="Calibri" pitchFamily="34" charset="-122"/>
                          <a:cs typeface="Calibri" pitchFamily="34" charset="-120"/>
                        </a:rPr>
                        <a:t>CHINT has an SEC supply history; no SEC engagement with the lab is evidenced — pilot direction proposed (10 -&gt; 100 houses), not initiated</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950" dirty="0">
                          <a:solidFill>
                            <a:srgbClr val="1B2733"/>
                          </a:solidFill>
                          <a:latin typeface="Calibri" pitchFamily="34" charset="0"/>
                          <a:ea typeface="Calibri" pitchFamily="34" charset="-122"/>
                          <a:cs typeface="Calibri" pitchFamily="34" charset="-120"/>
                        </a:rPr>
                        <a:t>Arc-fault IP</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tc>
                  <a:txBody>
                    <a:bodyPr/>
                    <a:lstStyle/>
                    <a:p>
                      <a:pPr marL="0" indent="0">
                        <a:buNone/>
                      </a:pPr>
                      <a:r>
                        <a:rPr lang="en-US" sz="950" dirty="0">
                          <a:solidFill>
                            <a:srgbClr val="1B2733"/>
                          </a:solidFill>
                          <a:latin typeface="Calibri" pitchFamily="34" charset="0"/>
                          <a:ea typeface="Calibri" pitchFamily="34" charset="-122"/>
                          <a:cs typeface="Calibri" pitchFamily="34" charset="-120"/>
                        </a:rPr>
                        <a:t>Patent concept / application in preparation (Instructor Notes) — no filing document</a:t>
                      </a:r>
                      <a:endParaRPr lang="en-US" sz="950" dirty="0">
                        <a:latin typeface="Calibri" charset="0"/>
                        <a:ea typeface="Calibri" charset="0"/>
                        <a:cs typeface="Calibri" charset="0"/>
                      </a:endParaRPr>
                    </a:p>
                  </a:txBody>
                  <a:tcPr anchor="ctr">
                    <a:lnL w="6350" cap="flat" cmpd="sng" algn="ctr">
                      <a:solidFill>
                        <a:srgbClr val="C9D6DE"/>
                      </a:solidFill>
                      <a:prstDash val="solid"/>
                      <a:round/>
                      <a:headEnd type="none" w="med" len="med"/>
                      <a:tailEnd type="none" w="med" len="med"/>
                    </a:lnL>
                    <a:lnR w="6350" cap="flat" cmpd="sng" algn="ctr">
                      <a:solidFill>
                        <a:srgbClr val="C9D6DE"/>
                      </a:solidFill>
                      <a:prstDash val="solid"/>
                      <a:round/>
                      <a:headEnd type="none" w="med" len="med"/>
                      <a:tailEnd type="none" w="med" len="med"/>
                    </a:lnR>
                    <a:lnT w="6350" cap="flat" cmpd="sng" algn="ctr">
                      <a:solidFill>
                        <a:srgbClr val="C9D6DE"/>
                      </a:solidFill>
                      <a:prstDash val="solid"/>
                      <a:round/>
                      <a:headEnd type="none" w="med" len="med"/>
                      <a:tailEnd type="none" w="med" len="med"/>
                    </a:lnT>
                    <a:lnB w="6350" cap="flat" cmpd="sng" algn="ctr">
                      <a:solidFill>
                        <a:srgbClr val="C9D6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Text 6"/>
          <p:cNvSpPr txBox="1"/>
          <p:nvPr/>
        </p:nvSpPr>
        <p:spPr>
          <a:xfrm>
            <a:off x="640080" y="5760720"/>
            <a:ext cx="5486400" cy="274320"/>
          </a:xfrm>
          <a:prstGeom prst="rect">
            <a:avLst/>
          </a:prstGeom>
          <a:noFill/>
          <a:ln/>
        </p:spPr>
        <p:txBody>
          <a:bodyPr wrap="square" lIns="0" tIns="0" rIns="0" bIns="0" rtlCol="0" anchor="ctr"/>
          <a:lstStyle/>
          <a:p>
            <a:pPr marL="0" indent="0">
              <a:buNone/>
            </a:pPr>
            <a:r>
              <a:rPr lang="en-US" sz="1200" b="1" kern="0" spc="100" dirty="0">
                <a:solidFill>
                  <a:srgbClr val="065A82"/>
                </a:solidFill>
                <a:latin typeface="Calibri" pitchFamily="34" charset="0"/>
                <a:ea typeface="Calibri" pitchFamily="34" charset="-122"/>
                <a:cs typeface="Calibri" pitchFamily="34" charset="-120"/>
              </a:rPr>
              <a:t>STRATEGIC IMPACT</a:t>
            </a:r>
            <a:endParaRPr lang="en-US" sz="1200" dirty="0"/>
          </a:p>
        </p:txBody>
      </p:sp>
      <p:sp>
        <p:nvSpPr>
          <p:cNvPr id="10" name="Text 7"/>
          <p:cNvSpPr txBox="1"/>
          <p:nvPr/>
        </p:nvSpPr>
        <p:spPr>
          <a:xfrm>
            <a:off x="896112" y="5897880"/>
            <a:ext cx="10972800" cy="640080"/>
          </a:xfrm>
          <a:prstGeom prst="rect">
            <a:avLst/>
          </a:prstGeom>
          <a:noFill/>
          <a:ln/>
        </p:spPr>
        <p:txBody>
          <a:bodyPr wrap="square" lIns="0" tIns="0" rIns="0" bIns="0" rtlCol="0" anchor="ctr"/>
          <a:lstStyle/>
          <a:p>
            <a:pPr marL="0" indent="0">
              <a:buNone/>
            </a:pPr>
            <a:r>
              <a:rPr lang="en-US" sz="1100" dirty="0">
                <a:solidFill>
                  <a:srgbClr val="1B2733"/>
                </a:solidFill>
                <a:latin typeface="Calibri" pitchFamily="34" charset="0"/>
                <a:ea typeface="Calibri" pitchFamily="34" charset="-122"/>
                <a:cs typeface="Calibri" pitchFamily="34" charset="-120"/>
              </a:rPr>
              <a:t>Research output · industry collaboration · student training · local 60-Hz engineering capability · LV safety innovation · smart-house / community pilot scalability · a validated deployment pathway for PSAU, the LV Department and Saudi 60-Hz systems.</a:t>
            </a:r>
            <a:endParaRPr lang="en-US" sz="1100" dirty="0"/>
          </a:p>
        </p:txBody>
      </p:sp>
      <p:sp>
        <p:nvSpPr>
          <p:cNvPr id="8" name="Text 8"/>
          <p:cNvSpPr txBox="1"/>
          <p:nvPr/>
        </p:nvSpPr>
        <p:spPr>
          <a:xfrm>
            <a:off x="548640" y="6455664"/>
            <a:ext cx="9144000" cy="274320"/>
          </a:xfrm>
          <a:prstGeom prst="rect">
            <a:avLst/>
          </a:prstGeom>
          <a:noFill/>
          <a:ln/>
        </p:spPr>
        <p:txBody>
          <a:bodyPr wrap="square" lIns="0" tIns="0" rIns="0" bIns="0" rtlCol="0" anchor="ctr"/>
          <a:lstStyle/>
          <a:p>
            <a:pPr marL="0" indent="0">
              <a:buNone/>
            </a:pPr>
            <a:r>
              <a:rPr lang="en-US" sz="900" dirty="0">
                <a:solidFill>
                  <a:srgbClr val="5F6B76"/>
                </a:solidFill>
                <a:latin typeface="Calibri" pitchFamily="34" charset="0"/>
                <a:ea typeface="Calibri" pitchFamily="34" charset="-122"/>
                <a:cs typeface="Calibri" pitchFamily="34" charset="-120"/>
              </a:rPr>
              <a:t>Future Energy Lab  ·  PSAU College of Engineering  ·  Electrical Engineering</a:t>
            </a:r>
            <a:endParaRPr lang="en-US" sz="900" dirty="0"/>
          </a:p>
        </p:txBody>
      </p:sp>
      <p:sp>
        <p:nvSpPr>
          <p:cNvPr id="12" name="Text 9"/>
          <p:cNvSpPr txBox="1"/>
          <p:nvPr/>
        </p:nvSpPr>
        <p:spPr>
          <a:xfrm>
            <a:off x="11430000" y="6455664"/>
            <a:ext cx="457200" cy="274320"/>
          </a:xfrm>
          <a:prstGeom prst="rect">
            <a:avLst/>
          </a:prstGeom>
          <a:noFill/>
          <a:ln/>
        </p:spPr>
        <p:txBody>
          <a:bodyPr wrap="square" lIns="0" tIns="0" rIns="0" bIns="0" rtlCol="0" anchor="ctr"/>
          <a:lstStyle/>
          <a:p>
            <a:pPr marL="0" indent="0" algn="r">
              <a:buNone/>
            </a:pPr>
            <a:r>
              <a:rPr lang="en-US" sz="900" dirty="0">
                <a:solidFill>
                  <a:srgbClr val="5F6B7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164</TotalTime>
  <Words>4241</Words>
  <Application>Microsoft Office PowerPoint</Application>
  <PresentationFormat>Widescreen</PresentationFormat>
  <Paragraphs>340</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Intellimeter Project</cp:lastModifiedBy>
  <cp:revision>8</cp:revision>
  <dcterms:created xsi:type="dcterms:W3CDTF">2026-09-09T13:17:54Z</dcterms:created>
  <dcterms:modified xsi:type="dcterms:W3CDTF">2026-09-09T16:19:56Z</dcterms:modified>
</cp:coreProperties>
</file>